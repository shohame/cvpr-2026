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3" r:id="rId20"/>
    <p:sldId id="260" r:id="rId21"/>
    <p:sldId id="261" r:id="rId22"/>
    <p:sldId id="262" r:id="rId2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67" d="100"/>
          <a:sy n="67" d="100"/>
        </p:scale>
        <p:origin x="58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894E-B9A0-7744-FF67-A895C4BA2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2410B-3DED-E98B-EA6F-09BE9AC0F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36B45-DA51-1359-0A9F-762667A9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B6BB3-2490-0713-2A6F-6496BE1C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229D-E233-0760-B9CF-9463237A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280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58B-1756-FBD3-C759-C6358150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A594-4816-C26B-C3E6-C92F7D0FE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39856-1867-79D7-B940-07B9312C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8AC50-DB2F-F128-DF27-7BCAD39A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64232-1E7B-E114-43AC-246E70B3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1039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9528-565E-ED98-F40E-F23A3D71D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ABB18-3774-140D-20D1-B582EDC32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BEDAA-3085-A215-D46D-27429735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3ACC9-0C68-2813-8136-D535C1814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CE2B4-3E94-FD54-D4C1-662D9816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980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EFC1-26B6-F544-ED4D-BBE0E7E6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18D25-46B5-803B-0D36-A8C353255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4C5CF-0B1C-F6D8-0737-D60904462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64312-3A6D-96A0-3388-7EE45A4E1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D3735-C9CD-0DBF-BE0F-08EE6B9B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4231A-22D7-8126-9F73-C53A4CE7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3695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C127-7652-9EA4-4DCA-8E092848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778BD-9594-C311-6337-D79E95BE5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B54E3-5406-5B8B-2F93-0678CA615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2B3A8-3BF6-EBF9-C881-8264AB872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1C735-238D-C1AB-C175-756CAC5AA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878F54-AE0B-C3C9-678D-1E77DBAD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464624-04DB-7D0C-2E8C-9B85F115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DB4B3-D5BF-AD81-1017-AC24ECC6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556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835C3-81CC-8F56-63C4-E2F89A15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711FA-4CBB-5B9B-7B2D-B5385C19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9FBD2-EA12-D67D-4761-27C80DA1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F5DA4-BDE6-4D36-EE46-FFC6369A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739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3C722-AE76-9A6C-CE82-A8BAD0CE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F3D4B-177E-87CA-5212-3B6E1C14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E44A-FC84-521F-4CB1-E837451A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701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8F94-954A-0307-F843-4B74E9D1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4166-B641-346B-3AD1-4C8E76531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7FA8D-113B-3A77-4082-325F61EE6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C7E2C-8EBD-CEF4-9DC8-B4524C9E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2CDB4-07AC-E269-9C53-4828B01F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0CBB5-5622-0693-9512-11468F2B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18827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D89F-20B5-7042-8A7F-DE25D9898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CB68CD-83C0-AFEB-9DAF-2F8093772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0603C-DAD2-0703-650E-8370AB86E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6BFDF-809D-91CA-973F-3DAC9C84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34FD4-82DF-C158-E4A6-BA109E21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69517-45A3-2012-6027-E2F4CB9D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00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B39F-5407-8569-2591-20E287FF8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4DC1C-4E96-A570-B237-8C103140B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250CA-894A-4745-5BB4-3757E36F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E9A21-97E6-EB18-E59C-503D7762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209EF-2F3A-76A3-7881-6C7310B5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75654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C528FA-FD3B-7A52-41EF-3EABE7A8D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521AD-5BC9-0271-DB00-3C1DD1DAB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F7EEF-BFA1-67E8-A7FE-B5D68F4D2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259C7-E2D2-8C0E-E1E2-4CEE5CE6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B2B1-BF3D-832A-4C7F-6212C5E1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063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401500-9DDF-67F2-3847-03216C91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89BEE-056C-683A-C2CD-F15C69476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466E2-0E9C-1037-BC1C-DEFB6AF06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3EBA9-E970-4212-A825-EC7D001314A2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9A23B-32FA-261A-2779-D419FAA76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73E9C-982E-240E-E6E4-02D313E5A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D72B7-AE05-43C2-8BB2-C7A6D847F96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589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8000"/>
                <a:lumOff val="92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266C3769-F098-D0F6-2173-DC8598C04B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 contras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314" y="0"/>
            <a:ext cx="3822686" cy="3845152"/>
          </a:xfrm>
          <a:prstGeom prst="rect">
            <a:avLst/>
          </a:prstGeom>
          <a:effectLst>
            <a:outerShdw blurRad="596900" dist="50800" dir="5400000" algn="ctr" rotWithShape="0">
              <a:srgbClr val="000000"/>
            </a:outerShdw>
            <a:softEdge rad="571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3EA040-F5A6-C0C7-2AF2-62AB10BA9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4" y="-217023"/>
            <a:ext cx="7989409" cy="2369217"/>
          </a:xfrm>
        </p:spPr>
        <p:txBody>
          <a:bodyPr>
            <a:normAutofit fontScale="90000"/>
          </a:bodyPr>
          <a:lstStyle/>
          <a:p>
            <a:r>
              <a:rPr lang="en-IL" b="1" dirty="0"/>
              <a:t>Hearing the Room Through the Shape of the Drum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4FC50-D636-8F2F-1F13-CADE7C65F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2078" y="6302997"/>
            <a:ext cx="9144000" cy="584237"/>
          </a:xfrm>
        </p:spPr>
        <p:txBody>
          <a:bodyPr>
            <a:normAutofit/>
          </a:bodyPr>
          <a:lstStyle/>
          <a:p>
            <a:r>
              <a:rPr lang="en-IL" sz="3200" dirty="0"/>
              <a:t>Weizmann Institute of Science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E4F70B-9FA8-FFF7-9A81-D2BF94A2C14A}"/>
              </a:ext>
            </a:extLst>
          </p:cNvPr>
          <p:cNvSpPr txBox="1">
            <a:spLocks/>
          </p:cNvSpPr>
          <p:nvPr/>
        </p:nvSpPr>
        <p:spPr>
          <a:xfrm>
            <a:off x="59324" y="2234658"/>
            <a:ext cx="7020000" cy="18004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L" sz="4000" b="1" i="1" dirty="0"/>
              <a:t>Modal-Guided Sound Recovery from Multi-Point Surface Vibrations</a:t>
            </a:r>
          </a:p>
        </p:txBody>
      </p:sp>
      <p:pic>
        <p:nvPicPr>
          <p:cNvPr id="1026" name="Picture 2" descr=" Shai Bagon">
            <a:extLst>
              <a:ext uri="{FF2B5EF4-FFF2-40B4-BE49-F238E27FC236}">
                <a16:creationId xmlns:a16="http://schemas.microsoft.com/office/drawing/2014/main" id="{A0E731C6-236B-75B7-6A3E-307DAADA4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343" y="4174149"/>
            <a:ext cx="1679250" cy="167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913E983-4F61-4A70-B3D0-40AB98783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023" y="4247710"/>
            <a:ext cx="1413445" cy="154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9EBA879-10C4-51A2-5A11-60C7FEDB7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49" y="4184555"/>
            <a:ext cx="1525718" cy="167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7AEA3DDD-CCF2-C775-68E1-941FB63058C7}"/>
              </a:ext>
            </a:extLst>
          </p:cNvPr>
          <p:cNvSpPr txBox="1">
            <a:spLocks/>
          </p:cNvSpPr>
          <p:nvPr/>
        </p:nvSpPr>
        <p:spPr>
          <a:xfrm>
            <a:off x="1641000" y="5859248"/>
            <a:ext cx="9594000" cy="584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Shai </a:t>
            </a:r>
            <a:r>
              <a:rPr lang="en-US" sz="2800" dirty="0" err="1"/>
              <a:t>Bagon</a:t>
            </a:r>
            <a:r>
              <a:rPr lang="en-US" sz="2800" dirty="0"/>
              <a:t>                      Matan Kichler                     Mark Sheinin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6869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143CD-4B2C-D4CB-8E67-33008E35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875"/>
          </a:xfrm>
        </p:spPr>
        <p:txBody>
          <a:bodyPr/>
          <a:lstStyle/>
          <a:p>
            <a:r>
              <a:rPr lang="en-US" dirty="0"/>
              <a:t>Surface Vibration Model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30FE7F-CD30-1579-013A-83B33A85C2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000" y="2234857"/>
                <a:ext cx="9495000" cy="12150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i="1"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L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IL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L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L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IL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L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L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L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L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IL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30FE7F-CD30-1579-013A-83B33A85C2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000" y="2234857"/>
                <a:ext cx="9495000" cy="1215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7">
                <a:extLst>
                  <a:ext uri="{FF2B5EF4-FFF2-40B4-BE49-F238E27FC236}">
                    <a16:creationId xmlns:a16="http://schemas.microsoft.com/office/drawing/2014/main" id="{EAA3E79F-EBE6-3F62-4001-58214B45F1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6000" y="3360286"/>
                <a:ext cx="10927800" cy="351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L">
                        <a:latin typeface="Cambria Math" panose="02040503050406030204" pitchFamily="18" charset="0"/>
                      </a:rPr>
                      <m:t>,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out-of-plane displacement of the surface at spatial location </a:t>
                </a:r>
                <a14:m>
                  <m:oMath xmlns:m="http://schemas.openxmlformats.org/officeDocument/2006/math">
                    <m:r>
                      <a:rPr lang="en-IL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and time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: areal mass density of the surface.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spatially dependent damping coefficient.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 in-plane tension of the surface, dominant for membranes.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flexural rigidity, dominant for thin plates.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L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I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: Laplacian of the displacement, related to membrane-like wave behavior.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L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IL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: biharmonic operator, related to the bending behavior of plates.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L">
                        <a:latin typeface="Cambria Math" panose="02040503050406030204" pitchFamily="18" charset="0"/>
                      </a:rPr>
                      <m:t>,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external forcing per unit area, induced by acoustic pressure.</a:t>
                </a:r>
                <a:endParaRPr lang="en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9" name="Content Placeholder 7">
                <a:extLst>
                  <a:ext uri="{FF2B5EF4-FFF2-40B4-BE49-F238E27FC236}">
                    <a16:creationId xmlns:a16="http://schemas.microsoft.com/office/drawing/2014/main" id="{EAA3E79F-EBE6-3F62-4001-58214B45F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0" y="3360286"/>
                <a:ext cx="10927800" cy="3510000"/>
              </a:xfrm>
              <a:prstGeom prst="rect">
                <a:avLst/>
              </a:prstGeom>
              <a:blipFill>
                <a:blip r:embed="rId3"/>
                <a:stretch>
                  <a:fillRect l="-669" t="-347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D51C7348-EEDF-55B6-1BF8-E9FAB76FAE85}"/>
              </a:ext>
            </a:extLst>
          </p:cNvPr>
          <p:cNvSpPr txBox="1">
            <a:spLocks/>
          </p:cNvSpPr>
          <p:nvPr/>
        </p:nvSpPr>
        <p:spPr>
          <a:xfrm>
            <a:off x="826486" y="1279182"/>
            <a:ext cx="10515600" cy="948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General wave equation:</a:t>
            </a: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409996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77F4A9-7FA3-D67F-38E9-F2CC93F37D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4683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L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77F4A9-7FA3-D67F-38E9-F2CC93F37D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468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7312B0-891C-939D-FD0B-D28D85C382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00" y="3294000"/>
                <a:ext cx="10515600" cy="2233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spatial eigenfunction, also called the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 shape.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temporal modal coordinate of the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: number of modes used in the approximation.</a:t>
                </a:r>
                <a:endParaRPr lang="en-IL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7312B0-891C-939D-FD0B-D28D85C38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3294000"/>
                <a:ext cx="10515600" cy="2233375"/>
              </a:xfrm>
              <a:prstGeom prst="rect">
                <a:avLst/>
              </a:prstGeom>
              <a:blipFill>
                <a:blip r:embed="rId3"/>
                <a:stretch>
                  <a:fillRect l="-1043" t="-46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58081E3C-A29B-EDFE-45D4-A12084D8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875"/>
          </a:xfrm>
        </p:spPr>
        <p:txBody>
          <a:bodyPr/>
          <a:lstStyle/>
          <a:p>
            <a:r>
              <a:rPr lang="en-US" dirty="0"/>
              <a:t>Modal Decomposition</a:t>
            </a:r>
            <a:endParaRPr lang="en-IL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AE780C-C246-55EC-5C28-334B9DC08A4D}"/>
              </a:ext>
            </a:extLst>
          </p:cNvPr>
          <p:cNvSpPr txBox="1">
            <a:spLocks/>
          </p:cNvSpPr>
          <p:nvPr/>
        </p:nvSpPr>
        <p:spPr>
          <a:xfrm>
            <a:off x="838200" y="1095375"/>
            <a:ext cx="10515600" cy="948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Expansion into vibration modes</a:t>
            </a: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205215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4000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Second-order modal oscillator:</a:t>
            </a:r>
            <a:endParaRPr lang="en-I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829" y="1690688"/>
                <a:ext cx="10515600" cy="10633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I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)+</m:t>
                      </m:r>
                      <m:sSubSup>
                        <m:sSubSup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L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L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L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L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829" y="1690688"/>
                <a:ext cx="10515600" cy="1063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00" y="2439000"/>
                <a:ext cx="105156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temporal activation of the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first temporal derivative, modal velocity.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I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second temporal derivative, modal acceleration.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natural angular frequency of the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damping ratio of the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coupling coefficient between acoustic pressure and the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acoustic pressure signal driving the surface.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L"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L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noise or modeling error for the </a:t>
                </a:r>
                <a14:m>
                  <m:oMath xmlns:m="http://schemas.openxmlformats.org/officeDocument/2006/math">
                    <m:r>
                      <a:rPr lang="en-IL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mode.</a:t>
                </a:r>
                <a:endParaRPr lang="en-IL" dirty="0"/>
              </a:p>
              <a:p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2439000"/>
                <a:ext cx="10515600" cy="4140000"/>
              </a:xfrm>
              <a:prstGeom prst="rect">
                <a:avLst/>
              </a:prstGeom>
              <a:blipFill>
                <a:blip r:embed="rId3"/>
                <a:stretch>
                  <a:fillRect l="-1043" t="-2946" r="-4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9611555-63A5-100B-6041-9141ABB89496}"/>
              </a:ext>
            </a:extLst>
          </p:cNvPr>
          <p:cNvSpPr txBox="1">
            <a:spLocks/>
          </p:cNvSpPr>
          <p:nvPr/>
        </p:nvSpPr>
        <p:spPr>
          <a:xfrm>
            <a:off x="741000" y="195407"/>
            <a:ext cx="10515600" cy="948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Modal Decomposition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85308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4000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Modal response in the frequency domain: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829" y="1690688"/>
                <a:ext cx="10515600" cy="6466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i="1"/>
                            <m:t>𝑄</m:t>
                          </m:r>
                        </m:e>
                        <m:sub>
                          <m:r>
                            <a:rPr lang="en-IL" i="1"/>
                            <m:t>𝑘</m:t>
                          </m:r>
                        </m:sub>
                      </m:sSub>
                      <m:r>
                        <a:rPr lang="en-IL"/>
                        <m:t>(</m:t>
                      </m:r>
                      <m:r>
                        <a:rPr lang="en-IL" i="1"/>
                        <m:t>𝜔</m:t>
                      </m:r>
                      <m:r>
                        <a:rPr lang="en-IL"/>
                        <m:t>)=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i="1"/>
                            <m:t>𝐺</m:t>
                          </m:r>
                        </m:e>
                        <m:sub>
                          <m:r>
                            <a:rPr lang="en-IL" i="1"/>
                            <m:t>𝑘</m:t>
                          </m:r>
                        </m:sub>
                      </m:sSub>
                      <m:r>
                        <a:rPr lang="en-IL"/>
                        <m:t>(</m:t>
                      </m:r>
                      <m:r>
                        <a:rPr lang="en-IL" i="1"/>
                        <m:t>𝜔</m:t>
                      </m:r>
                      <m:r>
                        <a:rPr lang="en-IL"/>
                        <m:t>)</m:t>
                      </m:r>
                      <m:r>
                        <a:rPr lang="en-IL" i="1"/>
                        <m:t>𝑃</m:t>
                      </m:r>
                      <m:r>
                        <a:rPr lang="en-IL"/>
                        <m:t>(</m:t>
                      </m:r>
                      <m:r>
                        <a:rPr lang="en-IL" i="1"/>
                        <m:t>𝜔</m:t>
                      </m:r>
                      <m:r>
                        <a:rPr lang="en-IL"/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829" y="1690688"/>
                <a:ext cx="10515600" cy="6466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00" y="2439000"/>
                <a:ext cx="105156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𝑄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𝜔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Fourier transform of the modal coordinate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𝑞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𝑃</m:t>
                    </m:r>
                    <m:r>
                      <a:rPr lang="en-IL"/>
                      <m:t>(</m:t>
                    </m:r>
                    <m:r>
                      <a:rPr lang="en-IL" i="1"/>
                      <m:t>𝜔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Fourier transform of the acoustic pressure </a:t>
                </a:r>
                <a14:m>
                  <m:oMath xmlns:m="http://schemas.openxmlformats.org/officeDocument/2006/math">
                    <m:r>
                      <a:rPr lang="en-IL" i="1"/>
                      <m:t>𝑝</m:t>
                    </m:r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𝐺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𝜔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Transfer function of the </a:t>
                </a:r>
                <a14:m>
                  <m:oMath xmlns:m="http://schemas.openxmlformats.org/officeDocument/2006/math">
                    <m:r>
                      <a:rPr lang="en-IL" i="1"/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vibration mode.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𝜔</m:t>
                    </m:r>
                  </m:oMath>
                </a14:m>
                <a:r>
                  <a:rPr lang="en-US" dirty="0"/>
                  <a:t>: Angular frequency.</a:t>
                </a:r>
                <a:endParaRPr lang="en-IL" dirty="0"/>
              </a:p>
              <a:p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2439000"/>
                <a:ext cx="10515600" cy="4140000"/>
              </a:xfrm>
              <a:prstGeom prst="rect">
                <a:avLst/>
              </a:prstGeom>
              <a:blipFill>
                <a:blip r:embed="rId3"/>
                <a:stretch>
                  <a:fillRect l="-1217" t="-250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9611555-63A5-100B-6041-9141ABB89496}"/>
              </a:ext>
            </a:extLst>
          </p:cNvPr>
          <p:cNvSpPr txBox="1">
            <a:spLocks/>
          </p:cNvSpPr>
          <p:nvPr/>
        </p:nvSpPr>
        <p:spPr>
          <a:xfrm>
            <a:off x="741000" y="195407"/>
            <a:ext cx="10515600" cy="948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Frequency-Domain Modal Transfer Function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2427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Second-order oscillator transfer function: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000" y="884063"/>
                <a:ext cx="10515600" cy="10183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i="1"/>
                            <m:t>𝐺</m:t>
                          </m:r>
                        </m:e>
                        <m:sub>
                          <m:r>
                            <a:rPr lang="en-IL" i="1"/>
                            <m:t>𝑘</m:t>
                          </m:r>
                        </m:sub>
                      </m:sSub>
                      <m:r>
                        <a:rPr lang="en-IL"/>
                        <m:t>(</m:t>
                      </m:r>
                      <m:r>
                        <a:rPr lang="en-IL" i="1"/>
                        <m:t>𝜔</m:t>
                      </m:r>
                      <m:r>
                        <a:rPr lang="en-IL"/>
                        <m:t>)=</m:t>
                      </m:r>
                      <m:f>
                        <m:fPr>
                          <m:ctrlPr>
                            <a:rPr lang="en-IL" i="1"/>
                          </m:ctrlPr>
                        </m:fPr>
                        <m:num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r>
                                <a:rPr lang="en-IL" i="1"/>
                                <m:t>𝛼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IL"/>
                            <m:t>−</m:t>
                          </m:r>
                          <m:sSup>
                            <m:sSupPr>
                              <m:ctrlPr>
                                <a:rPr lang="en-IL" i="1"/>
                              </m:ctrlPr>
                            </m:sSupPr>
                            <m:e>
                              <m:r>
                                <a:rPr lang="en-IL" i="1"/>
                                <m:t>𝜔</m:t>
                              </m:r>
                            </m:e>
                            <m:sup>
                              <m:r>
                                <a:rPr lang="en-IL" i="1"/>
                                <m:t>2</m:t>
                              </m:r>
                            </m:sup>
                          </m:sSup>
                          <m:r>
                            <a:rPr lang="en-IL"/>
                            <m:t>+</m:t>
                          </m:r>
                          <m:r>
                            <a:rPr lang="en-IL" i="1"/>
                            <m:t>𝑗</m:t>
                          </m:r>
                          <m:r>
                            <a:rPr lang="en-IL" i="1"/>
                            <m:t>2</m:t>
                          </m:r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r>
                                <a:rPr lang="en-IL" i="1"/>
                                <m:t>𝜁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r>
                                <a:rPr lang="en-IL" i="1"/>
                                <m:t>𝜔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</m:sSub>
                          <m:r>
                            <a:rPr lang="en-IL" i="1"/>
                            <m:t>𝜔</m:t>
                          </m:r>
                          <m:r>
                            <a:rPr lang="en-IL"/>
                            <m:t>+</m:t>
                          </m:r>
                          <m:sSubSup>
                            <m:sSubSupPr>
                              <m:ctrlPr>
                                <a:rPr lang="en-IL" i="1"/>
                              </m:ctrlPr>
                            </m:sSubSupPr>
                            <m:e>
                              <m:r>
                                <a:rPr lang="en-IL" i="1"/>
                                <m:t>𝜔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  <m:sup>
                              <m:r>
                                <a:rPr lang="en-IL" i="1"/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000" y="884063"/>
                <a:ext cx="10515600" cy="101831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4600" y="1890337"/>
                <a:ext cx="105156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Description of terms:</a:t>
                </a:r>
                <a:endParaRPr lang="en-IL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/>
                      <m:t>	</m:t>
                    </m:r>
                    <m:sSub>
                      <m:sSubPr>
                        <m:ctrlPr>
                          <a:rPr lang="en-IL" sz="2800" i="1"/>
                        </m:ctrlPr>
                      </m:sSubPr>
                      <m:e>
                        <m:r>
                          <a:rPr lang="en-IL" sz="2800" i="1"/>
                          <m:t>𝐺</m:t>
                        </m:r>
                      </m:e>
                      <m:sub>
                        <m:r>
                          <a:rPr lang="en-IL" sz="2800" i="1"/>
                          <m:t>𝑘</m:t>
                        </m:r>
                      </m:sub>
                    </m:sSub>
                    <m:r>
                      <a:rPr lang="en-IL" sz="2800"/>
                      <m:t>(</m:t>
                    </m:r>
                    <m:r>
                      <a:rPr lang="en-IL" sz="2800" i="1"/>
                      <m:t>𝜔</m:t>
                    </m:r>
                    <m:r>
                      <a:rPr lang="en-IL" sz="2800"/>
                      <m:t>)</m:t>
                    </m:r>
                    <m:r>
                      <m:rPr>
                        <m:nor/>
                      </m:rPr>
                      <a:rPr lang="en-US" sz="2800"/>
                      <m:t>: </m:t>
                    </m:r>
                    <m:r>
                      <m:rPr>
                        <m:nor/>
                      </m:rPr>
                      <a:rPr lang="en-US" sz="2800"/>
                      <m:t>frequency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response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of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the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a:rPr lang="en-IL" sz="2800" i="1"/>
                      <m:t>𝑘</m:t>
                    </m:r>
                    <m:r>
                      <m:rPr>
                        <m:nor/>
                      </m:rPr>
                      <a:rPr lang="en-US" sz="2800"/>
                      <m:t>-</m:t>
                    </m:r>
                    <m:r>
                      <m:rPr>
                        <m:nor/>
                      </m:rPr>
                      <a:rPr lang="en-US" sz="2800"/>
                      <m:t>th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mode</m:t>
                    </m:r>
                    <m:r>
                      <m:rPr>
                        <m:nor/>
                      </m:rPr>
                      <a:rPr lang="en-US" sz="2800"/>
                      <m:t>.</m:t>
                    </m:r>
                  </m:oMath>
                </a14:m>
                <a:endParaRPr lang="en-IL" sz="2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L" sz="2800" i="1"/>
                        </m:ctrlPr>
                      </m:sSubPr>
                      <m:e>
                        <m:r>
                          <a:rPr lang="en-IL" sz="2800" i="1"/>
                          <m:t>𝛼</m:t>
                        </m:r>
                      </m:e>
                      <m:sub>
                        <m:r>
                          <a:rPr lang="en-IL" sz="2800" i="1"/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sz="2800"/>
                      <m:t>: </m:t>
                    </m:r>
                    <m:r>
                      <m:rPr>
                        <m:nor/>
                      </m:rPr>
                      <a:rPr lang="en-US" sz="2800"/>
                      <m:t>modal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coupling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coefficient</m:t>
                    </m:r>
                    <m:r>
                      <m:rPr>
                        <m:nor/>
                      </m:rPr>
                      <a:rPr lang="en-US" sz="2800"/>
                      <m:t>.</m:t>
                    </m:r>
                  </m:oMath>
                </a14:m>
                <a:endParaRPr lang="en-IL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IL" sz="2800" i="1"/>
                      <m:t>𝑗</m:t>
                    </m:r>
                    <m:r>
                      <m:rPr>
                        <m:nor/>
                      </m:rPr>
                      <a:rPr lang="en-US" sz="2800"/>
                      <m:t>: </m:t>
                    </m:r>
                    <m:r>
                      <m:rPr>
                        <m:nor/>
                      </m:rPr>
                      <a:rPr lang="en-US" sz="2800"/>
                      <m:t>imaginary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unit</m:t>
                    </m:r>
                    <m:r>
                      <m:rPr>
                        <m:nor/>
                      </m:rPr>
                      <a:rPr lang="en-US" sz="2800"/>
                      <m:t>.</m:t>
                    </m:r>
                  </m:oMath>
                </a14:m>
                <a:endParaRPr lang="en-IL" sz="2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L" sz="2800" i="1"/>
                        </m:ctrlPr>
                      </m:sSubPr>
                      <m:e>
                        <m:r>
                          <a:rPr lang="en-IL" sz="2800" i="1"/>
                          <m:t>𝜁</m:t>
                        </m:r>
                      </m:e>
                      <m:sub>
                        <m:r>
                          <a:rPr lang="en-IL" sz="2800" i="1"/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sz="2800"/>
                      <m:t>: </m:t>
                    </m:r>
                    <m:r>
                      <m:rPr>
                        <m:nor/>
                      </m:rPr>
                      <a:rPr lang="en-US" sz="2800"/>
                      <m:t>damping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ratio</m:t>
                    </m:r>
                    <m:r>
                      <m:rPr>
                        <m:nor/>
                      </m:rPr>
                      <a:rPr lang="en-US" sz="2800"/>
                      <m:t>.</m:t>
                    </m:r>
                  </m:oMath>
                </a14:m>
                <a:endParaRPr lang="en-IL" sz="2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L" sz="2800" i="1"/>
                        </m:ctrlPr>
                      </m:sSubPr>
                      <m:e>
                        <m:r>
                          <a:rPr lang="en-IL" sz="2800" i="1"/>
                          <m:t>𝜔</m:t>
                        </m:r>
                      </m:e>
                      <m:sub>
                        <m:r>
                          <a:rPr lang="en-IL" sz="2800" i="1"/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sz="2800"/>
                      <m:t>: </m:t>
                    </m:r>
                    <m:r>
                      <m:rPr>
                        <m:nor/>
                      </m:rPr>
                      <a:rPr lang="en-US" sz="2800"/>
                      <m:t>natural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angular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frequency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of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the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mode</m:t>
                    </m:r>
                    <m:r>
                      <m:rPr>
                        <m:nor/>
                      </m:rPr>
                      <a:rPr lang="en-US" sz="2800"/>
                      <m:t>.</m:t>
                    </m:r>
                  </m:oMath>
                </a14:m>
                <a:endParaRPr lang="en-IL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IL" sz="2800" i="1"/>
                      <m:t>𝜔</m:t>
                    </m:r>
                    <m:r>
                      <m:rPr>
                        <m:nor/>
                      </m:rPr>
                      <a:rPr lang="en-US" sz="2800"/>
                      <m:t>: </m:t>
                    </m:r>
                    <m:r>
                      <m:rPr>
                        <m:nor/>
                      </m:rPr>
                      <a:rPr lang="en-US" sz="2800"/>
                      <m:t>evaluated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angular</m:t>
                    </m:r>
                    <m:r>
                      <m:rPr>
                        <m:nor/>
                      </m:rPr>
                      <a:rPr lang="en-US" sz="2800"/>
                      <m:t> </m:t>
                    </m:r>
                    <m:r>
                      <m:rPr>
                        <m:nor/>
                      </m:rPr>
                      <a:rPr lang="en-US" sz="2800"/>
                      <m:t>frequency</m:t>
                    </m:r>
                    <m:r>
                      <m:rPr>
                        <m:nor/>
                      </m:rPr>
                      <a:rPr lang="en-US" sz="2800"/>
                      <m:t>.</m:t>
                    </m:r>
                  </m:oMath>
                </a14:m>
                <a:endParaRPr lang="en-IL" sz="2800" dirty="0"/>
              </a:p>
              <a:p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0" y="1890337"/>
                <a:ext cx="10515600" cy="4140000"/>
              </a:xfrm>
              <a:prstGeom prst="rect">
                <a:avLst/>
              </a:prstGeom>
              <a:blipFill>
                <a:blip r:embed="rId3"/>
                <a:stretch>
                  <a:fillRect l="-1159" t="-250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51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Surface Displacement as a Modal Convolution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000" y="884063"/>
                <a:ext cx="10515600" cy="11949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i="1"/>
                        <m:t>𝑢</m:t>
                      </m:r>
                      <m:r>
                        <a:rPr lang="en-IL"/>
                        <m:t>(</m:t>
                      </m:r>
                      <m:r>
                        <a:rPr lang="en-IL" b="1" i="1"/>
                        <m:t>𝒙</m:t>
                      </m:r>
                      <m:r>
                        <a:rPr lang="en-IL"/>
                        <m:t>,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L" i="1"/>
                          </m:ctrlPr>
                        </m:naryPr>
                        <m:sub>
                          <m:r>
                            <a:rPr lang="en-IL" i="1"/>
                            <m:t>𝑘</m:t>
                          </m:r>
                          <m:r>
                            <a:rPr lang="en-IL"/>
                            <m:t>=</m:t>
                          </m:r>
                          <m:r>
                            <a:rPr lang="en-IL" i="1"/>
                            <m:t>1</m:t>
                          </m:r>
                        </m:sub>
                        <m:sup>
                          <m:r>
                            <a:rPr lang="en-IL" i="1"/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r>
                                <a:rPr lang="en-IL" i="1"/>
                                <m:t>𝜙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IL"/>
                        <m:t>(</m:t>
                      </m:r>
                      <m:r>
                        <a:rPr lang="en-IL" b="1" i="1"/>
                        <m:t>𝒙</m:t>
                      </m:r>
                      <m:r>
                        <a:rPr lang="en-IL"/>
                        <m:t>)</m:t>
                      </m:r>
                      <m:d>
                        <m:dPr>
                          <m:ctrlPr>
                            <a:rPr lang="en-IL" i="1"/>
                          </m:ctrlPr>
                        </m:dPr>
                        <m:e>
                          <m:r>
                            <a:rPr lang="en-IL" i="1"/>
                            <m:t>𝑝</m:t>
                          </m:r>
                          <m:r>
                            <a:rPr lang="en-IL"/>
                            <m:t>(</m:t>
                          </m:r>
                          <m:r>
                            <a:rPr lang="en-IL" i="1"/>
                            <m:t>𝑡</m:t>
                          </m:r>
                          <m:r>
                            <a:rPr lang="en-IL"/>
                            <m:t>)∗</m:t>
                          </m:r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r>
                                <a:rPr lang="en-IL" i="1"/>
                                <m:t>𝑔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</m:sSub>
                          <m:r>
                            <a:rPr lang="en-IL"/>
                            <m:t>(</m:t>
                          </m:r>
                          <m:r>
                            <a:rPr lang="en-IL" i="1"/>
                            <m:t>𝑡</m:t>
                          </m:r>
                          <m:r>
                            <a:rPr lang="en-IL"/>
                            <m:t>)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000" y="884063"/>
                <a:ext cx="10515600" cy="119493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000" y="2169000"/>
                <a:ext cx="107928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US" i="1"/>
                      <m:t>		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𝑔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impulse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response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𝑘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/>
                      <m:t>∗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convolution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operator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𝑝</m:t>
                    </m:r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)∗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𝑔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acoustic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pressure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filtered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mechanical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   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response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𝑘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00" y="2169000"/>
                <a:ext cx="10792800" cy="4140000"/>
              </a:xfrm>
              <a:prstGeom prst="rect">
                <a:avLst/>
              </a:prstGeom>
              <a:blipFill>
                <a:blip r:embed="rId3"/>
                <a:stretch>
                  <a:fillRect l="-1129" t="-26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361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Sound Pressure and Source Signal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6000" y="953289"/>
                <a:ext cx="10515600" cy="5407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i="1"/>
                        <m:t>𝑝</m:t>
                      </m:r>
                      <m:r>
                        <a:rPr lang="en-IL"/>
                        <m:t>(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)=</m:t>
                      </m:r>
                      <m:r>
                        <a:rPr lang="en-IL" i="1"/>
                        <m:t>𝛾</m:t>
                      </m:r>
                      <m:r>
                        <a:rPr lang="en-IL" i="1"/>
                        <m:t>𝑠</m:t>
                      </m:r>
                      <m:r>
                        <a:rPr lang="en-IL"/>
                        <m:t>(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6000" y="953289"/>
                <a:ext cx="10515600" cy="540712"/>
              </a:xfrm>
              <a:blipFill>
                <a:blip r:embed="rId2"/>
                <a:stretch>
                  <a:fillRect b="-67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000" y="2169000"/>
                <a:ext cx="107928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/>
              </a:p>
              <a:p>
                <a:pPr lvl="0"/>
              </a:p>
              <a:p>
                <a:pPr lvl="0"/>
                <a:endParaRPr lang="en-US" i="1" dirty="0"/>
              </a:p>
              <a:p>
                <a:pPr marL="0" lvl="0" indent="0">
                  <a:buNone/>
                </a:pP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r>
                      <a:rPr lang="en-US" i="1"/>
                      <m:t>𝑎𝑛𝑑</m:t>
                    </m:r>
                    <m:r>
                      <a:rPr lang="en-US" i="1"/>
                      <m:t> </m:t>
                    </m:r>
                    <m:r>
                      <a:rPr lang="en-US" i="1"/>
                      <m:t>𝑎𝑐𝑜𝑢𝑠𝑡𝑖𝑐</m:t>
                    </m:r>
                    <m:r>
                      <a:rPr lang="en-US" i="1"/>
                      <m:t> </m:t>
                    </m:r>
                    <m:r>
                      <a:rPr lang="en-US" i="1"/>
                      <m:t>𝑎𝑡𝑡𝑒𝑛𝑢𝑎𝑡𝑖𝑜𝑛</m:t>
                    </m:r>
                    <m:r>
                      <a:rPr lang="en-US" i="1"/>
                      <m:t>.</m:t>
                    </m:r>
                  </m:oMath>
                </a14:m>
              </a:p>
              <a:p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00" y="2169000"/>
                <a:ext cx="10792800" cy="4140000"/>
              </a:xfrm>
              <a:prstGeom prst="rect">
                <a:avLst/>
              </a:prstGeom>
              <a:blipFill>
                <a:blip r:embed="rId3"/>
                <a:stretch>
                  <a:fillRect l="-1129" t="-26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990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3E9D8-4302-85B9-05BF-B4EB3E5F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33081-1C70-8DCD-2095-93F88180F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9000"/>
                <a:ext cx="10515600" cy="7933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b="1" i="1"/>
                        <m:t>𝒗</m:t>
                      </m:r>
                      <m:r>
                        <a:rPr lang="en-IL"/>
                        <m:t>(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b="1" i="1"/>
                            <m:t>𝒙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</m:sub>
                      </m:sSub>
                      <m:r>
                        <a:rPr lang="en-IL"/>
                        <m:t>,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)=</m:t>
                      </m:r>
                      <m:r>
                        <a:rPr lang="en-IL" i="1"/>
                        <m:t>𝛽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L"/>
                            <m:t>∇</m:t>
                          </m:r>
                        </m:e>
                        <m:sub>
                          <m:r>
                            <a:rPr lang="en-IL" b="1" i="1"/>
                            <m:t>𝒙</m:t>
                          </m:r>
                        </m:sub>
                      </m:sSub>
                      <m:r>
                        <a:rPr lang="en-IL" i="1"/>
                        <m:t>𝑢</m:t>
                      </m:r>
                      <m:r>
                        <a:rPr lang="en-IL"/>
                        <m:t>(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b="1" i="1"/>
                            <m:t>𝒙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</m:sub>
                      </m:sSub>
                      <m:r>
                        <a:rPr lang="en-IL"/>
                        <m:t>,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33081-1C70-8DCD-2095-93F88180F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9000"/>
                <a:ext cx="10515600" cy="793375"/>
              </a:xfrm>
              <a:blipFill>
                <a:blip r:embed="rId2"/>
                <a:stretch>
                  <a:fillRect t="-76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8216E48-DA5B-D7EE-FAFA-4DDF489AA6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774500"/>
                <a:ext cx="11385000" cy="306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Description of terms: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	</m:t>
                    </m:r>
                    <m:r>
                      <a:rPr lang="en-IL" b="1" i="1"/>
                      <m:t>𝒗</m:t>
                    </m:r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𝑡</m:t>
                    </m:r>
                    <m:r>
                      <a:rPr lang="en-IL"/>
                      <m:t>)∈</m:t>
                    </m:r>
                    <m:sSup>
                      <m:sSupPr>
                        <m:ctrlPr>
                          <a:rPr lang="en-IL" i="1"/>
                        </m:ctrlPr>
                      </m:sSupPr>
                      <m:e>
                        <m:r>
                          <a:rPr lang="en-IL"/>
                          <m:t>ℝ</m:t>
                        </m:r>
                      </m:e>
                      <m:sup>
                        <m:r>
                          <a:rPr lang="en-IL" i="1"/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measured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two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axis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speckle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shift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surface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𝑛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surface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𝛽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optical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transfer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scale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factor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L"/>
                          <m:t>∇</m:t>
                        </m:r>
                      </m:e>
                      <m:sub>
                        <m:r>
                          <a:rPr lang="en-IL" b="1" i="1"/>
                          <m:t>𝒙</m:t>
                        </m:r>
                      </m:sub>
                    </m:sSub>
                    <m:r>
                      <a:rPr lang="en-IL" i="1"/>
                      <m:t>𝑢</m:t>
                    </m:r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spatial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gradient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surface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displacement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8216E48-DA5B-D7EE-FAFA-4DDF489AA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774500"/>
                <a:ext cx="11385000" cy="3060000"/>
              </a:xfrm>
              <a:prstGeom prst="rect">
                <a:avLst/>
              </a:prstGeom>
              <a:blipFill>
                <a:blip r:embed="rId3"/>
                <a:stretch>
                  <a:fillRect l="-1071" t="-338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C25C15D4-2CBE-925C-7226-56303D31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875"/>
          </a:xfrm>
        </p:spPr>
        <p:txBody>
          <a:bodyPr/>
          <a:lstStyle/>
          <a:p>
            <a:r>
              <a:rPr lang="en-US" dirty="0"/>
              <a:t>Speckle-Based Vibration Measurements</a:t>
            </a:r>
            <a:endParaRPr lang="en-IL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010C1-AB47-FE7A-3CF9-29AF2C2B9505}"/>
              </a:ext>
            </a:extLst>
          </p:cNvPr>
          <p:cNvSpPr txBox="1">
            <a:spLocks/>
          </p:cNvSpPr>
          <p:nvPr/>
        </p:nvSpPr>
        <p:spPr>
          <a:xfrm>
            <a:off x="838200" y="1095375"/>
            <a:ext cx="10515600" cy="948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Speckle shifts as surface gradients</a:t>
            </a: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203034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Forward model from sound to measured speckle shifts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6000" y="953289"/>
                <a:ext cx="10515600" cy="13507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b="1" i="1" smtClean="0"/>
                        <m:t>𝒗</m:t>
                      </m:r>
                      <m:r>
                        <a:rPr lang="en-IL"/>
                        <m:t>(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b="1" i="1"/>
                            <m:t>𝒙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</m:sub>
                      </m:sSub>
                      <m:r>
                        <a:rPr lang="en-IL"/>
                        <m:t>,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)≈</m:t>
                      </m:r>
                      <m:r>
                        <a:rPr lang="en-IL" i="1"/>
                        <m:t>𝛾𝛽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L" i="1"/>
                          </m:ctrlPr>
                        </m:naryPr>
                        <m:sub>
                          <m:r>
                            <a:rPr lang="en-IL" i="1"/>
                            <m:t>𝑘</m:t>
                          </m:r>
                          <m:r>
                            <a:rPr lang="en-IL"/>
                            <m:t>=</m:t>
                          </m:r>
                          <m:r>
                            <a:rPr lang="en-IL" i="1"/>
                            <m:t>1</m:t>
                          </m:r>
                        </m:sub>
                        <m:sup>
                          <m:r>
                            <a:rPr lang="en-IL" i="1"/>
                            <m:t>𝐾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L"/>
                            <m:t>∇</m:t>
                          </m:r>
                        </m:e>
                      </m:nary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i="1"/>
                            <m:t>𝜙</m:t>
                          </m:r>
                        </m:e>
                        <m:sub>
                          <m:r>
                            <a:rPr lang="en-IL" i="1"/>
                            <m:t>𝑘</m:t>
                          </m:r>
                        </m:sub>
                      </m:sSub>
                      <m:r>
                        <a:rPr lang="en-IL"/>
                        <m:t>(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b="1" i="1"/>
                            <m:t>𝒙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</m:sub>
                      </m:sSub>
                      <m:r>
                        <a:rPr lang="en-IL"/>
                        <m:t>)</m:t>
                      </m:r>
                      <m:d>
                        <m:dPr>
                          <m:ctrlPr>
                            <a:rPr lang="en-IL" i="1"/>
                          </m:ctrlPr>
                        </m:dPr>
                        <m:e>
                          <m:r>
                            <a:rPr lang="en-IL" i="1"/>
                            <m:t>𝑠</m:t>
                          </m:r>
                          <m:r>
                            <a:rPr lang="en-IL"/>
                            <m:t>(</m:t>
                          </m:r>
                          <m:r>
                            <a:rPr lang="en-IL" i="1"/>
                            <m:t>𝑡</m:t>
                          </m:r>
                          <m:r>
                            <a:rPr lang="en-IL"/>
                            <m:t>)∗</m:t>
                          </m:r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r>
                                <a:rPr lang="en-IL" i="1"/>
                                <m:t>𝑔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</m:sSub>
                          <m:r>
                            <a:rPr lang="en-IL"/>
                            <m:t>(</m:t>
                          </m:r>
                          <m:r>
                            <a:rPr lang="en-IL" i="1"/>
                            <m:t>𝑡</m:t>
                          </m:r>
                          <m:r>
                            <a:rPr lang="en-IL"/>
                            <m:t>)</m:t>
                          </m:r>
                        </m:e>
                      </m:d>
                      <m:r>
                        <a:rPr lang="en-IL"/>
                        <m:t>+</m:t>
                      </m:r>
                      <m:r>
                        <a:rPr lang="en-IL" b="1" i="1"/>
                        <m:t>𝜼</m:t>
                      </m:r>
                      <m:r>
                        <a:rPr lang="en-IL"/>
                        <m:t>(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b="1" i="1"/>
                            <m:t>𝒙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</m:sub>
                      </m:sSub>
                      <m:r>
                        <a:rPr lang="en-IL"/>
                        <m:t>,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6000" y="953289"/>
                <a:ext cx="10515600" cy="135071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484000"/>
                <a:ext cx="107928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US" i="1"/>
                      <m:t>	</m:t>
                    </m:r>
                    <m:r>
                      <a:rPr lang="en-IL" b="1" i="1"/>
                      <m:t>𝒗</m:t>
                    </m:r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measured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two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axis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vibration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signal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L"/>
                      <m:t>∇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𝜙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spatial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gradient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𝑘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shape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𝑠</m:t>
                    </m:r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latent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source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sound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signal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recovered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𝑔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impulse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response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𝑘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b="1" i="1"/>
                      <m:t>𝜼</m:t>
                    </m:r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noise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modeling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𝛾𝛽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combined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acoustic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optical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scale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factor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484000"/>
                <a:ext cx="10792800" cy="4140000"/>
              </a:xfrm>
              <a:prstGeom prst="rect">
                <a:avLst/>
              </a:prstGeom>
              <a:blipFill>
                <a:blip r:embed="rId3"/>
                <a:stretch>
                  <a:fillRect l="-1129" t="-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95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Mode Frequency Estimation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6000" y="953289"/>
                <a:ext cx="10515600" cy="8107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L" i="1" smtClean="0"/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L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IL" i="1"/>
                                      </m:ctrlPr>
                                    </m:accPr>
                                    <m:e>
                                      <m:r>
                                        <a:rPr lang="en-IL" i="1"/>
                                        <m:t>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L" i="1"/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L" i="1"/>
                            <m:t>𝑘</m:t>
                          </m:r>
                          <m:r>
                            <a:rPr lang="en-IL"/>
                            <m:t>=</m:t>
                          </m:r>
                          <m:r>
                            <a:rPr lang="en-IL" i="1"/>
                            <m:t>1</m:t>
                          </m:r>
                        </m:sub>
                        <m:sup>
                          <m:r>
                            <a:rPr lang="en-IL" i="1"/>
                            <m:t>𝐾</m:t>
                          </m:r>
                        </m:sup>
                      </m:sSubSup>
                      <m:r>
                        <a:rPr lang="en-IL"/>
                        <m:t>←</m:t>
                      </m:r>
                      <m:r>
                        <m:rPr>
                          <m:sty m:val="p"/>
                        </m:rPr>
                        <a:rPr lang="en-IL"/>
                        <m:t>robust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IL"/>
                        <m:t>find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IL"/>
                        <m:t>peaks</m:t>
                      </m:r>
                      <m:d>
                        <m:dPr>
                          <m:ctrlPr>
                            <a:rPr lang="en-IL" i="1"/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L" i="1"/>
                              </m:ctrlPr>
                            </m:dPr>
                            <m:e>
                              <m:r>
                                <a:rPr lang="en-IL" b="1" i="1"/>
                                <m:t>𝑽</m:t>
                              </m:r>
                              <m:r>
                                <a:rPr lang="en-IL"/>
                                <m:t>(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 b="1" i="1"/>
                                    <m:t>𝒙</m:t>
                                  </m:r>
                                </m:e>
                                <m:sub>
                                  <m:r>
                                    <a:rPr lang="en-IL" i="1"/>
                                    <m:t>𝑛</m:t>
                                  </m:r>
                                </m:sub>
                              </m:sSub>
                              <m:r>
                                <a:rPr lang="en-IL"/>
                                <m:t>,</m:t>
                              </m:r>
                              <m:r>
                                <a:rPr lang="en-IL" i="1"/>
                                <m:t>𝜔</m:t>
                              </m:r>
                              <m:r>
                                <a:rPr lang="en-IL"/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6000" y="953289"/>
                <a:ext cx="10515600" cy="81071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US" i="1"/>
                      <m:t>		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𝜔</m:t>
                            </m:r>
                          </m:e>
                        </m:acc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estimated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natural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frequency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𝑘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L"/>
                      <m:t>robustfindpeaks</m:t>
                    </m:r>
                    <m:r>
                      <a:rPr lang="en-IL"/>
                      <m:t>(⋅)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robust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peak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detection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procedure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used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                  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identify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frequencies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/>
                      <m:t>|</m:t>
                    </m:r>
                    <m:r>
                      <a:rPr lang="en-IL" b="1" i="1"/>
                      <m:t>𝑽</m:t>
                    </m:r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𝜔</m:t>
                    </m:r>
                    <m:r>
                      <a:rPr lang="en-IL"/>
                      <m:t>)|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magnitude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spectrum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vibration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signal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  <a:blipFill>
                <a:blip r:embed="rId3"/>
                <a:stretch>
                  <a:fillRect l="-1058" t="-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889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Mode Shape Gradient Estimation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112" y="888281"/>
                <a:ext cx="10515600" cy="12157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L"/>
                        <m:t>∇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L" i="1"/>
                              </m:ctrlPr>
                            </m:accPr>
                            <m:e>
                              <m:r>
                                <a:rPr lang="en-IL" i="1"/>
                                <m:t>𝜙</m:t>
                              </m:r>
                            </m:e>
                          </m:acc>
                        </m:e>
                        <m:sub>
                          <m:r>
                            <a:rPr lang="en-IL" i="1"/>
                            <m:t>𝑘</m:t>
                          </m:r>
                        </m:sub>
                      </m:sSub>
                      <m:r>
                        <a:rPr lang="en-IL"/>
                        <m:t>(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b="1" i="1"/>
                            <m:t>𝒙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</m:sub>
                      </m:sSub>
                      <m:r>
                        <a:rPr lang="en-IL"/>
                        <m:t>)=</m:t>
                      </m:r>
                      <m:r>
                        <m:rPr>
                          <m:sty m:val="p"/>
                        </m:rPr>
                        <a:rPr lang="en-IL"/>
                        <m:t>Re</m:t>
                      </m:r>
                      <m:d>
                        <m:dPr>
                          <m:begChr m:val="{"/>
                          <m:endChr m:val="}"/>
                          <m:ctrlPr>
                            <a:rPr lang="en-IL" i="1"/>
                          </m:ctrlPr>
                        </m:dPr>
                        <m:e>
                          <m:f>
                            <m:fPr>
                              <m:ctrlPr>
                                <a:rPr lang="en-IL" i="1"/>
                              </m:ctrlPr>
                            </m:fPr>
                            <m:num>
                              <m:r>
                                <a:rPr lang="en-IL" b="1" i="1"/>
                                <m:t>𝑽</m:t>
                              </m:r>
                              <m:r>
                                <a:rPr lang="en-IL"/>
                                <m:t>(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 b="1" i="1"/>
                                    <m:t>𝒙</m:t>
                                  </m:r>
                                </m:e>
                                <m:sub>
                                  <m:r>
                                    <a:rPr lang="en-IL" i="1"/>
                                    <m:t>𝑛</m:t>
                                  </m:r>
                                </m:sub>
                              </m:sSub>
                              <m:r>
                                <a:rPr lang="en-IL"/>
                                <m:t>,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IL" i="1"/>
                                      </m:ctrlPr>
                                    </m:accPr>
                                    <m:e>
                                      <m:r>
                                        <a:rPr lang="en-IL" i="1"/>
                                        <m:t>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L" i="1"/>
                                    <m:t>𝑘</m:t>
                                  </m:r>
                                </m:sub>
                              </m:sSub>
                              <m:r>
                                <a:rPr lang="en-IL"/>
                                <m:t>)⋅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 i="1"/>
                                    <m:t>𝑉</m:t>
                                  </m:r>
                                </m:e>
                                <m:sub>
                                  <m:r>
                                    <a:rPr lang="en-IL" i="1"/>
                                    <m:t>1</m:t>
                                  </m:r>
                                </m:sub>
                              </m:sSub>
                              <m:r>
                                <a:rPr lang="en-IL"/>
                                <m:t>(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 b="1" i="1"/>
                                    <m:t>𝒙</m:t>
                                  </m:r>
                                </m:e>
                                <m:sub>
                                  <m:r>
                                    <a:rPr lang="en-IL" i="1"/>
                                    <m:t>0</m:t>
                                  </m:r>
                                </m:sub>
                              </m:sSub>
                              <m:r>
                                <a:rPr lang="en-IL"/>
                                <m:t>,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IL" i="1"/>
                                      </m:ctrlPr>
                                    </m:accPr>
                                    <m:e>
                                      <m:r>
                                        <a:rPr lang="en-IL" i="1"/>
                                        <m:t>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L" i="1"/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IL" i="1"/>
                                  </m:ctrlPr>
                                </m:sSupPr>
                                <m:e>
                                  <m:r>
                                    <a:rPr lang="en-IL"/>
                                    <m:t>)</m:t>
                                  </m:r>
                                </m:e>
                                <m:sup>
                                  <m:r>
                                    <a:rPr lang="en-IL"/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/>
                                    <m:t>𝔼</m:t>
                                  </m:r>
                                </m:e>
                                <m:sub>
                                  <m:r>
                                    <a:rPr lang="en-IL" i="1"/>
                                    <m:t>𝑛</m:t>
                                  </m:r>
                                  <m:r>
                                    <a:rPr lang="en-IL"/>
                                    <m:t>,</m:t>
                                  </m:r>
                                  <m:r>
                                    <a:rPr lang="en-IL" i="1"/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L" i="1"/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L" i="1"/>
                                      </m:ctrlPr>
                                    </m:dPr>
                                    <m:e>
                                      <m:r>
                                        <a:rPr lang="en-IL" b="1" i="1"/>
                                        <m:t>𝑽</m:t>
                                      </m:r>
                                      <m:r>
                                        <a:rPr lang="en-IL"/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L" i="1"/>
                                          </m:ctrlPr>
                                        </m:sSubPr>
                                        <m:e>
                                          <m:r>
                                            <a:rPr lang="en-IL" b="1" i="1"/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IL" i="1"/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IL"/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IL" i="1"/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IL" i="1"/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L" i="1"/>
                                                <m:t>𝜔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IL" i="1"/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IL"/>
                                        <m:t>)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IL"/>
                                <m:t>⋅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L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L" i="1"/>
                                      </m:ctrlPr>
                                    </m:sSubPr>
                                    <m:e>
                                      <m:r>
                                        <a:rPr lang="en-IL" i="1"/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L" i="1"/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L"/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L" i="1"/>
                                      </m:ctrlPr>
                                    </m:sSubPr>
                                    <m:e>
                                      <m:r>
                                        <a:rPr lang="en-IL" b="1" i="1"/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IL" i="1"/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IL"/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L" i="1"/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IL" i="1"/>
                                          </m:ctrlPr>
                                        </m:accPr>
                                        <m:e>
                                          <m:r>
                                            <a:rPr lang="en-IL" i="1"/>
                                            <m:t>𝜔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IL" i="1"/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IL"/>
                                    <m:t>)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112" y="888281"/>
                <a:ext cx="10515600" cy="12157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US" i="1" smtClean="0"/>
                      <m:t>		</m:t>
                    </m:r>
                    <m:r>
                      <a:rPr lang="el-GR" i="1"/>
                      <m:t>	</m:t>
                    </m:r>
                    <m:r>
                      <m:rPr>
                        <m:sty m:val="p"/>
                      </m:rPr>
                      <a:rPr lang="en-IL"/>
                      <m:t>∇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𝜙</m:t>
                            </m:r>
                          </m:e>
                        </m:acc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estimated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gradient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𝑘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shape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L"/>
                      <m:t>Re</m:t>
                    </m:r>
                    <m:r>
                      <a:rPr lang="en-IL"/>
                      <m:t>{⋅}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real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part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operator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b="1" i="1"/>
                      <m:t>𝑽</m:t>
                    </m:r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𝜔</m:t>
                            </m:r>
                          </m:e>
                        </m:acc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measured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vibration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spectrum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estimated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modal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frequency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𝑉</m:t>
                        </m:r>
                      </m:e>
                      <m:sub>
                        <m:r>
                          <a:rPr lang="en-IL" i="1"/>
                          <m:t>1</m:t>
                        </m:r>
                      </m:sub>
                    </m:sSub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0</m:t>
                        </m:r>
                      </m:sub>
                    </m:sSub>
                    <m:r>
                      <a:rPr lang="en-IL"/>
                      <m:t>,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𝜔</m:t>
                            </m:r>
                          </m:e>
                        </m:acc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first</m:t>
                    </m:r>
                    <m:r>
                      <m:rPr>
                        <m:nor/>
                      </m:rPr>
                      <a:rPr lang="en-US"/>
                      <m:t>-</m:t>
                    </m:r>
                    <m:r>
                      <m:rPr>
                        <m:nor/>
                      </m:rPr>
                      <a:rPr lang="en-US"/>
                      <m:t>axis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vibration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reference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/>
                      <m:t>(⋅</m:t>
                    </m:r>
                    <m:sSup>
                      <m:sSupPr>
                        <m:ctrlPr>
                          <a:rPr lang="en-IL" i="1"/>
                        </m:ctrlPr>
                      </m:sSupPr>
                      <m:e>
                        <m:r>
                          <a:rPr lang="en-IL"/>
                          <m:t>)</m:t>
                        </m:r>
                      </m:e>
                      <m:sup>
                        <m:r>
                          <a:rPr lang="en-IL"/>
                          <m:t>∗</m:t>
                        </m:r>
                      </m:sup>
                    </m:sSup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complex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conjugate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/>
                          <m:t>𝔼</m:t>
                        </m:r>
                      </m:e>
                      <m:sub>
                        <m:r>
                          <a:rPr lang="en-IL" i="1"/>
                          <m:t>𝑛</m:t>
                        </m:r>
                        <m:r>
                          <a:rPr lang="en-IL"/>
                          <m:t>,</m:t>
                        </m:r>
                        <m:r>
                          <a:rPr lang="en-IL" i="1"/>
                          <m:t>𝑎</m:t>
                        </m:r>
                      </m:sub>
                    </m:sSub>
                    <m:r>
                      <a:rPr lang="en-IL"/>
                      <m:t>[⋅]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average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over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𝑛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vibration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axes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𝑎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  <a:blipFill>
                <a:blip r:embed="rId3"/>
                <a:stretch>
                  <a:fillRect l="-1058" t="-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37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Sound Recovery Optimization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112" y="888281"/>
                <a:ext cx="10515600" cy="121571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L" i="1"/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IL" i="1"/>
                              </m:ctrlPr>
                            </m:accPr>
                            <m:e>
                              <m:r>
                                <a:rPr lang="en-IL" i="1"/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IL"/>
                            <m:t>inv</m:t>
                          </m:r>
                        </m:sup>
                      </m:sSup>
                      <m:r>
                        <a:rPr lang="en-IL"/>
                        <m:t>(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)=</m:t>
                      </m:r>
                      <m:r>
                        <m:rPr>
                          <m:sty m:val="p"/>
                        </m:rPr>
                        <a:rPr lang="en-IL"/>
                        <m:t>arg</m:t>
                      </m:r>
                      <m:limLow>
                        <m:limLowPr>
                          <m:ctrlPr>
                            <a:rPr lang="en-IL" i="1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IL"/>
                            <m:t>min</m:t>
                          </m:r>
                        </m:e>
                        <m:lim>
                          <m:r>
                            <a:rPr lang="en-IL" i="1"/>
                            <m:t>𝑠</m:t>
                          </m:r>
                          <m:r>
                            <a:rPr lang="en-IL"/>
                            <m:t>(</m:t>
                          </m:r>
                          <m:r>
                            <a:rPr lang="en-IL" i="1"/>
                            <m:t>𝑡</m:t>
                          </m:r>
                          <m:r>
                            <a:rPr lang="en-IL"/>
                            <m:t>),</m:t>
                          </m:r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r>
                                <a:rPr lang="en-IL" i="1"/>
                                <m:t>𝛼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</m:sSub>
                        </m:lim>
                      </m:limLow>
                      <m:sSubSup>
                        <m:sSubSupPr>
                          <m:ctrlPr>
                            <a:rPr lang="en-IL" i="1"/>
                          </m:ctrlPr>
                        </m:sSubSupPr>
                        <m:e>
                          <m:d>
                            <m:dPr>
                              <m:begChr m:val="∥"/>
                              <m:endChr m:val="∥"/>
                              <m:ctrlPr>
                                <a:rPr lang="en-IL" i="1"/>
                              </m:ctrlPr>
                            </m:dPr>
                            <m:e>
                              <m:r>
                                <a:rPr lang="en-IL" b="1" i="1"/>
                                <m:t>𝒗</m:t>
                              </m:r>
                              <m:r>
                                <a:rPr lang="en-IL"/>
                                <m:t>(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 b="1" i="1"/>
                                    <m:t>𝒙</m:t>
                                  </m:r>
                                </m:e>
                                <m:sub>
                                  <m:r>
                                    <a:rPr lang="en-IL" i="1"/>
                                    <m:t>𝑛</m:t>
                                  </m:r>
                                </m:sub>
                              </m:sSub>
                              <m:r>
                                <a:rPr lang="en-IL"/>
                                <m:t>,</m:t>
                              </m:r>
                              <m:r>
                                <a:rPr lang="en-IL" i="1"/>
                                <m:t>𝑡</m:t>
                              </m:r>
                              <m:r>
                                <a:rPr lang="en-IL"/>
                                <m:t>)−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IL" i="1"/>
                                  </m:ctrlPr>
                                </m:naryPr>
                                <m:sub>
                                  <m:r>
                                    <a:rPr lang="en-IL" i="1"/>
                                    <m:t>𝑘</m:t>
                                  </m:r>
                                  <m:r>
                                    <a:rPr lang="en-IL"/>
                                    <m:t>=</m:t>
                                  </m:r>
                                  <m:r>
                                    <a:rPr lang="en-IL" i="1"/>
                                    <m:t>1</m:t>
                                  </m:r>
                                </m:sub>
                                <m:sup>
                                  <m:r>
                                    <a:rPr lang="en-IL" i="1"/>
                                    <m:t>𝐾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L"/>
                                    <m:t>∇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IL" i="1"/>
                                      </m:ctrlPr>
                                    </m:accPr>
                                    <m:e>
                                      <m:r>
                                        <a:rPr lang="en-IL" i="1"/>
                                        <m:t>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L" i="1"/>
                                    <m:t>𝑘</m:t>
                                  </m:r>
                                </m:sub>
                              </m:sSub>
                              <m:r>
                                <a:rPr lang="en-IL"/>
                                <m:t>(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 b="1" i="1"/>
                                    <m:t>𝒙</m:t>
                                  </m:r>
                                </m:e>
                                <m:sub>
                                  <m:r>
                                    <a:rPr lang="en-IL" i="1"/>
                                    <m:t>𝑛</m:t>
                                  </m:r>
                                </m:sub>
                              </m:sSub>
                              <m:r>
                                <a:rPr lang="en-IL"/>
                                <m:t>)</m:t>
                              </m:r>
                              <m:d>
                                <m:dPr>
                                  <m:ctrlPr>
                                    <a:rPr lang="en-IL" i="1"/>
                                  </m:ctrlPr>
                                </m:dPr>
                                <m:e>
                                  <m:r>
                                    <a:rPr lang="en-IL" i="1"/>
                                    <m:t>𝑠</m:t>
                                  </m:r>
                                  <m:r>
                                    <a:rPr lang="en-IL"/>
                                    <m:t>(</m:t>
                                  </m:r>
                                  <m:r>
                                    <a:rPr lang="en-IL" i="1"/>
                                    <m:t>𝑡</m:t>
                                  </m:r>
                                  <m:r>
                                    <a:rPr lang="en-IL"/>
                                    <m:t>)∗</m:t>
                                  </m:r>
                                  <m:sSub>
                                    <m:sSubPr>
                                      <m:ctrlPr>
                                        <a:rPr lang="en-IL" i="1"/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IL" i="1"/>
                                          </m:ctrlPr>
                                        </m:accPr>
                                        <m:e>
                                          <m:r>
                                            <a:rPr lang="en-IL" i="1"/>
                                            <m:t>𝑔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IL" i="1"/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IL"/>
                                    <m:t>(</m:t>
                                  </m:r>
                                  <m:r>
                                    <a:rPr lang="en-IL" i="1"/>
                                    <m:t>𝑡</m:t>
                                  </m:r>
                                  <m:r>
                                    <a:rPr lang="en-IL"/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IL" i="1"/>
                            <m:t>2</m:t>
                          </m:r>
                        </m:sub>
                        <m:sup>
                          <m:r>
                            <a:rPr lang="en-IL" i="1"/>
                            <m:t>2</m:t>
                          </m:r>
                        </m:sup>
                      </m:sSubSup>
                      <m:r>
                        <a:rPr lang="en-IL"/>
                        <m:t>+</m:t>
                      </m:r>
                      <m:r>
                        <a:rPr lang="en-IL" i="1"/>
                        <m:t>𝜆</m:t>
                      </m:r>
                      <m:sSubSup>
                        <m:sSubSupPr>
                          <m:ctrlPr>
                            <a:rPr lang="en-IL" i="1"/>
                          </m:ctrlPr>
                        </m:sSubSupPr>
                        <m:e>
                          <m:d>
                            <m:dPr>
                              <m:begChr m:val="∥"/>
                              <m:endChr m:val="∥"/>
                              <m:ctrlPr>
                                <a:rPr lang="en-IL" i="1"/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IL" i="1"/>
                                  </m:ctrlPr>
                                </m:accPr>
                                <m:e>
                                  <m:r>
                                    <a:rPr lang="en-IL" i="1"/>
                                    <m:t>𝑠</m:t>
                                  </m:r>
                                </m:e>
                              </m:acc>
                              <m:r>
                                <a:rPr lang="en-IL"/>
                                <m:t>(</m:t>
                              </m:r>
                              <m:r>
                                <a:rPr lang="en-IL" i="1"/>
                                <m:t>𝑡</m:t>
                              </m:r>
                              <m:r>
                                <a:rPr lang="en-IL"/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IL" i="1"/>
                            <m:t>2</m:t>
                          </m:r>
                        </m:sub>
                        <m:sup>
                          <m:r>
                            <a:rPr lang="en-IL" i="1"/>
                            <m:t>2</m:t>
                          </m:r>
                        </m:sup>
                      </m:sSubSup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112" y="888281"/>
                <a:ext cx="10515600" cy="1215711"/>
              </a:xfrm>
              <a:blipFill>
                <a:blip r:embed="rId2"/>
                <a:stretch>
                  <a:fillRect t="-50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L" i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𝑠</m:t>
                            </m:r>
                          </m:e>
                        </m:acc>
                      </m:e>
                      <m:sup>
                        <m:r>
                          <m:rPr>
                            <m:sty m:val="p"/>
                          </m:rPr>
                          <a:rPr lang="en-IL"/>
                          <m:t>inv</m:t>
                        </m:r>
                      </m:sup>
                    </m:sSup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recovered source sound signal.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𝑠</m:t>
                    </m:r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latent sound signal optimized during recovery.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𝛼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modal coupling coefficient optimized jointly with the signal.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L"/>
                      <m:t>∇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𝜙</m:t>
                            </m:r>
                          </m:e>
                        </m:acc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estimated gradient of the </a:t>
                </a:r>
                <a14:m>
                  <m:oMath xmlns:m="http://schemas.openxmlformats.org/officeDocument/2006/math">
                    <m:r>
                      <a:rPr lang="en-IL" i="1"/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 shape.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estimated impulse response of the </a:t>
                </a:r>
                <a14:m>
                  <m:oMath xmlns:m="http://schemas.openxmlformats.org/officeDocument/2006/math">
                    <m:r>
                      <a:rPr lang="en-IL" i="1"/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𝜆</m:t>
                    </m:r>
                  </m:oMath>
                </a14:m>
                <a:r>
                  <a:rPr lang="en-US" dirty="0"/>
                  <a:t>: regularization weight.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L" i="1"/>
                        </m:ctrlPr>
                      </m:accPr>
                      <m:e>
                        <m:r>
                          <a:rPr lang="en-IL" i="1"/>
                          <m:t>𝑠</m:t>
                        </m:r>
                      </m:e>
                    </m:acc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temporal derivative of the recovered sound signal.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/>
                      <m:t>∥⋅</m:t>
                    </m:r>
                    <m:sSubSup>
                      <m:sSubSupPr>
                        <m:ctrlPr>
                          <a:rPr lang="en-IL" i="1"/>
                        </m:ctrlPr>
                      </m:sSubSupPr>
                      <m:e>
                        <m:r>
                          <a:rPr lang="en-IL"/>
                          <m:t>∥</m:t>
                        </m:r>
                      </m:e>
                      <m:sub>
                        <m:r>
                          <a:rPr lang="en-IL" i="1"/>
                          <m:t>2</m:t>
                        </m:r>
                      </m:sub>
                      <m:sup>
                        <m:r>
                          <a:rPr lang="en-IL" i="1"/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: squared Euclidean norm.</a:t>
                </a:r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  <a:blipFill>
                <a:blip r:embed="rId3"/>
                <a:stretch>
                  <a:fillRect l="-952" t="-2941" b="-4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872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Total variation of a mode-shape gradient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112" y="888281"/>
                <a:ext cx="10515600" cy="12157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L"/>
                        <m:t>TV</m:t>
                      </m:r>
                      <m:d>
                        <m:dPr>
                          <m:ctrlPr>
                            <a:rPr lang="en-IL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L"/>
                            <m:t>∇</m:t>
                          </m:r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r>
                                <a:rPr lang="en-IL" i="1"/>
                                <m:t>𝜙</m:t>
                              </m:r>
                            </m:e>
                            <m:sub>
                              <m:r>
                                <a:rPr lang="en-IL" i="1"/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IL"/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L" i="1"/>
                          </m:ctrlPr>
                        </m:naryPr>
                        <m:sub>
                          <m:r>
                            <a:rPr lang="en-IL" i="1"/>
                            <m:t>𝑥</m:t>
                          </m:r>
                          <m:r>
                            <a:rPr lang="en-IL"/>
                            <m:t>,</m:t>
                          </m:r>
                          <m:r>
                            <a:rPr lang="en-IL" i="1"/>
                            <m:t>𝑦</m:t>
                          </m:r>
                        </m:sub>
                        <m:sup>
                          <m:r>
                            <a:rPr lang="en-IL" i="1"/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en-IL" i="1"/>
                              </m:ctrlPr>
                            </m:sSubPr>
                            <m:e>
                              <m:d>
                                <m:dPr>
                                  <m:begChr m:val="∥"/>
                                  <m:endChr m:val="∥"/>
                                  <m:ctrlPr>
                                    <a:rPr lang="en-IL" i="1"/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L" i="1"/>
                                      </m:ctrlPr>
                                    </m:fPr>
                                    <m:num>
                                      <m:r>
                                        <a:rPr lang="en-IL"/>
                                        <m:t>∂</m:t>
                                      </m:r>
                                    </m:num>
                                    <m:den>
                                      <m:r>
                                        <a:rPr lang="en-IL"/>
                                        <m:t>∂</m:t>
                                      </m:r>
                                      <m:r>
                                        <a:rPr lang="en-IL" i="1"/>
                                        <m:t>𝑥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IL"/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lang="en-IL" i="1"/>
                                      </m:ctrlPr>
                                    </m:sSubPr>
                                    <m:e>
                                      <m:r>
                                        <a:rPr lang="en-IL" i="1"/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IL" i="1"/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IL"/>
                                    <m:t>(</m:t>
                                  </m:r>
                                  <m:r>
                                    <a:rPr lang="en-IL" i="1"/>
                                    <m:t>𝑥</m:t>
                                  </m:r>
                                  <m:r>
                                    <a:rPr lang="en-IL"/>
                                    <m:t>,</m:t>
                                  </m:r>
                                  <m:r>
                                    <a:rPr lang="en-IL" i="1"/>
                                    <m:t>𝑦</m:t>
                                  </m:r>
                                  <m:r>
                                    <a:rPr lang="en-IL"/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IL" i="1"/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n-IL"/>
                        <m:t>+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d>
                            <m:dPr>
                              <m:begChr m:val="∥"/>
                              <m:endChr m:val="∥"/>
                              <m:ctrlPr>
                                <a:rPr lang="en-IL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L" i="1"/>
                                  </m:ctrlPr>
                                </m:fPr>
                                <m:num>
                                  <m:r>
                                    <a:rPr lang="en-IL"/>
                                    <m:t>∂</m:t>
                                  </m:r>
                                </m:num>
                                <m:den>
                                  <m:r>
                                    <a:rPr lang="en-IL"/>
                                    <m:t>∂</m:t>
                                  </m:r>
                                  <m:r>
                                    <a:rPr lang="en-IL" i="1"/>
                                    <m:t>𝑦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L"/>
                                <m:t>∇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 i="1"/>
                                    <m:t>𝜙</m:t>
                                  </m:r>
                                </m:e>
                                <m:sub>
                                  <m:r>
                                    <a:rPr lang="en-IL" i="1"/>
                                    <m:t>𝑘</m:t>
                                  </m:r>
                                </m:sub>
                              </m:sSub>
                              <m:r>
                                <a:rPr lang="en-IL"/>
                                <m:t>(</m:t>
                              </m:r>
                              <m:r>
                                <a:rPr lang="en-IL" i="1"/>
                                <m:t>𝑥</m:t>
                              </m:r>
                              <m:r>
                                <a:rPr lang="en-IL"/>
                                <m:t>,</m:t>
                              </m:r>
                              <m:r>
                                <a:rPr lang="en-IL" i="1"/>
                                <m:t>𝑦</m:t>
                              </m:r>
                              <m:r>
                                <a:rPr lang="en-IL"/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IL" i="1"/>
                            <m:t>2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112" y="888281"/>
                <a:ext cx="10515600" cy="12157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L"/>
                      <m:t>TV</m:t>
                    </m:r>
                    <m:r>
                      <a:rPr lang="en-IL"/>
                      <m:t>(</m:t>
                    </m:r>
                    <m:r>
                      <m:rPr>
                        <m:sty m:val="p"/>
                      </m:rPr>
                      <a:rPr lang="en-IL"/>
                      <m:t>∇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𝜙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total variation of the gradient field of the </a:t>
                </a:r>
                <a14:m>
                  <m:oMath xmlns:m="http://schemas.openxmlformats.org/officeDocument/2006/math">
                    <m:r>
                      <a:rPr lang="en-IL" i="1"/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mode shape.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IL" i="1"/>
                        </m:ctrlPr>
                      </m:fPr>
                      <m:num>
                        <m:r>
                          <a:rPr lang="en-IL"/>
                          <m:t>∂</m:t>
                        </m:r>
                      </m:num>
                      <m:den>
                        <m:r>
                          <a:rPr lang="en-IL"/>
                          <m:t>∂</m:t>
                        </m:r>
                        <m:r>
                          <a:rPr lang="en-IL" i="1"/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L"/>
                      <m:t>∇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𝜙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𝑥</m:t>
                    </m:r>
                    <m:r>
                      <a:rPr lang="en-IL"/>
                      <m:t>,</m:t>
                    </m:r>
                    <m:r>
                      <a:rPr lang="en-IL" i="1"/>
                      <m:t>𝑦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spatial derivative of the mode-gradient field along </a:t>
                </a:r>
              </a:p>
              <a:p>
                <a:pPr marL="0" lvl="0" indent="0">
                  <a:buNone/>
                </a:pPr>
                <a:r>
                  <a:rPr lang="en-US" dirty="0"/>
                  <a:t>                               the </a:t>
                </a:r>
                <a14:m>
                  <m:oMath xmlns:m="http://schemas.openxmlformats.org/officeDocument/2006/math">
                    <m:r>
                      <a:rPr lang="en-IL" i="1"/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direction.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IL" i="1"/>
                        </m:ctrlPr>
                      </m:fPr>
                      <m:num>
                        <m:r>
                          <a:rPr lang="en-IL"/>
                          <m:t>∂</m:t>
                        </m:r>
                      </m:num>
                      <m:den>
                        <m:r>
                          <a:rPr lang="en-IL"/>
                          <m:t>∂</m:t>
                        </m:r>
                        <m:r>
                          <a:rPr lang="en-IL" i="1"/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L"/>
                      <m:t>∇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𝜙</m:t>
                        </m:r>
                      </m:e>
                      <m:sub>
                        <m:r>
                          <a:rPr lang="en-IL" i="1"/>
                          <m:t>𝑘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𝑥</m:t>
                    </m:r>
                    <m:r>
                      <a:rPr lang="en-IL"/>
                      <m:t>,</m:t>
                    </m:r>
                    <m:r>
                      <a:rPr lang="en-IL" i="1"/>
                      <m:t>𝑦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spatial derivative of the mode-gradient field along </a:t>
                </a:r>
              </a:p>
              <a:p>
                <a:pPr marL="0" lvl="0" indent="0">
                  <a:buNone/>
                </a:pPr>
                <a:r>
                  <a:rPr lang="en-US" dirty="0"/>
                  <a:t>                                the </a:t>
                </a:r>
                <a14:m>
                  <m:oMath xmlns:m="http://schemas.openxmlformats.org/officeDocument/2006/math">
                    <m:r>
                      <a:rPr lang="en-IL" i="1"/>
                      <m:t>𝑦</m:t>
                    </m:r>
                  </m:oMath>
                </a14:m>
                <a:r>
                  <a:rPr lang="en-US" dirty="0"/>
                  <a:t> direction.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/>
                      <m:t>∥⋅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/>
                          <m:t>∥</m:t>
                        </m:r>
                      </m:e>
                      <m:sub>
                        <m:r>
                          <a:rPr lang="en-IL" i="1"/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Euclidean norm.</a:t>
                </a:r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  <a:blipFill>
                <a:blip r:embed="rId3"/>
                <a:stretch>
                  <a:fillRect l="-1058" t="-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718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3E9D8-4302-85B9-05BF-B4EB3E5F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33081-1C70-8DCD-2095-93F88180F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9000"/>
                <a:ext cx="10515600" cy="7933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L" i="1"/>
                          </m:ctrlPr>
                        </m:sSubSupPr>
                        <m:e>
                          <m:r>
                            <a:rPr lang="en-IL" i="1"/>
                            <m:t>𝑣</m:t>
                          </m:r>
                        </m:e>
                        <m:sub>
                          <m:r>
                            <a:rPr lang="en-IL" i="1"/>
                            <m:t>𝑎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L"/>
                            <m:t>ref</m:t>
                          </m:r>
                        </m:sup>
                      </m:sSubSup>
                      <m:r>
                        <a:rPr lang="en-IL"/>
                        <m:t>(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b="1" i="1"/>
                            <m:t>𝒙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</m:sub>
                      </m:sSub>
                      <m:r>
                        <a:rPr lang="en-IL"/>
                        <m:t>,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)≈</m:t>
                      </m:r>
                      <m:sSup>
                        <m:sSupPr>
                          <m:ctrlPr>
                            <a:rPr lang="en-IL" i="1"/>
                          </m:ctrlPr>
                        </m:sSupPr>
                        <m:e>
                          <m:r>
                            <a:rPr lang="en-IL" i="1"/>
                            <m:t>𝑠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IL"/>
                            <m:t>ref</m:t>
                          </m:r>
                        </m:sup>
                      </m:sSup>
                      <m:r>
                        <a:rPr lang="en-IL"/>
                        <m:t>(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)∗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i="1"/>
                            <m:t>h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  <m:r>
                            <a:rPr lang="en-IL"/>
                            <m:t>,</m:t>
                          </m:r>
                          <m:r>
                            <a:rPr lang="en-IL" i="1"/>
                            <m:t>𝑎</m:t>
                          </m:r>
                        </m:sub>
                      </m:sSub>
                      <m:r>
                        <a:rPr lang="en-IL"/>
                        <m:t>(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33081-1C70-8DCD-2095-93F88180F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9000"/>
                <a:ext cx="10515600" cy="793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8216E48-DA5B-D7EE-FAFA-4DDF489AA6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774500"/>
                <a:ext cx="11385000" cy="306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Description of terms: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	</m:t>
                    </m:r>
                    <m:sSubSup>
                      <m:sSubSupPr>
                        <m:ctrlPr>
                          <a:rPr lang="en-IL" i="1"/>
                        </m:ctrlPr>
                      </m:sSubSupPr>
                      <m:e>
                        <m:r>
                          <a:rPr lang="en-IL" i="1"/>
                          <m:t>𝑣</m:t>
                        </m:r>
                      </m:e>
                      <m:sub>
                        <m:r>
                          <a:rPr lang="en-IL" i="1"/>
                          <m:t>𝑎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L"/>
                          <m:t>ref</m:t>
                        </m:r>
                      </m:sup>
                    </m:sSubSup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reference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vibration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signal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axis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𝑎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L" i="1"/>
                        </m:ctrlPr>
                      </m:sSupPr>
                      <m:e>
                        <m:r>
                          <a:rPr lang="en-IL" i="1"/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L"/>
                          <m:t>ref</m:t>
                        </m:r>
                      </m:sup>
                    </m:sSup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known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reference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audio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signal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used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calibration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h</m:t>
                        </m:r>
                      </m:e>
                      <m:sub>
                        <m:r>
                          <a:rPr lang="en-IL" i="1"/>
                          <m:t>𝑛</m:t>
                        </m:r>
                        <m:r>
                          <a:rPr lang="en-IL"/>
                          <m:t>,</m:t>
                        </m:r>
                        <m:r>
                          <a:rPr lang="en-IL" i="1"/>
                          <m:t>𝑎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impulse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response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reference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sound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point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 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vibration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axis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IL" i="1"/>
                      <m:t>𝑎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𝑎</m:t>
                    </m:r>
                    <m:r>
                      <a:rPr lang="en-IL"/>
                      <m:t>∈{</m:t>
                    </m:r>
                    <m:r>
                      <a:rPr lang="en-IL" i="1"/>
                      <m:t>1</m:t>
                    </m:r>
                    <m:r>
                      <a:rPr lang="en-IL"/>
                      <m:t>,</m:t>
                    </m:r>
                    <m:r>
                      <a:rPr lang="en-IL" i="1"/>
                      <m:t>2</m:t>
                    </m:r>
                    <m:r>
                      <a:rPr lang="en-IL"/>
                      <m:t>}</m:t>
                    </m:r>
                    <m:r>
                      <m:rPr>
                        <m:nor/>
                      </m:rPr>
                      <a:rPr lang="en-US"/>
                      <m:t>: </m:t>
                    </m:r>
                    <m:r>
                      <m:rPr>
                        <m:nor/>
                      </m:rPr>
                      <a:rPr lang="en-US"/>
                      <m:t>vibration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axis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index</m:t>
                    </m:r>
                    <m:r>
                      <m:rPr>
                        <m:nor/>
                      </m:rPr>
                      <a:rPr lang="en-US"/>
                      <m:t>.</m:t>
                    </m:r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8216E48-DA5B-D7EE-FAFA-4DDF489AA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774500"/>
                <a:ext cx="11385000" cy="3060000"/>
              </a:xfrm>
              <a:prstGeom prst="rect">
                <a:avLst/>
              </a:prstGeom>
              <a:blipFill>
                <a:blip r:embed="rId3"/>
                <a:stretch>
                  <a:fillRect l="-1071" t="-438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C25C15D4-2CBE-925C-7226-56303D31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875"/>
          </a:xfrm>
        </p:spPr>
        <p:txBody>
          <a:bodyPr/>
          <a:lstStyle/>
          <a:p>
            <a:r>
              <a:rPr lang="en-US" dirty="0"/>
              <a:t>Calibration-Based Baseline</a:t>
            </a:r>
            <a:endParaRPr lang="en-IL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010C1-AB47-FE7A-3CF9-29AF2C2B9505}"/>
              </a:ext>
            </a:extLst>
          </p:cNvPr>
          <p:cNvSpPr txBox="1">
            <a:spLocks/>
          </p:cNvSpPr>
          <p:nvPr/>
        </p:nvSpPr>
        <p:spPr>
          <a:xfrm>
            <a:off x="838200" y="1095375"/>
            <a:ext cx="10515600" cy="948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Reference convolution model</a:t>
            </a: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695002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Reference convolution model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6000" y="1044000"/>
                <a:ext cx="10515600" cy="7407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L" sz="3600" i="1"/>
                          </m:ctrlPr>
                        </m:sSubSupPr>
                        <m:e>
                          <m:r>
                            <a:rPr lang="en-IL" sz="3600" i="1"/>
                            <m:t>𝑣</m:t>
                          </m:r>
                        </m:e>
                        <m:sub>
                          <m:r>
                            <a:rPr lang="en-IL" sz="3600" i="1"/>
                            <m:t>𝑎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L" sz="3600"/>
                            <m:t>ref</m:t>
                          </m:r>
                        </m:sup>
                      </m:sSubSup>
                      <m:r>
                        <a:rPr lang="en-IL" sz="3600"/>
                        <m:t>(</m:t>
                      </m:r>
                      <m:sSub>
                        <m:sSubPr>
                          <m:ctrlPr>
                            <a:rPr lang="en-IL" sz="3600" i="1"/>
                          </m:ctrlPr>
                        </m:sSubPr>
                        <m:e>
                          <m:r>
                            <a:rPr lang="en-IL" sz="3600" b="1" i="1"/>
                            <m:t>𝒙</m:t>
                          </m:r>
                        </m:e>
                        <m:sub>
                          <m:r>
                            <a:rPr lang="en-IL" sz="3600" i="1"/>
                            <m:t>𝑛</m:t>
                          </m:r>
                        </m:sub>
                      </m:sSub>
                      <m:r>
                        <a:rPr lang="en-IL" sz="3600"/>
                        <m:t>,</m:t>
                      </m:r>
                      <m:r>
                        <a:rPr lang="en-IL" sz="3600" i="1"/>
                        <m:t>𝑡</m:t>
                      </m:r>
                      <m:r>
                        <a:rPr lang="en-IL" sz="3600"/>
                        <m:t>)≈</m:t>
                      </m:r>
                      <m:sSup>
                        <m:sSupPr>
                          <m:ctrlPr>
                            <a:rPr lang="en-IL" sz="3600" i="1"/>
                          </m:ctrlPr>
                        </m:sSupPr>
                        <m:e>
                          <m:r>
                            <a:rPr lang="en-IL" sz="3600" i="1"/>
                            <m:t>𝑠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IL" sz="3600"/>
                            <m:t>ref</m:t>
                          </m:r>
                        </m:sup>
                      </m:sSup>
                      <m:r>
                        <a:rPr lang="en-IL" sz="3600"/>
                        <m:t>(</m:t>
                      </m:r>
                      <m:r>
                        <a:rPr lang="en-IL" sz="3600" i="1"/>
                        <m:t>𝑡</m:t>
                      </m:r>
                      <m:r>
                        <a:rPr lang="en-IL" sz="3600"/>
                        <m:t>)∗</m:t>
                      </m:r>
                      <m:sSub>
                        <m:sSubPr>
                          <m:ctrlPr>
                            <a:rPr lang="en-IL" sz="3600" i="1"/>
                          </m:ctrlPr>
                        </m:sSubPr>
                        <m:e>
                          <m:r>
                            <a:rPr lang="en-IL" sz="3600" i="1"/>
                            <m:t>h</m:t>
                          </m:r>
                        </m:e>
                        <m:sub>
                          <m:r>
                            <a:rPr lang="en-IL" sz="3600" i="1"/>
                            <m:t>𝑛</m:t>
                          </m:r>
                          <m:r>
                            <a:rPr lang="en-IL" sz="3600"/>
                            <m:t>,</m:t>
                          </m:r>
                          <m:r>
                            <a:rPr lang="en-IL" sz="3600" i="1"/>
                            <m:t>𝑎</m:t>
                          </m:r>
                        </m:sub>
                      </m:sSub>
                      <m:r>
                        <a:rPr lang="en-IL" sz="3600"/>
                        <m:t>(</m:t>
                      </m:r>
                      <m:r>
                        <a:rPr lang="en-IL" sz="3600" i="1"/>
                        <m:t>𝑡</m:t>
                      </m:r>
                      <m:r>
                        <a:rPr lang="en-IL" sz="3600"/>
                        <m:t>)</m:t>
                      </m:r>
                    </m:oMath>
                  </m:oMathPara>
                </a14:m>
                <a:endParaRPr lang="en-IL" sz="3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6000" y="1044000"/>
                <a:ext cx="10515600" cy="74071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IL" i="1"/>
                        </m:ctrlPr>
                      </m:sSubSupPr>
                      <m:e>
                        <m:r>
                          <a:rPr lang="en-IL" i="1"/>
                          <m:t>𝑣</m:t>
                        </m:r>
                      </m:e>
                      <m:sub>
                        <m:r>
                          <a:rPr lang="en-IL" i="1"/>
                          <m:t>𝑎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L"/>
                          <m:t>ref</m:t>
                        </m:r>
                      </m:sup>
                    </m:sSubSup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reference vibration signal at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and axis </a:t>
                </a:r>
                <a14:m>
                  <m:oMath xmlns:m="http://schemas.openxmlformats.org/officeDocument/2006/math">
                    <m:r>
                      <a:rPr lang="en-IL" i="1"/>
                      <m:t>𝑎</m:t>
                    </m:r>
                  </m:oMath>
                </a14:m>
                <a:r>
                  <a:rPr lang="en-US" dirty="0"/>
                  <a:t>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L" i="1"/>
                        </m:ctrlPr>
                      </m:sSupPr>
                      <m:e>
                        <m:r>
                          <a:rPr lang="en-IL" i="1"/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L"/>
                          <m:t>ref</m:t>
                        </m:r>
                      </m:sup>
                    </m:sSup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known reference audio signal used for calibration.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i="1"/>
                          <m:t>h</m:t>
                        </m:r>
                      </m:e>
                      <m:sub>
                        <m:r>
                          <a:rPr lang="en-IL" i="1"/>
                          <m:t>𝑛</m:t>
                        </m:r>
                        <m:r>
                          <a:rPr lang="en-IL"/>
                          <m:t>,</m:t>
                        </m:r>
                        <m:r>
                          <a:rPr lang="en-IL" i="1"/>
                          <m:t>𝑎</m:t>
                        </m:r>
                      </m:sub>
                    </m:sSub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impulse response from the reference sound to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lvl="0" indent="0">
                  <a:buNone/>
                </a:pPr>
                <a:r>
                  <a:rPr lang="en-US" dirty="0"/>
                  <a:t>                     and vibration axis </a:t>
                </a:r>
                <a14:m>
                  <m:oMath xmlns:m="http://schemas.openxmlformats.org/officeDocument/2006/math">
                    <m:r>
                      <a:rPr lang="en-IL" i="1"/>
                      <m:t>𝑎</m:t>
                    </m:r>
                  </m:oMath>
                </a14:m>
                <a:r>
                  <a:rPr lang="en-US" dirty="0"/>
                  <a:t>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𝑎</m:t>
                    </m:r>
                    <m:r>
                      <a:rPr lang="en-IL"/>
                      <m:t>∈{</m:t>
                    </m:r>
                    <m:r>
                      <a:rPr lang="en-IL" i="1"/>
                      <m:t>1</m:t>
                    </m:r>
                    <m:r>
                      <a:rPr lang="en-IL"/>
                      <m:t>,</m:t>
                    </m:r>
                    <m:r>
                      <a:rPr lang="en-IL" i="1"/>
                      <m:t>2</m:t>
                    </m:r>
                    <m:r>
                      <a:rPr lang="en-IL"/>
                      <m:t>}</m:t>
                    </m:r>
                  </m:oMath>
                </a14:m>
                <a:r>
                  <a:rPr lang="en-US" dirty="0"/>
                  <a:t>: vibration axis index.</a:t>
                </a:r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  <a:blipFill>
                <a:blip r:embed="rId3"/>
                <a:stretch>
                  <a:fillRect l="-1058" t="-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984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Inverse filter estimation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6000" y="1044000"/>
                <a:ext cx="10515600" cy="74071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L" i="1"/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IL" i="1"/>
                              </m:ctrlPr>
                            </m:accPr>
                            <m:e>
                              <m:r>
                                <a:rPr lang="en-IL" i="1"/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L" i="1"/>
                            <m:t>𝑛</m:t>
                          </m:r>
                          <m:r>
                            <a:rPr lang="en-IL"/>
                            <m:t>,</m:t>
                          </m:r>
                          <m:r>
                            <a:rPr lang="en-IL" i="1"/>
                            <m:t>𝑎</m:t>
                          </m:r>
                        </m:sub>
                        <m:sup>
                          <m:r>
                            <a:rPr lang="en-IL"/>
                            <m:t>−</m:t>
                          </m:r>
                          <m:r>
                            <a:rPr lang="en-IL" i="1"/>
                            <m:t>1</m:t>
                          </m:r>
                        </m:sup>
                      </m:sSubSup>
                      <m:r>
                        <a:rPr lang="en-IL"/>
                        <m:t>(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)=</m:t>
                      </m:r>
                      <m:r>
                        <m:rPr>
                          <m:sty m:val="p"/>
                        </m:rPr>
                        <a:rPr lang="en-IL"/>
                        <m:t>arg</m:t>
                      </m:r>
                      <m:limLow>
                        <m:limLowPr>
                          <m:ctrlPr>
                            <a:rPr lang="en-IL" i="1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IL"/>
                            <m:t>min</m:t>
                          </m:r>
                        </m:e>
                        <m:lim>
                          <m:r>
                            <a:rPr lang="en-IL" i="1"/>
                            <m:t>h</m:t>
                          </m:r>
                          <m:r>
                            <a:rPr lang="en-IL"/>
                            <m:t>(</m:t>
                          </m:r>
                          <m:r>
                            <a:rPr lang="en-IL" i="1"/>
                            <m:t>𝑡</m:t>
                          </m:r>
                          <m:r>
                            <a:rPr lang="en-IL"/>
                            <m:t>)</m:t>
                          </m:r>
                        </m:lim>
                      </m:limLow>
                      <m:sSubSup>
                        <m:sSubSupPr>
                          <m:ctrlPr>
                            <a:rPr lang="en-IL" i="1"/>
                          </m:ctrlPr>
                        </m:sSubSupPr>
                        <m:e>
                          <m:d>
                            <m:dPr>
                              <m:begChr m:val="∥"/>
                              <m:endChr m:val="∥"/>
                              <m:ctrlPr>
                                <a:rPr lang="en-IL" i="1"/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L" i="1"/>
                                  </m:ctrlPr>
                                </m:sSubSupPr>
                                <m:e>
                                  <m:r>
                                    <a:rPr lang="en-IL" i="1"/>
                                    <m:t>𝑣</m:t>
                                  </m:r>
                                </m:e>
                                <m:sub>
                                  <m:r>
                                    <a:rPr lang="en-IL" i="1"/>
                                    <m:t>𝑎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L"/>
                                    <m:t>ref</m:t>
                                  </m:r>
                                </m:sup>
                              </m:sSubSup>
                              <m:r>
                                <a:rPr lang="en-IL"/>
                                <m:t>(</m:t>
                              </m:r>
                              <m:sSub>
                                <m:sSubPr>
                                  <m:ctrlPr>
                                    <a:rPr lang="en-IL" i="1"/>
                                  </m:ctrlPr>
                                </m:sSubPr>
                                <m:e>
                                  <m:r>
                                    <a:rPr lang="en-IL" b="1" i="1"/>
                                    <m:t>𝒙</m:t>
                                  </m:r>
                                </m:e>
                                <m:sub>
                                  <m:r>
                                    <a:rPr lang="en-IL" i="1"/>
                                    <m:t>𝑛</m:t>
                                  </m:r>
                                </m:sub>
                              </m:sSub>
                              <m:r>
                                <a:rPr lang="en-IL"/>
                                <m:t>,</m:t>
                              </m:r>
                              <m:r>
                                <a:rPr lang="en-IL" i="1"/>
                                <m:t>𝑡</m:t>
                              </m:r>
                              <m:r>
                                <a:rPr lang="en-IL"/>
                                <m:t>)∗</m:t>
                              </m:r>
                              <m:r>
                                <a:rPr lang="en-IL" i="1"/>
                                <m:t>h</m:t>
                              </m:r>
                              <m:r>
                                <a:rPr lang="en-IL"/>
                                <m:t>(</m:t>
                              </m:r>
                              <m:r>
                                <a:rPr lang="en-IL" i="1"/>
                                <m:t>𝑡</m:t>
                              </m:r>
                              <m:r>
                                <a:rPr lang="en-IL"/>
                                <m:t>)−</m:t>
                              </m:r>
                              <m:sSup>
                                <m:sSupPr>
                                  <m:ctrlPr>
                                    <a:rPr lang="en-IL" i="1"/>
                                  </m:ctrlPr>
                                </m:sSupPr>
                                <m:e>
                                  <m:r>
                                    <a:rPr lang="en-IL" i="1"/>
                                    <m:t>𝑠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L"/>
                                    <m:t>ref</m:t>
                                  </m:r>
                                </m:sup>
                              </m:sSup>
                              <m:r>
                                <a:rPr lang="en-IL"/>
                                <m:t>(</m:t>
                              </m:r>
                              <m:r>
                                <a:rPr lang="en-IL" i="1"/>
                                <m:t>𝑡</m:t>
                              </m:r>
                              <m:r>
                                <a:rPr lang="en-IL"/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IL" i="1"/>
                            <m:t>2</m:t>
                          </m:r>
                        </m:sub>
                        <m:sup>
                          <m:r>
                            <a:rPr lang="en-IL" i="1"/>
                            <m:t>2</m:t>
                          </m:r>
                        </m:sup>
                      </m:sSubSup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6000" y="1044000"/>
                <a:ext cx="10515600" cy="74071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IL" i="1"/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h</m:t>
                            </m:r>
                          </m:e>
                        </m:acc>
                      </m:e>
                      <m:sub>
                        <m:r>
                          <a:rPr lang="en-IL" i="1"/>
                          <m:t>𝑛</m:t>
                        </m:r>
                        <m:r>
                          <a:rPr lang="en-IL"/>
                          <m:t>,</m:t>
                        </m:r>
                        <m:r>
                          <a:rPr lang="en-IL" i="1"/>
                          <m:t>𝑎</m:t>
                        </m:r>
                      </m:sub>
                      <m:sup>
                        <m:r>
                          <a:rPr lang="en-IL"/>
                          <m:t>−</m:t>
                        </m:r>
                        <m:r>
                          <a:rPr lang="en-IL" i="1"/>
                          <m:t>1</m:t>
                        </m:r>
                      </m:sup>
                    </m:sSubSup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estimated inverse filter for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and axis </a:t>
                </a:r>
                <a14:m>
                  <m:oMath xmlns:m="http://schemas.openxmlformats.org/officeDocument/2006/math">
                    <m:r>
                      <a:rPr lang="en-IL" i="1"/>
                      <m:t>𝑎</m:t>
                    </m:r>
                  </m:oMath>
                </a14:m>
                <a:r>
                  <a:rPr lang="en-US" dirty="0"/>
                  <a:t>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h</m:t>
                    </m:r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candidate inverse filter optimized by least squares.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IL" i="1"/>
                        </m:ctrlPr>
                      </m:sSubSupPr>
                      <m:e>
                        <m:r>
                          <a:rPr lang="en-IL" i="1"/>
                          <m:t>𝑣</m:t>
                        </m:r>
                      </m:e>
                      <m:sub>
                        <m:r>
                          <a:rPr lang="en-IL" i="1"/>
                          <m:t>𝑎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L"/>
                          <m:t>ref</m:t>
                        </m:r>
                      </m:sup>
                    </m:sSubSup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𝑡</m:t>
                    </m:r>
                    <m:r>
                      <a:rPr lang="en-IL"/>
                      <m:t>)∗</m:t>
                    </m:r>
                    <m:r>
                      <a:rPr lang="en-IL" i="1"/>
                      <m:t>h</m:t>
                    </m:r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calibrated reconstruction of the reference signal.</a:t>
                </a:r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  <a:blipFill>
                <a:blip r:embed="rId3"/>
                <a:stretch>
                  <a:fillRect l="-1058" t="-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467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581"/>
            <a:ext cx="10515600" cy="646688"/>
          </a:xfrm>
        </p:spPr>
        <p:txBody>
          <a:bodyPr>
            <a:normAutofit/>
          </a:bodyPr>
          <a:lstStyle/>
          <a:p>
            <a:r>
              <a:rPr lang="en-US" sz="3200" dirty="0"/>
              <a:t>Recovered signal using calibrated inverse filters</a:t>
            </a:r>
            <a:endParaRPr lang="en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6000" y="1044000"/>
                <a:ext cx="10515600" cy="108000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L" i="1"/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IL" i="1"/>
                              </m:ctrlPr>
                            </m:accPr>
                            <m:e>
                              <m:r>
                                <a:rPr lang="en-IL" i="1"/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IL"/>
                            <m:t>new</m:t>
                          </m:r>
                        </m:sup>
                      </m:sSup>
                      <m:r>
                        <a:rPr lang="en-IL"/>
                        <m:t>(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)=</m:t>
                      </m:r>
                      <m:f>
                        <m:fPr>
                          <m:ctrlPr>
                            <a:rPr lang="en-IL" i="1"/>
                          </m:ctrlPr>
                        </m:fPr>
                        <m:num>
                          <m:r>
                            <a:rPr lang="en-IL" i="1"/>
                            <m:t>1</m:t>
                          </m:r>
                        </m:num>
                        <m:den>
                          <m:r>
                            <a:rPr lang="en-IL" i="1"/>
                            <m:t>2</m:t>
                          </m:r>
                          <m:r>
                            <a:rPr lang="en-IL" i="1"/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L" i="1"/>
                          </m:ctrlPr>
                        </m:naryPr>
                        <m:sub>
                          <m:r>
                            <a:rPr lang="en-IL" i="1"/>
                            <m:t>𝑎</m:t>
                          </m:r>
                          <m:r>
                            <a:rPr lang="en-IL"/>
                            <m:t>=</m:t>
                          </m:r>
                          <m:r>
                            <a:rPr lang="en-IL" i="1"/>
                            <m:t>1</m:t>
                          </m:r>
                        </m:sub>
                        <m:sup>
                          <m:r>
                            <a:rPr lang="en-IL" i="1"/>
                            <m:t>2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IL" i="1"/>
                              </m:ctrlPr>
                            </m:naryPr>
                            <m:sub>
                              <m:r>
                                <a:rPr lang="en-IL" i="1"/>
                                <m:t>𝑛</m:t>
                              </m:r>
                              <m:r>
                                <a:rPr lang="en-IL"/>
                                <m:t>=</m:t>
                              </m:r>
                              <m:r>
                                <a:rPr lang="en-IL" i="1"/>
                                <m:t>1</m:t>
                              </m:r>
                            </m:sub>
                            <m:sup>
                              <m:r>
                                <a:rPr lang="en-IL" i="1"/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IL" i="1"/>
                                  </m:ctrlPr>
                                </m:sSubSupPr>
                                <m:e>
                                  <m:r>
                                    <a:rPr lang="en-IL" i="1"/>
                                    <m:t>𝑣</m:t>
                                  </m:r>
                                </m:e>
                                <m:sub>
                                  <m:r>
                                    <a:rPr lang="en-IL" i="1"/>
                                    <m:t>𝑎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L"/>
                                    <m:t>new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IL"/>
                        <m:t>(</m:t>
                      </m:r>
                      <m:sSub>
                        <m:sSubPr>
                          <m:ctrlPr>
                            <a:rPr lang="en-IL" i="1"/>
                          </m:ctrlPr>
                        </m:sSubPr>
                        <m:e>
                          <m:r>
                            <a:rPr lang="en-IL" b="1" i="1"/>
                            <m:t>𝒙</m:t>
                          </m:r>
                        </m:e>
                        <m:sub>
                          <m:r>
                            <a:rPr lang="en-IL" i="1"/>
                            <m:t>𝑛</m:t>
                          </m:r>
                        </m:sub>
                      </m:sSub>
                      <m:r>
                        <a:rPr lang="en-IL"/>
                        <m:t>,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)∗</m:t>
                      </m:r>
                      <m:sSubSup>
                        <m:sSubSupPr>
                          <m:ctrlPr>
                            <a:rPr lang="en-IL" i="1"/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IL" i="1"/>
                              </m:ctrlPr>
                            </m:accPr>
                            <m:e>
                              <m:r>
                                <a:rPr lang="en-IL" i="1"/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L" i="1"/>
                            <m:t>𝑛</m:t>
                          </m:r>
                          <m:r>
                            <a:rPr lang="en-IL"/>
                            <m:t>,</m:t>
                          </m:r>
                          <m:r>
                            <a:rPr lang="en-IL" i="1"/>
                            <m:t>𝑎</m:t>
                          </m:r>
                        </m:sub>
                        <m:sup>
                          <m:r>
                            <a:rPr lang="en-IL"/>
                            <m:t>−</m:t>
                          </m:r>
                          <m:r>
                            <a:rPr lang="en-IL" i="1"/>
                            <m:t>1</m:t>
                          </m:r>
                        </m:sup>
                      </m:sSubSup>
                      <m:r>
                        <a:rPr lang="en-IL"/>
                        <m:t>(</m:t>
                      </m:r>
                      <m:r>
                        <a:rPr lang="en-IL" i="1"/>
                        <m:t>𝑡</m:t>
                      </m:r>
                      <m:r>
                        <a:rPr lang="en-IL"/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D7C16-C954-A941-6021-9DCD8C09F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6000" y="1044000"/>
                <a:ext cx="10515600" cy="1080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Description of terms: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L" i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𝑠</m:t>
                            </m:r>
                          </m:e>
                        </m:acc>
                      </m:e>
                      <m:sup>
                        <m:r>
                          <m:rPr>
                            <m:sty m:val="p"/>
                          </m:rPr>
                          <a:rPr lang="en-IL"/>
                          <m:t>new</m:t>
                        </m:r>
                      </m:sup>
                    </m:sSup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recovered signal for a new measurement.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IL" i="1"/>
                        </m:ctrlPr>
                      </m:sSubSupPr>
                      <m:e>
                        <m:r>
                          <a:rPr lang="en-IL" i="1"/>
                          <m:t>𝑣</m:t>
                        </m:r>
                      </m:e>
                      <m:sub>
                        <m:r>
                          <a:rPr lang="en-IL" i="1"/>
                          <m:t>𝑎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L"/>
                          <m:t>new</m:t>
                        </m:r>
                      </m:sup>
                    </m:sSubSup>
                    <m:r>
                      <a:rPr lang="en-IL"/>
                      <m:t>(</m:t>
                    </m:r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  <m:r>
                      <a:rPr lang="en-IL"/>
                      <m:t>,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new measured vibration signal at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/>
                        </m:ctrlPr>
                      </m:sSubPr>
                      <m:e>
                        <m:r>
                          <a:rPr lang="en-IL" b="1" i="1"/>
                          <m:t>𝒙</m:t>
                        </m:r>
                      </m:e>
                      <m:sub>
                        <m:r>
                          <a:rPr lang="en-IL" i="1"/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and axis </a:t>
                </a:r>
                <a14:m>
                  <m:oMath xmlns:m="http://schemas.openxmlformats.org/officeDocument/2006/math">
                    <m:r>
                      <a:rPr lang="en-IL" i="1"/>
                      <m:t>𝑎</m:t>
                    </m:r>
                  </m:oMath>
                </a14:m>
                <a:r>
                  <a:rPr lang="en-US" dirty="0"/>
                  <a:t>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IL" i="1"/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IL" i="1"/>
                            </m:ctrlPr>
                          </m:accPr>
                          <m:e>
                            <m:r>
                              <a:rPr lang="en-IL" i="1"/>
                              <m:t>h</m:t>
                            </m:r>
                          </m:e>
                        </m:acc>
                      </m:e>
                      <m:sub>
                        <m:r>
                          <a:rPr lang="en-IL" i="1"/>
                          <m:t>𝑛</m:t>
                        </m:r>
                        <m:r>
                          <a:rPr lang="en-IL"/>
                          <m:t>,</m:t>
                        </m:r>
                        <m:r>
                          <a:rPr lang="en-IL" i="1"/>
                          <m:t>𝑎</m:t>
                        </m:r>
                      </m:sub>
                      <m:sup>
                        <m:r>
                          <a:rPr lang="en-IL"/>
                          <m:t>−</m:t>
                        </m:r>
                        <m:r>
                          <a:rPr lang="en-IL" i="1"/>
                          <m:t>1</m:t>
                        </m:r>
                      </m:sup>
                    </m:sSubSup>
                    <m:r>
                      <a:rPr lang="en-IL"/>
                      <m:t>(</m:t>
                    </m:r>
                    <m:r>
                      <a:rPr lang="en-IL" i="1"/>
                      <m:t>𝑡</m:t>
                    </m:r>
                    <m:r>
                      <a:rPr lang="en-IL"/>
                      <m:t>)</m:t>
                    </m:r>
                  </m:oMath>
                </a14:m>
                <a:r>
                  <a:rPr lang="en-US" dirty="0"/>
                  <a:t>: calibrated inverse filter.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𝑁</m:t>
                    </m:r>
                  </m:oMath>
                </a14:m>
                <a:r>
                  <a:rPr lang="en-US" dirty="0"/>
                  <a:t>: number of measured surface points.</a:t>
                </a:r>
                <a:endParaRPr lang="en-IL" dirty="0"/>
              </a:p>
              <a:p>
                <a:pPr lvl="0"/>
                <a14:m>
                  <m:oMath xmlns:m="http://schemas.openxmlformats.org/officeDocument/2006/math">
                    <m:r>
                      <a:rPr lang="en-IL" i="1"/>
                      <m:t>2</m:t>
                    </m:r>
                    <m:r>
                      <a:rPr lang="en-IL" i="1"/>
                      <m:t>𝑁</m:t>
                    </m:r>
                  </m:oMath>
                </a14:m>
                <a:r>
                  <a:rPr lang="en-US" dirty="0"/>
                  <a:t>: total number of measurement channels, since each point has two vibration axes.</a:t>
                </a:r>
                <a:endParaRPr lang="en-IL" dirty="0"/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82ED3D-1D4C-9ADB-AC6A-B2D19FAC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" y="2484000"/>
                <a:ext cx="11520000" cy="4140000"/>
              </a:xfrm>
              <a:prstGeom prst="rect">
                <a:avLst/>
              </a:prstGeom>
              <a:blipFill>
                <a:blip r:embed="rId3"/>
                <a:stretch>
                  <a:fillRect l="-1058" t="-25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191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04B7-2B14-4DA2-5F64-8B96F350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6D080-22F3-3E2F-8C38-203A10A0A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919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CC5536-7B8B-BAB9-0D36-D86641751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00" y="2754000"/>
            <a:ext cx="4565200" cy="1440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82ED3D-1D4C-9ADB-AC6A-B2D19FACDD90}"/>
              </a:ext>
            </a:extLst>
          </p:cNvPr>
          <p:cNvSpPr txBox="1">
            <a:spLocks/>
          </p:cNvSpPr>
          <p:nvPr/>
        </p:nvSpPr>
        <p:spPr>
          <a:xfrm>
            <a:off x="741000" y="2439000"/>
            <a:ext cx="10515600" cy="41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92627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D7C16-C954-A941-6021-9DCD8C09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9" y="1690688"/>
            <a:ext cx="10515600" cy="1063375"/>
          </a:xfrm>
        </p:spPr>
        <p:txBody>
          <a:bodyPr/>
          <a:lstStyle/>
          <a:p>
            <a:pPr marL="0" indent="0">
              <a:buNone/>
            </a:pPr>
            <a:endParaRPr lang="en-I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82ED3D-1D4C-9ADB-AC6A-B2D19FACDD90}"/>
              </a:ext>
            </a:extLst>
          </p:cNvPr>
          <p:cNvSpPr txBox="1">
            <a:spLocks/>
          </p:cNvSpPr>
          <p:nvPr/>
        </p:nvSpPr>
        <p:spPr>
          <a:xfrm>
            <a:off x="741000" y="2439000"/>
            <a:ext cx="10515600" cy="41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56286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169B-E647-5200-CC15-018A97C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09C5-878D-A6A2-853C-CF381878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D7C16-C954-A941-6021-9DCD8C09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9" y="1690688"/>
            <a:ext cx="10515600" cy="1063375"/>
          </a:xfrm>
        </p:spPr>
        <p:txBody>
          <a:bodyPr/>
          <a:lstStyle/>
          <a:p>
            <a:pPr marL="0" indent="0">
              <a:buNone/>
            </a:pPr>
            <a:endParaRPr lang="en-I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82ED3D-1D4C-9ADB-AC6A-B2D19FACDD90}"/>
              </a:ext>
            </a:extLst>
          </p:cNvPr>
          <p:cNvSpPr txBox="1">
            <a:spLocks/>
          </p:cNvSpPr>
          <p:nvPr/>
        </p:nvSpPr>
        <p:spPr>
          <a:xfrm>
            <a:off x="741000" y="2439000"/>
            <a:ext cx="10515600" cy="41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01959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1501</Words>
  <Application>Microsoft Office PowerPoint</Application>
  <PresentationFormat>Widescreen</PresentationFormat>
  <Paragraphs>151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Hearing the Room Through the Shape of the Drum</vt:lpstr>
      <vt:lpstr>Surface Vibration Model</vt:lpstr>
      <vt:lpstr>Modal Decomposition</vt:lpstr>
      <vt:lpstr>Second-order modal oscillator:</vt:lpstr>
      <vt:lpstr>Modal response in the frequency domain:</vt:lpstr>
      <vt:lpstr>Second-order oscillator transfer function:</vt:lpstr>
      <vt:lpstr>Surface Displacement as a Modal Convolution</vt:lpstr>
      <vt:lpstr>Sound Pressure and Source Signal</vt:lpstr>
      <vt:lpstr>Speckle-Based Vibration Measurements</vt:lpstr>
      <vt:lpstr>Forward model from sound to measured speckle shifts</vt:lpstr>
      <vt:lpstr>Mode Frequency Estimation</vt:lpstr>
      <vt:lpstr>Mode Shape Gradient Estimation</vt:lpstr>
      <vt:lpstr>Sound Recovery Optimization</vt:lpstr>
      <vt:lpstr>Total variation of a mode-shape gradient</vt:lpstr>
      <vt:lpstr>Calibration-Based Baseline</vt:lpstr>
      <vt:lpstr>Reference convolution model</vt:lpstr>
      <vt:lpstr>Inverse filter estimation</vt:lpstr>
      <vt:lpstr>Recovered signal using calibrated inverse filters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Shoham Perry</dc:creator>
  <cp:lastModifiedBy>Shoham Perry</cp:lastModifiedBy>
  <cp:revision>22</cp:revision>
  <dcterms:created xsi:type="dcterms:W3CDTF">2026-06-13T06:50:58Z</dcterms:created>
  <dcterms:modified xsi:type="dcterms:W3CDTF">2026-06-16T18:01:44Z</dcterms:modified>
</cp:coreProperties>
</file>