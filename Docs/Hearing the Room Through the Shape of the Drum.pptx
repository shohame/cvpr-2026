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78" r:id="rId3"/>
    <p:sldId id="279" r:id="rId4"/>
    <p:sldId id="257" r:id="rId5"/>
    <p:sldId id="258" r:id="rId6"/>
    <p:sldId id="259" r:id="rId7"/>
    <p:sldId id="264" r:id="rId8"/>
    <p:sldId id="265" r:id="rId9"/>
    <p:sldId id="266" r:id="rId10"/>
    <p:sldId id="267" r:id="rId11"/>
    <p:sldId id="268" r:id="rId12"/>
    <p:sldId id="269" r:id="rId13"/>
    <p:sldId id="270" r:id="rId14"/>
    <p:sldId id="271" r:id="rId15"/>
    <p:sldId id="272" r:id="rId16"/>
    <p:sldId id="273" r:id="rId17"/>
    <p:sldId id="274" r:id="rId18"/>
    <p:sldId id="275" r:id="rId19"/>
    <p:sldId id="276" r:id="rId20"/>
    <p:sldId id="277" r:id="rId21"/>
    <p:sldId id="263" r:id="rId22"/>
    <p:sldId id="260" r:id="rId23"/>
    <p:sldId id="261" r:id="rId24"/>
    <p:sldId id="262" r:id="rId25"/>
  </p:sldIdLst>
  <p:sldSz cx="12192000" cy="6858000"/>
  <p:notesSz cx="6858000" cy="9144000"/>
  <p:defaultTextStyle>
    <a:defPPr>
      <a:defRPr lang="en-I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6" autoAdjust="0"/>
    <p:restoredTop sz="94660"/>
  </p:normalViewPr>
  <p:slideViewPr>
    <p:cSldViewPr>
      <p:cViewPr varScale="1">
        <p:scale>
          <a:sx n="67" d="100"/>
          <a:sy n="67" d="100"/>
        </p:scale>
        <p:origin x="582" y="5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45000" cy="450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09894E-B9A0-7744-FF67-A895C4BA20E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512410B-3DED-E98B-EA6F-09BE9AC0F7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B36B45-DA51-1359-0A9F-762667A94A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E3EBA9-E970-4212-A825-EC7D001314A2}" type="datetimeFigureOut">
              <a:rPr lang="en-IL" smtClean="0"/>
              <a:t>17/06/2026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2B6BB3-2490-0713-2A6F-6496BE1C65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1A229D-E233-0760-B9CF-9463237A2A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5D72B7-AE05-43C2-8BB2-C7A6D847F96A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9728078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54558B-1756-FBD3-C759-C635815050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08A594-4816-C26B-C3E6-C92F7D0FEA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439856-1867-79D7-B940-07B9312CD4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E3EBA9-E970-4212-A825-EC7D001314A2}" type="datetimeFigureOut">
              <a:rPr lang="en-IL" smtClean="0"/>
              <a:t>17/06/2026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D8AC50-DB2F-F128-DF27-7BCAD39AC3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064232-1E7B-E114-43AC-246E70B3EC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5D72B7-AE05-43C2-8BB2-C7A6D847F96A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3103980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9D9528-565E-ED98-F40E-F23A3D71D4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4ABB18-3774-140D-20D1-B582EDC329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0BEDAA-3085-A215-D46D-27429735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E3EBA9-E970-4212-A825-EC7D001314A2}" type="datetimeFigureOut">
              <a:rPr lang="en-IL" smtClean="0"/>
              <a:t>17/06/2026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93ACC9-0C68-2813-8136-D535C1814B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FCE2B4-3E94-FD54-D4C1-662D98167E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5D72B7-AE05-43C2-8BB2-C7A6D847F96A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1998023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83EFC1-26B6-F544-ED4D-BBE0E7E69A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F18D25-46B5-803B-0D36-A8C35325579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524C5CF-0B1C-F6D8-0737-D60904462B5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364312-3A6D-96A0-3388-7EE45A4E1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E3EBA9-E970-4212-A825-EC7D001314A2}" type="datetimeFigureOut">
              <a:rPr lang="en-IL" smtClean="0"/>
              <a:t>17/06/2026</a:t>
            </a:fld>
            <a:endParaRPr lang="en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89D3735-C9CD-0DBF-BE0F-08EE6B9BB9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6B4231A-22D7-8126-9F73-C53A4CE7A1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5D72B7-AE05-43C2-8BB2-C7A6D847F96A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3936956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2AC127-7652-9EA4-4DCA-8E092848D8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6778BD-9594-C311-6337-D79E95BE57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98B54E3-5406-5B8B-2F93-0678CA615F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32B3A8-3BF6-EBF9-C881-8264AB872F4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881C735-238D-C1AB-C175-756CAC5AA42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7878F54-AE0B-C3C9-678D-1E77DBAD2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E3EBA9-E970-4212-A825-EC7D001314A2}" type="datetimeFigureOut">
              <a:rPr lang="en-IL" smtClean="0"/>
              <a:t>17/06/2026</a:t>
            </a:fld>
            <a:endParaRPr lang="en-I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C464624-04DB-7D0C-2E8C-9B85F115A9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B1DB4B3-D5BF-AD81-1017-AC24ECC61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5D72B7-AE05-43C2-8BB2-C7A6D847F96A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7555681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4835C3-81CC-8F56-63C4-E2F89A1597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F711FA-4CBB-5B9B-7B2D-B5385C19F5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E3EBA9-E970-4212-A825-EC7D001314A2}" type="datetimeFigureOut">
              <a:rPr lang="en-IL" smtClean="0"/>
              <a:t>17/06/2026</a:t>
            </a:fld>
            <a:endParaRPr lang="en-I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529FBD2-EA12-D67D-4761-27C80DA1D3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1CF5DA4-BDE6-4D36-EE46-FFC6369AEC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5D72B7-AE05-43C2-8BB2-C7A6D847F96A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5173981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DA3C722-AE76-9A6C-CE82-A8BAD0CE5A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E3EBA9-E970-4212-A825-EC7D001314A2}" type="datetimeFigureOut">
              <a:rPr lang="en-IL" smtClean="0"/>
              <a:t>17/06/2026</a:t>
            </a:fld>
            <a:endParaRPr lang="en-I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30F3D4B-177E-87CA-5212-3B6E1C14ED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9BE44A-FC84-521F-4CB1-E837451A16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5D72B7-AE05-43C2-8BB2-C7A6D847F96A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6070116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1F8F94-954A-0307-F843-4B74E9D159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DE4166-B641-346B-3AD1-4C8E765315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387FA8D-113B-3A77-4082-325F61EE6FE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51C7E2C-8EBD-CEF4-9DC8-B4524C9E9C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E3EBA9-E970-4212-A825-EC7D001314A2}" type="datetimeFigureOut">
              <a:rPr lang="en-IL" smtClean="0"/>
              <a:t>17/06/2026</a:t>
            </a:fld>
            <a:endParaRPr lang="en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12CDB4-07AC-E269-9C53-4828B01FDE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C00CBB5-5622-0693-9512-11468F2B94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5D72B7-AE05-43C2-8BB2-C7A6D847F96A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40188270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9AD89F-20B5-7042-8A7F-DE25D9898C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2CB68CD-83C0-AFEB-9DAF-2F809377262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980603C-DAD2-0703-650E-8370AB86EB5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B96BFDF-809D-91CA-973F-3DAC9C8462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E3EBA9-E970-4212-A825-EC7D001314A2}" type="datetimeFigureOut">
              <a:rPr lang="en-IL" smtClean="0"/>
              <a:t>17/06/2026</a:t>
            </a:fld>
            <a:endParaRPr lang="en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2C34FD4-82DF-C158-E4A6-BA109E2160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A569517-45A3-2012-6027-E2F4CB9DBC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5D72B7-AE05-43C2-8BB2-C7A6D847F96A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550050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49B39F-5407-8569-2591-20E287FF83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A24DC1C-4E96-A570-B237-8C103140B6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6250CA-894A-4745-5BB4-3757E36F57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E3EBA9-E970-4212-A825-EC7D001314A2}" type="datetimeFigureOut">
              <a:rPr lang="en-IL" smtClean="0"/>
              <a:t>17/06/2026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2E9A21-97E6-EB18-E59C-503D776218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E209EF-2F3A-76A3-7881-6C7310B5A1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5D72B7-AE05-43C2-8BB2-C7A6D847F96A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4756544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DC528FA-FD3B-7A52-41EF-3EABE7A8D04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80521AD-5BC9-0271-DB00-3C1DD1DABE1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6F7EEF-BFA1-67E8-A7FE-B5D68F4D2D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E3EBA9-E970-4212-A825-EC7D001314A2}" type="datetimeFigureOut">
              <a:rPr lang="en-IL" smtClean="0"/>
              <a:t>17/06/2026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1259C7-E2D2-8C0E-E1E2-4CEE5CE66C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31B2B1-BF3D-832A-4C7F-6212C5E123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5D72B7-AE05-43C2-8BB2-C7A6D847F96A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5106362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1">
                <a:lumMod val="8000"/>
                <a:lumOff val="92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3401500-9DDF-67F2-3847-03216C91B8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AF89BEE-056C-683A-C2CD-F15C694764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0466E2-0E9C-1037-BC1C-DEFB6AF068B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DE3EBA9-E970-4212-A825-EC7D001314A2}" type="datetimeFigureOut">
              <a:rPr lang="en-IL" smtClean="0"/>
              <a:t>17/06/2026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C9A23B-32FA-261A-2779-D419FAA760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E73E9C-982E-240E-E6E4-02D313E5ACF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5D72B7-AE05-43C2-8BB2-C7A6D847F96A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385896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I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jpe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audio" Target="../media/media1.wav"/><Relationship Id="rId1" Type="http://schemas.microsoft.com/office/2007/relationships/media" Target="../media/media1.wav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gif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5">
            <a:extLst>
              <a:ext uri="{FF2B5EF4-FFF2-40B4-BE49-F238E27FC236}">
                <a16:creationId xmlns:a16="http://schemas.microsoft.com/office/drawing/2014/main" id="{266C3769-F098-D0F6-2173-DC8598C04B4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79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5000" contrast="-37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69314" y="0"/>
            <a:ext cx="3822686" cy="3845152"/>
          </a:xfrm>
          <a:prstGeom prst="rect">
            <a:avLst/>
          </a:prstGeom>
          <a:effectLst>
            <a:outerShdw blurRad="596900" dist="50800" dir="5400000" algn="ctr" rotWithShape="0">
              <a:srgbClr val="000000"/>
            </a:outerShdw>
            <a:softEdge rad="571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73EA040-F5A6-C0C7-2AF2-62AB10BA946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9324" y="-217023"/>
            <a:ext cx="7989409" cy="2369217"/>
          </a:xfrm>
        </p:spPr>
        <p:txBody>
          <a:bodyPr>
            <a:normAutofit fontScale="90000"/>
          </a:bodyPr>
          <a:lstStyle/>
          <a:p>
            <a:r>
              <a:rPr lang="en-IL" b="1" dirty="0"/>
              <a:t>Hearing the Room Through the Shape of the Drum</a:t>
            </a:r>
            <a:endParaRPr lang="en-IL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174FC50-D636-8F2F-1F13-CADE7C65F70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02078" y="6302997"/>
            <a:ext cx="9144000" cy="584237"/>
          </a:xfrm>
        </p:spPr>
        <p:txBody>
          <a:bodyPr>
            <a:normAutofit/>
          </a:bodyPr>
          <a:lstStyle/>
          <a:p>
            <a:r>
              <a:rPr lang="en-IL" sz="3200" dirty="0"/>
              <a:t>Weizmann Institute of Science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8E4F70B-9FA8-FFF7-9A81-D2BF94A2C14A}"/>
              </a:ext>
            </a:extLst>
          </p:cNvPr>
          <p:cNvSpPr txBox="1">
            <a:spLocks/>
          </p:cNvSpPr>
          <p:nvPr/>
        </p:nvSpPr>
        <p:spPr>
          <a:xfrm>
            <a:off x="59324" y="2234658"/>
            <a:ext cx="7020000" cy="180046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IL" sz="4000" b="1" i="1" dirty="0"/>
              <a:t>Modal-Guided Sound Recovery from Multi-Point Surface Vibrations</a:t>
            </a:r>
          </a:p>
        </p:txBody>
      </p:sp>
      <p:pic>
        <p:nvPicPr>
          <p:cNvPr id="1026" name="Picture 2" descr=" Shai Bagon">
            <a:extLst>
              <a:ext uri="{FF2B5EF4-FFF2-40B4-BE49-F238E27FC236}">
                <a16:creationId xmlns:a16="http://schemas.microsoft.com/office/drawing/2014/main" id="{A0E731C6-236B-75B7-6A3E-307DAADA44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17343" y="4174149"/>
            <a:ext cx="1679250" cy="1679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B913E983-4F61-4A70-B3D0-40AB98783E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29023" y="4247710"/>
            <a:ext cx="1413445" cy="15419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09EBA879-10C4-51A2-5A11-60C7FEDB7C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49949" y="4184555"/>
            <a:ext cx="1525718" cy="1679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Subtitle 2">
            <a:extLst>
              <a:ext uri="{FF2B5EF4-FFF2-40B4-BE49-F238E27FC236}">
                <a16:creationId xmlns:a16="http://schemas.microsoft.com/office/drawing/2014/main" id="{7AEA3DDD-CCF2-C775-68E1-941FB63058C7}"/>
              </a:ext>
            </a:extLst>
          </p:cNvPr>
          <p:cNvSpPr txBox="1">
            <a:spLocks/>
          </p:cNvSpPr>
          <p:nvPr/>
        </p:nvSpPr>
        <p:spPr>
          <a:xfrm>
            <a:off x="1641000" y="5859248"/>
            <a:ext cx="9594000" cy="5842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/>
              <a:t>Shai </a:t>
            </a:r>
            <a:r>
              <a:rPr lang="en-US" sz="2800" dirty="0" err="1"/>
              <a:t>Bagon</a:t>
            </a:r>
            <a:r>
              <a:rPr lang="en-US" sz="2800" dirty="0"/>
              <a:t>                      Matan Kichler                     Mark Sheinin</a:t>
            </a:r>
            <a:endParaRPr lang="en-IL" sz="2800" dirty="0"/>
          </a:p>
        </p:txBody>
      </p:sp>
    </p:spTree>
    <p:extLst>
      <p:ext uri="{BB962C8B-B14F-4D97-AF65-F5344CB8AC3E}">
        <p14:creationId xmlns:p14="http://schemas.microsoft.com/office/powerpoint/2010/main" val="686963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E9B4B2-C42B-B46D-D38C-04EC48AF13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6000" y="99000"/>
            <a:ext cx="10515600" cy="1325563"/>
          </a:xfrm>
        </p:spPr>
        <p:txBody>
          <a:bodyPr/>
          <a:lstStyle/>
          <a:p>
            <a:r>
              <a:rPr lang="en-IL" dirty="0"/>
              <a:t>Setup and Task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ECAE52D-6CFD-151A-E5A8-A1B4FBA27AE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0824" y="1854000"/>
            <a:ext cx="2845176" cy="4086600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9" name="Content Placeholder 8">
                <a:extLst>
                  <a:ext uri="{FF2B5EF4-FFF2-40B4-BE49-F238E27FC236}">
                    <a16:creationId xmlns:a16="http://schemas.microsoft.com/office/drawing/2014/main" id="{3B0B705C-F27E-7335-00FA-13CD204A0B3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36000" y="1424562"/>
                <a:ext cx="8505000" cy="4752401"/>
              </a:xfrm>
            </p:spPr>
            <p:txBody>
              <a:bodyPr>
                <a:normAutofit fontScale="70000" lnSpcReduction="20000"/>
              </a:bodyPr>
              <a:lstStyle/>
              <a:p>
                <a:r>
                  <a:rPr lang="en-IL" b="1" dirty="0"/>
                  <a:t>Setup</a:t>
                </a:r>
                <a:br>
                  <a:rPr lang="en-IL" dirty="0"/>
                </a:br>
                <a:r>
                  <a:rPr lang="en-IL" dirty="0"/>
                  <a:t>A speaker plays a music signal </a:t>
                </a:r>
                <a14:m>
                  <m:oMath xmlns:m="http://schemas.openxmlformats.org/officeDocument/2006/math">
                    <m:r>
                      <a:rPr lang="en-IL" i="1"/>
                      <m:t>𝑠</m:t>
                    </m:r>
                    <m:d>
                      <m:dPr>
                        <m:ctrlPr>
                          <a:rPr lang="en-IL" i="1"/>
                        </m:ctrlPr>
                      </m:dPr>
                      <m:e>
                        <m:r>
                          <a:rPr lang="en-IL" i="1"/>
                          <m:t>𝑡</m:t>
                        </m:r>
                      </m:e>
                    </m:d>
                  </m:oMath>
                </a14:m>
                <a:r>
                  <a:rPr lang="en-US" dirty="0"/>
                  <a:t> </a:t>
                </a:r>
                <a:r>
                  <a:rPr lang="en-IL" dirty="0"/>
                  <a:t>in the scene.</a:t>
                </a:r>
                <a:br>
                  <a:rPr lang="en-IL" dirty="0"/>
                </a:br>
                <a:r>
                  <a:rPr lang="en-IL" dirty="0"/>
                  <a:t>The sound pressure from the speaker causes tiny vibrations on a nearby object</a:t>
                </a:r>
                <a:r>
                  <a:rPr lang="en-US" dirty="0"/>
                  <a:t> (drum)</a:t>
                </a:r>
                <a:r>
                  <a:rPr lang="en-IL" dirty="0"/>
                  <a:t>.</a:t>
                </a:r>
                <a:br>
                  <a:rPr lang="en-IL" dirty="0"/>
                </a:br>
                <a:r>
                  <a:rPr lang="en-IL" dirty="0"/>
                  <a:t>A single laser beam illuminates one point on the </a:t>
                </a:r>
                <a:r>
                  <a:rPr lang="en-US" dirty="0"/>
                  <a:t>object’s</a:t>
                </a:r>
                <a:r>
                  <a:rPr lang="en-IL" dirty="0"/>
                  <a:t> surface.</a:t>
                </a:r>
                <a:br>
                  <a:rPr lang="en-IL" dirty="0"/>
                </a:br>
                <a:r>
                  <a:rPr lang="en-IL" dirty="0"/>
                  <a:t>A </a:t>
                </a:r>
                <a:r>
                  <a:rPr lang="en-US" dirty="0"/>
                  <a:t>high-speed </a:t>
                </a:r>
                <a:r>
                  <a:rPr lang="en-IL" dirty="0"/>
                  <a:t>camera observes the reflected speckle pattern from that point.</a:t>
                </a:r>
              </a:p>
              <a:p>
                <a:r>
                  <a:rPr lang="en-IL" b="1" dirty="0"/>
                  <a:t>Measurement</a:t>
                </a:r>
                <a:br>
                  <a:rPr lang="en-IL" dirty="0"/>
                </a:br>
                <a:r>
                  <a:rPr lang="en-IL" dirty="0"/>
                  <a:t>Tiny surface vibrations create small speckle shifts in the camera image.</a:t>
                </a:r>
                <a:br>
                  <a:rPr lang="en-IL" dirty="0"/>
                </a:br>
                <a:r>
                  <a:rPr lang="en-IL" dirty="0"/>
                  <a:t>These shifts provide an indirect measurement of the object’s vibration.</a:t>
                </a:r>
              </a:p>
              <a:p>
                <a:r>
                  <a:rPr lang="en-IL" b="1" dirty="0"/>
                  <a:t>Task</a:t>
                </a:r>
                <a:br>
                  <a:rPr lang="en-IL" dirty="0"/>
                </a:br>
                <a:r>
                  <a:rPr lang="en-IL" dirty="0"/>
                  <a:t>Recover the original music signal </a:t>
                </a:r>
                <a14:m>
                  <m:oMath xmlns:m="http://schemas.openxmlformats.org/officeDocument/2006/math">
                    <m:r>
                      <a:rPr lang="en-IL" i="1"/>
                      <m:t>𝑠</m:t>
                    </m:r>
                    <m:d>
                      <m:dPr>
                        <m:ctrlPr>
                          <a:rPr lang="en-IL" i="1"/>
                        </m:ctrlPr>
                      </m:dPr>
                      <m:e>
                        <m:r>
                          <a:rPr lang="en-IL" i="1"/>
                          <m:t>𝑡</m:t>
                        </m:r>
                      </m:e>
                    </m:d>
                  </m:oMath>
                </a14:m>
                <a:r>
                  <a:rPr lang="en-IL" dirty="0"/>
                  <a:t>played by the speaker from the measured surface vibration.</a:t>
                </a:r>
              </a:p>
              <a:p>
                <a:r>
                  <a:rPr lang="en-IL" b="1" dirty="0"/>
                  <a:t>Key Challenge</a:t>
                </a:r>
                <a:br>
                  <a:rPr lang="en-IL" dirty="0"/>
                </a:br>
                <a:r>
                  <a:rPr lang="en-IL" dirty="0"/>
                  <a:t>A single point gives a noisy and object-dependent signal.</a:t>
                </a:r>
                <a:br>
                  <a:rPr lang="en-IL" dirty="0"/>
                </a:br>
                <a:r>
                  <a:rPr lang="en-IL" dirty="0"/>
                  <a:t>The recovered audio is strongly affected by the object’s resonant response.</a:t>
                </a:r>
              </a:p>
              <a:p>
                <a:endParaRPr lang="en-IL" dirty="0"/>
              </a:p>
            </p:txBody>
          </p:sp>
        </mc:Choice>
        <mc:Fallback>
          <p:sp>
            <p:nvSpPr>
              <p:cNvPr id="9" name="Content Placeholder 8">
                <a:extLst>
                  <a:ext uri="{FF2B5EF4-FFF2-40B4-BE49-F238E27FC236}">
                    <a16:creationId xmlns:a16="http://schemas.microsoft.com/office/drawing/2014/main" id="{3B0B705C-F27E-7335-00FA-13CD204A0B3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36000" y="1424562"/>
                <a:ext cx="8505000" cy="4752401"/>
              </a:xfrm>
              <a:blipFill>
                <a:blip r:embed="rId5"/>
                <a:stretch>
                  <a:fillRect l="-645" t="-2311"/>
                </a:stretch>
              </a:blipFill>
            </p:spPr>
            <p:txBody>
              <a:bodyPr/>
              <a:lstStyle/>
              <a:p>
                <a:r>
                  <a:rPr lang="en-IL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drum6_golden_Single">
            <a:hlinkClick r:id="" action="ppaction://media"/>
            <a:extLst>
              <a:ext uri="{FF2B5EF4-FFF2-40B4-BE49-F238E27FC236}">
                <a16:creationId xmlns:a16="http://schemas.microsoft.com/office/drawing/2014/main" id="{C22239B6-2DDB-736E-5070-4C182A2E166F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10538606" y="756381"/>
            <a:ext cx="304800" cy="30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27744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1441" fill="hold"/>
                                        <p:tgtEl>
                                          <p:spTgt spid="1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2"/>
                </p:tgtEl>
              </p:cMediaNode>
            </p:audio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E9B4B2-C42B-B46D-D38C-04EC48AF13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1000" y="-17438"/>
            <a:ext cx="10515600" cy="1325563"/>
          </a:xfrm>
        </p:spPr>
        <p:txBody>
          <a:bodyPr/>
          <a:lstStyle/>
          <a:p>
            <a:r>
              <a:rPr lang="en-IL" dirty="0"/>
              <a:t>From One Laser Point to a Grid</a:t>
            </a: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C4B397A0-3A43-F579-62DE-AF4B47AF960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96874" y="1625093"/>
            <a:ext cx="3295126" cy="4351338"/>
          </a:xfrm>
          <a:prstGeom prst="rect">
            <a:avLst/>
          </a:prstGeom>
        </p:spPr>
      </p:pic>
      <p:sp>
        <p:nvSpPr>
          <p:cNvPr id="11" name="Content Placeholder 8">
            <a:extLst>
              <a:ext uri="{FF2B5EF4-FFF2-40B4-BE49-F238E27FC236}">
                <a16:creationId xmlns:a16="http://schemas.microsoft.com/office/drawing/2014/main" id="{ABF31D8F-9819-E690-1559-FC2FA6603DE6}"/>
              </a:ext>
            </a:extLst>
          </p:cNvPr>
          <p:cNvSpPr txBox="1">
            <a:spLocks/>
          </p:cNvSpPr>
          <p:nvPr/>
        </p:nvSpPr>
        <p:spPr>
          <a:xfrm>
            <a:off x="336000" y="1424562"/>
            <a:ext cx="8505000" cy="4752401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L" b="1" dirty="0"/>
              <a:t>Setup</a:t>
            </a:r>
            <a:br>
              <a:rPr lang="en-IL" dirty="0"/>
            </a:br>
            <a:r>
              <a:rPr lang="en-IL" dirty="0"/>
              <a:t>A laser splitter turns the single laser beam into a grid of illumination points on the object surface.</a:t>
            </a:r>
            <a:endParaRPr lang="en-US" dirty="0"/>
          </a:p>
          <a:p>
            <a:r>
              <a:rPr lang="en-IL" b="1" dirty="0"/>
              <a:t>Opportunity</a:t>
            </a:r>
            <a:br>
              <a:rPr lang="en-IL" dirty="0"/>
            </a:br>
            <a:r>
              <a:rPr lang="en-IL" dirty="0"/>
              <a:t>The object now acts like a distributed visual microphone.</a:t>
            </a:r>
            <a:br>
              <a:rPr lang="en-IL" dirty="0"/>
            </a:br>
            <a:r>
              <a:rPr lang="en-IL" dirty="0"/>
              <a:t>Different grid points capture different parts of the object’s vibration response to the same music signal.</a:t>
            </a:r>
          </a:p>
          <a:p>
            <a:r>
              <a:rPr lang="en-IL" b="1" dirty="0"/>
              <a:t>Key Question</a:t>
            </a:r>
            <a:br>
              <a:rPr lang="en-IL" dirty="0"/>
            </a:br>
            <a:r>
              <a:rPr lang="en-IL" dirty="0"/>
              <a:t>How can we combine the grid measurements in a physically meaningful way to improve recovery of the speaker’s music signal?</a:t>
            </a:r>
          </a:p>
          <a:p>
            <a:endParaRPr lang="en-IL" dirty="0"/>
          </a:p>
        </p:txBody>
      </p:sp>
    </p:spTree>
    <p:extLst>
      <p:ext uri="{BB962C8B-B14F-4D97-AF65-F5344CB8AC3E}">
        <p14:creationId xmlns:p14="http://schemas.microsoft.com/office/powerpoint/2010/main" val="20235638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4143CD-4B2C-D4CB-8E67-33008E3573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48875"/>
          </a:xfrm>
        </p:spPr>
        <p:txBody>
          <a:bodyPr/>
          <a:lstStyle/>
          <a:p>
            <a:r>
              <a:rPr lang="en-US" dirty="0"/>
              <a:t>Surface Vibration Model</a:t>
            </a:r>
            <a:endParaRPr lang="en-IL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B630FE7F-CD30-1579-013A-83B33A85C2F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51000" y="2234857"/>
                <a:ext cx="9495000" cy="1215000"/>
              </a:xfrm>
            </p:spPr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IL" i="1">
                          <a:latin typeface="Cambria Math" panose="02040503050406030204" pitchFamily="18" charset="0"/>
                        </a:rPr>
                        <m:t>𝜌</m:t>
                      </m:r>
                      <m:f>
                        <m:fPr>
                          <m:ctrlPr>
                            <a:rPr lang="en-IL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IL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IL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en-IL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IL" i="1">
                              <a:latin typeface="Cambria Math" panose="02040503050406030204" pitchFamily="18" charset="0"/>
                            </a:rPr>
                            <m:t>𝑢</m:t>
                          </m:r>
                        </m:num>
                        <m:den>
                          <m:r>
                            <a:rPr lang="en-IL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en-IL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IL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p>
                              <m:r>
                                <a:rPr lang="en-IL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IL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IL" i="1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IL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IL" b="1" i="1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IL">
                          <a:latin typeface="Cambria Math" panose="02040503050406030204" pitchFamily="18" charset="0"/>
                        </a:rPr>
                        <m:t>)</m:t>
                      </m:r>
                      <m:f>
                        <m:fPr>
                          <m:ctrlPr>
                            <a:rPr lang="en-IL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IL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IL" i="1">
                              <a:latin typeface="Cambria Math" panose="02040503050406030204" pitchFamily="18" charset="0"/>
                            </a:rPr>
                            <m:t>𝑢</m:t>
                          </m:r>
                        </m:num>
                        <m:den>
                          <m:r>
                            <a:rPr lang="en-IL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IL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en-IL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IL" i="1">
                          <a:latin typeface="Cambria Math" panose="02040503050406030204" pitchFamily="18" charset="0"/>
                        </a:rPr>
                        <m:t>𝑇</m:t>
                      </m:r>
                      <m:sSup>
                        <m:sSupPr>
                          <m:ctrlPr>
                            <a:rPr lang="en-IL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IL"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p>
                          <m:r>
                            <a:rPr lang="en-IL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IL" i="1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en-IL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IL" i="1">
                          <a:latin typeface="Cambria Math" panose="02040503050406030204" pitchFamily="18" charset="0"/>
                        </a:rPr>
                        <m:t>𝐷</m:t>
                      </m:r>
                      <m:sSup>
                        <m:sSupPr>
                          <m:ctrlPr>
                            <a:rPr lang="en-IL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IL"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p>
                          <m:r>
                            <a:rPr lang="en-IL" i="1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p>
                      <m:r>
                        <a:rPr lang="en-IL" i="1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en-IL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IL" i="1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IL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IL" b="1" i="1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IL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IL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IL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IL" dirty="0"/>
              </a:p>
              <a:p>
                <a:endParaRPr lang="en-IL" dirty="0"/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B630FE7F-CD30-1579-013A-83B33A85C2F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51000" y="2234857"/>
                <a:ext cx="9495000" cy="1215000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I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Content Placeholder 7">
                <a:extLst>
                  <a:ext uri="{FF2B5EF4-FFF2-40B4-BE49-F238E27FC236}">
                    <a16:creationId xmlns:a16="http://schemas.microsoft.com/office/drawing/2014/main" id="{EAA3E79F-EBE6-3F62-4001-58214B45F14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26000" y="3360286"/>
                <a:ext cx="10927800" cy="351000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775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b="1" dirty="0"/>
                  <a:t>Description of terms:</a:t>
                </a:r>
                <a:endParaRPr lang="en-IL" dirty="0"/>
              </a:p>
              <a:p>
                <a:pPr lvl="0"/>
                <a14:m>
                  <m:oMath xmlns:m="http://schemas.openxmlformats.org/officeDocument/2006/math">
                    <m:r>
                      <a:rPr lang="en-IL" i="1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IL">
                        <a:latin typeface="Cambria Math" panose="02040503050406030204" pitchFamily="18" charset="0"/>
                      </a:rPr>
                      <m:t>(</m:t>
                    </m:r>
                    <m:r>
                      <a:rPr lang="en-IL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IL">
                        <a:latin typeface="Cambria Math" panose="02040503050406030204" pitchFamily="18" charset="0"/>
                      </a:rPr>
                      <m:t>,</m:t>
                    </m:r>
                    <m:r>
                      <a:rPr lang="en-IL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IL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: out-of-plane displacement of the surface at spatial location </a:t>
                </a:r>
                <a14:m>
                  <m:oMath xmlns:m="http://schemas.openxmlformats.org/officeDocument/2006/math">
                    <m:r>
                      <a:rPr lang="en-IL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dirty="0"/>
                  <a:t> and time </a:t>
                </a:r>
                <a14:m>
                  <m:oMath xmlns:m="http://schemas.openxmlformats.org/officeDocument/2006/math">
                    <m:r>
                      <a:rPr lang="en-IL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dirty="0"/>
                  <a:t>.</a:t>
                </a:r>
                <a:endParaRPr lang="en-IL" dirty="0"/>
              </a:p>
              <a:p>
                <a:pPr lvl="0"/>
                <a14:m>
                  <m:oMath xmlns:m="http://schemas.openxmlformats.org/officeDocument/2006/math">
                    <m:r>
                      <a:rPr lang="en-IL" i="1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en-US" dirty="0"/>
                  <a:t>: areal mass density of the surface.</a:t>
                </a:r>
                <a:endParaRPr lang="en-IL" dirty="0"/>
              </a:p>
              <a:p>
                <a:pPr lvl="0"/>
                <a14:m>
                  <m:oMath xmlns:m="http://schemas.openxmlformats.org/officeDocument/2006/math">
                    <m:r>
                      <a:rPr lang="en-IL" i="1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IL">
                        <a:latin typeface="Cambria Math" panose="02040503050406030204" pitchFamily="18" charset="0"/>
                      </a:rPr>
                      <m:t>(</m:t>
                    </m:r>
                    <m:r>
                      <a:rPr lang="en-IL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IL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: spatially dependent damping coefficient.</a:t>
                </a:r>
                <a:endParaRPr lang="en-IL" dirty="0"/>
              </a:p>
              <a:p>
                <a:pPr lvl="0"/>
                <a14:m>
                  <m:oMath xmlns:m="http://schemas.openxmlformats.org/officeDocument/2006/math">
                    <m:r>
                      <a:rPr lang="en-IL" i="1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dirty="0"/>
                  <a:t>: in-plane tension of the surface, dominant for membranes.</a:t>
                </a:r>
                <a:endParaRPr lang="en-IL" dirty="0"/>
              </a:p>
              <a:p>
                <a:pPr lvl="0"/>
                <a14:m>
                  <m:oMath xmlns:m="http://schemas.openxmlformats.org/officeDocument/2006/math">
                    <m:r>
                      <a:rPr lang="en-IL" i="1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US" dirty="0"/>
                  <a:t>: flexural rigidity, dominant for thin plates.</a:t>
                </a:r>
                <a:endParaRPr lang="en-IL" dirty="0"/>
              </a:p>
              <a:p>
                <a:pPr lvl="0"/>
                <a14:m>
                  <m:oMath xmlns:m="http://schemas.openxmlformats.org/officeDocument/2006/math">
                    <m:sSup>
                      <m:sSupPr>
                        <m:ctrlPr>
                          <a:rPr lang="en-IL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IL">
                            <a:latin typeface="Cambria Math" panose="02040503050406030204" pitchFamily="18" charset="0"/>
                          </a:rPr>
                          <m:t>∇</m:t>
                        </m:r>
                      </m:e>
                      <m:sup>
                        <m:r>
                          <a:rPr lang="en-IL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IL" i="1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dirty="0"/>
                  <a:t>: Laplacian of the displacement, related to membrane-like wave behavior.</a:t>
                </a:r>
                <a:endParaRPr lang="en-IL" dirty="0"/>
              </a:p>
              <a:p>
                <a:pPr lvl="0"/>
                <a14:m>
                  <m:oMath xmlns:m="http://schemas.openxmlformats.org/officeDocument/2006/math">
                    <m:sSup>
                      <m:sSupPr>
                        <m:ctrlPr>
                          <a:rPr lang="en-IL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IL">
                            <a:latin typeface="Cambria Math" panose="02040503050406030204" pitchFamily="18" charset="0"/>
                          </a:rPr>
                          <m:t>∇</m:t>
                        </m:r>
                      </m:e>
                      <m:sup>
                        <m:r>
                          <a:rPr lang="en-IL" i="1"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en-IL" i="1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dirty="0"/>
                  <a:t>: biharmonic operator, related to the bending behavior of plates.</a:t>
                </a:r>
                <a:endParaRPr lang="en-IL" dirty="0"/>
              </a:p>
              <a:p>
                <a:pPr lvl="0"/>
                <a14:m>
                  <m:oMath xmlns:m="http://schemas.openxmlformats.org/officeDocument/2006/math">
                    <m:r>
                      <a:rPr lang="en-IL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IL">
                        <a:latin typeface="Cambria Math" panose="02040503050406030204" pitchFamily="18" charset="0"/>
                      </a:rPr>
                      <m:t>(</m:t>
                    </m:r>
                    <m:r>
                      <a:rPr lang="en-IL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IL">
                        <a:latin typeface="Cambria Math" panose="02040503050406030204" pitchFamily="18" charset="0"/>
                      </a:rPr>
                      <m:t>,</m:t>
                    </m:r>
                    <m:r>
                      <a:rPr lang="en-IL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IL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: external forcing per unit area, induced by acoustic pressure.</a:t>
                </a:r>
                <a:endParaRPr lang="en-IL" dirty="0"/>
              </a:p>
              <a:p>
                <a:endParaRPr lang="en-IL" dirty="0"/>
              </a:p>
            </p:txBody>
          </p:sp>
        </mc:Choice>
        <mc:Fallback xmlns="">
          <p:sp>
            <p:nvSpPr>
              <p:cNvPr id="9" name="Content Placeholder 7">
                <a:extLst>
                  <a:ext uri="{FF2B5EF4-FFF2-40B4-BE49-F238E27FC236}">
                    <a16:creationId xmlns:a16="http://schemas.microsoft.com/office/drawing/2014/main" id="{EAA3E79F-EBE6-3F62-4001-58214B45F1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000" y="3360286"/>
                <a:ext cx="10927800" cy="3510000"/>
              </a:xfrm>
              <a:prstGeom prst="rect">
                <a:avLst/>
              </a:prstGeom>
              <a:blipFill>
                <a:blip r:embed="rId3"/>
                <a:stretch>
                  <a:fillRect l="-669" t="-3472"/>
                </a:stretch>
              </a:blipFill>
            </p:spPr>
            <p:txBody>
              <a:bodyPr/>
              <a:lstStyle/>
              <a:p>
                <a:r>
                  <a:rPr lang="en-I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itle 1">
            <a:extLst>
              <a:ext uri="{FF2B5EF4-FFF2-40B4-BE49-F238E27FC236}">
                <a16:creationId xmlns:a16="http://schemas.microsoft.com/office/drawing/2014/main" id="{D51C7348-EEDF-55B6-1BF8-E9FAB76FAE85}"/>
              </a:ext>
            </a:extLst>
          </p:cNvPr>
          <p:cNvSpPr txBox="1">
            <a:spLocks/>
          </p:cNvSpPr>
          <p:nvPr/>
        </p:nvSpPr>
        <p:spPr>
          <a:xfrm>
            <a:off x="826486" y="1279182"/>
            <a:ext cx="10515600" cy="9488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200" dirty="0"/>
              <a:t>General wave equation:</a:t>
            </a:r>
            <a:endParaRPr lang="en-IL" sz="3200" dirty="0"/>
          </a:p>
        </p:txBody>
      </p:sp>
    </p:spTree>
    <p:extLst>
      <p:ext uri="{BB962C8B-B14F-4D97-AF65-F5344CB8AC3E}">
        <p14:creationId xmlns:p14="http://schemas.microsoft.com/office/powerpoint/2010/main" val="40999689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F77F4A9-7FA3-D67F-38E9-F2CC93F37D2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1468375"/>
              </a:xfrm>
            </p:spPr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IL" i="1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en-IL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IL" b="1" i="1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IL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IL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IL">
                          <a:latin typeface="Cambria Math" panose="02040503050406030204" pitchFamily="18" charset="0"/>
                        </a:rPr>
                        <m:t>)=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IL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IL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IL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IL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IL" i="1">
                              <a:latin typeface="Cambria Math" panose="02040503050406030204" pitchFamily="18" charset="0"/>
                            </a:rPr>
                            <m:t>𝐾</m:t>
                          </m:r>
                        </m:sup>
                        <m:e>
                          <m:sSub>
                            <m:sSubPr>
                              <m:ctrlPr>
                                <a:rPr lang="en-IL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IL" i="1">
                                  <a:latin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en-IL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nary>
                      <m:r>
                        <a:rPr lang="en-IL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IL" b="1" i="1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IL">
                          <a:latin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en-IL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L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IL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IL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IL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IL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IL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F77F4A9-7FA3-D67F-38E9-F2CC93F37D2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1468375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I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FD7312B0-891C-939D-FD0B-D28D85C3827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41000" y="3294000"/>
                <a:ext cx="10515600" cy="2233375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b="1" dirty="0"/>
                  <a:t>Description of terms:</a:t>
                </a:r>
                <a:endParaRPr lang="en-IL" dirty="0"/>
              </a:p>
              <a:p>
                <a:pPr lvl="0"/>
                <a14:m>
                  <m:oMath xmlns:m="http://schemas.openxmlformats.org/officeDocument/2006/math">
                    <m:sSub>
                      <m:sSubPr>
                        <m:ctrlPr>
                          <a:rPr lang="en-IL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L" i="1"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  <m:sub>
                        <m:r>
                          <a:rPr lang="en-IL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IL">
                        <a:latin typeface="Cambria Math" panose="02040503050406030204" pitchFamily="18" charset="0"/>
                      </a:rPr>
                      <m:t>(</m:t>
                    </m:r>
                    <m:r>
                      <a:rPr lang="en-IL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IL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: spatial eigenfunction, also called the </a:t>
                </a:r>
                <a14:m>
                  <m:oMath xmlns:m="http://schemas.openxmlformats.org/officeDocument/2006/math">
                    <m:r>
                      <a:rPr lang="en-IL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-</a:t>
                </a:r>
                <a:r>
                  <a:rPr lang="en-US" dirty="0" err="1"/>
                  <a:t>th</a:t>
                </a:r>
                <a:r>
                  <a:rPr lang="en-US" dirty="0"/>
                  <a:t> mode shape.</a:t>
                </a:r>
                <a:endParaRPr lang="en-IL" dirty="0"/>
              </a:p>
              <a:p>
                <a:pPr lvl="0"/>
                <a14:m>
                  <m:oMath xmlns:m="http://schemas.openxmlformats.org/officeDocument/2006/math">
                    <m:sSub>
                      <m:sSubPr>
                        <m:ctrlPr>
                          <a:rPr lang="en-IL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L" i="1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IL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IL">
                        <a:latin typeface="Cambria Math" panose="02040503050406030204" pitchFamily="18" charset="0"/>
                      </a:rPr>
                      <m:t>(</m:t>
                    </m:r>
                    <m:r>
                      <a:rPr lang="en-IL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IL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: temporal modal coordinate of the </a:t>
                </a:r>
                <a14:m>
                  <m:oMath xmlns:m="http://schemas.openxmlformats.org/officeDocument/2006/math">
                    <m:r>
                      <a:rPr lang="en-IL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-</a:t>
                </a:r>
                <a:r>
                  <a:rPr lang="en-US" dirty="0" err="1"/>
                  <a:t>th</a:t>
                </a:r>
                <a:r>
                  <a:rPr lang="en-US" dirty="0"/>
                  <a:t> mode.</a:t>
                </a:r>
                <a:endParaRPr lang="en-IL" dirty="0"/>
              </a:p>
              <a:p>
                <a:pPr lvl="0"/>
                <a14:m>
                  <m:oMath xmlns:m="http://schemas.openxmlformats.org/officeDocument/2006/math">
                    <m:r>
                      <a:rPr lang="en-IL" i="1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/>
                  <a:t>: number of modes used in the approximation.</a:t>
                </a:r>
                <a:endParaRPr lang="en-IL" dirty="0"/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FD7312B0-891C-939D-FD0B-D28D85C382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1000" y="3294000"/>
                <a:ext cx="10515600" cy="2233375"/>
              </a:xfrm>
              <a:prstGeom prst="rect">
                <a:avLst/>
              </a:prstGeom>
              <a:blipFill>
                <a:blip r:embed="rId3"/>
                <a:stretch>
                  <a:fillRect l="-1043" t="-4632"/>
                </a:stretch>
              </a:blipFill>
            </p:spPr>
            <p:txBody>
              <a:bodyPr/>
              <a:lstStyle/>
              <a:p>
                <a:r>
                  <a:rPr lang="en-I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itle 1">
            <a:extLst>
              <a:ext uri="{FF2B5EF4-FFF2-40B4-BE49-F238E27FC236}">
                <a16:creationId xmlns:a16="http://schemas.microsoft.com/office/drawing/2014/main" id="{58081E3C-A29B-EDFE-45D4-A12084D840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48875"/>
          </a:xfrm>
        </p:spPr>
        <p:txBody>
          <a:bodyPr/>
          <a:lstStyle/>
          <a:p>
            <a:r>
              <a:rPr lang="en-US" dirty="0"/>
              <a:t>Modal Decomposition</a:t>
            </a:r>
            <a:endParaRPr lang="en-IL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1DAE780C-C246-55EC-5C28-334B9DC08A4D}"/>
              </a:ext>
            </a:extLst>
          </p:cNvPr>
          <p:cNvSpPr txBox="1">
            <a:spLocks/>
          </p:cNvSpPr>
          <p:nvPr/>
        </p:nvSpPr>
        <p:spPr>
          <a:xfrm>
            <a:off x="838200" y="1095375"/>
            <a:ext cx="10515600" cy="9488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200" dirty="0"/>
              <a:t>Expansion into vibration modes</a:t>
            </a:r>
            <a:endParaRPr lang="en-IL" sz="3200" dirty="0"/>
          </a:p>
        </p:txBody>
      </p:sp>
    </p:spTree>
    <p:extLst>
      <p:ext uri="{BB962C8B-B14F-4D97-AF65-F5344CB8AC3E}">
        <p14:creationId xmlns:p14="http://schemas.microsoft.com/office/powerpoint/2010/main" val="20521513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C2169B-E647-5200-CC15-018A97C6F0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CC09C5-878D-A6A2-853C-CF381878BB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044000"/>
            <a:ext cx="10515600" cy="646688"/>
          </a:xfrm>
        </p:spPr>
        <p:txBody>
          <a:bodyPr>
            <a:normAutofit/>
          </a:bodyPr>
          <a:lstStyle/>
          <a:p>
            <a:r>
              <a:rPr lang="en-US" sz="3200" dirty="0"/>
              <a:t>Second-order modal oscillator:</a:t>
            </a:r>
            <a:endParaRPr lang="en-IL" sz="3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D6D7C16-C954-A941-6021-9DCD8C09F74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23829" y="1690688"/>
                <a:ext cx="10515600" cy="1063375"/>
              </a:xfrm>
            </p:spPr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IL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̈"/>
                              <m:ctrlPr>
                                <a:rPr lang="en-IL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IL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</m:acc>
                        </m:e>
                        <m:sub>
                          <m:r>
                            <a:rPr lang="en-IL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IL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IL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IL">
                          <a:latin typeface="Cambria Math" panose="02040503050406030204" pitchFamily="18" charset="0"/>
                        </a:rPr>
                        <m:t>)+</m:t>
                      </m:r>
                      <m:r>
                        <a:rPr lang="en-IL" i="1">
                          <a:latin typeface="Cambria Math" panose="02040503050406030204" pitchFamily="18" charset="0"/>
                        </a:rPr>
                        <m:t>2</m:t>
                      </m:r>
                      <m:sSub>
                        <m:sSubPr>
                          <m:ctrlPr>
                            <a:rPr lang="en-IL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L" i="1">
                              <a:latin typeface="Cambria Math" panose="02040503050406030204" pitchFamily="18" charset="0"/>
                            </a:rPr>
                            <m:t>𝜁</m:t>
                          </m:r>
                        </m:e>
                        <m:sub>
                          <m:r>
                            <a:rPr lang="en-IL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sSub>
                        <m:sSubPr>
                          <m:ctrlPr>
                            <a:rPr lang="en-IL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L" i="1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IL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sSub>
                        <m:sSubPr>
                          <m:ctrlPr>
                            <a:rPr lang="en-IL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̇"/>
                              <m:ctrlPr>
                                <a:rPr lang="en-IL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IL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</m:acc>
                        </m:e>
                        <m:sub>
                          <m:r>
                            <a:rPr lang="en-IL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IL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IL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IL">
                          <a:latin typeface="Cambria Math" panose="02040503050406030204" pitchFamily="18" charset="0"/>
                        </a:rPr>
                        <m:t>)+</m:t>
                      </m:r>
                      <m:sSubSup>
                        <m:sSubSupPr>
                          <m:ctrlPr>
                            <a:rPr lang="en-IL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IL" i="1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IL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  <m:sup>
                          <m:r>
                            <a:rPr lang="en-IL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sSub>
                        <m:sSubPr>
                          <m:ctrlPr>
                            <a:rPr lang="en-IL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L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IL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IL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IL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IL">
                          <a:latin typeface="Cambria Math" panose="02040503050406030204" pitchFamily="18" charset="0"/>
                        </a:rPr>
                        <m:t>)=</m:t>
                      </m:r>
                      <m:sSub>
                        <m:sSubPr>
                          <m:ctrlPr>
                            <a:rPr lang="en-IL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L" i="1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IL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IL" i="1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IL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IL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IL">
                          <a:latin typeface="Cambria Math" panose="02040503050406030204" pitchFamily="18" charset="0"/>
                        </a:rPr>
                        <m:t>)+</m:t>
                      </m:r>
                      <m:sSub>
                        <m:sSubPr>
                          <m:ctrlPr>
                            <a:rPr lang="en-IL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L" i="1">
                              <a:latin typeface="Cambria Math" panose="02040503050406030204" pitchFamily="18" charset="0"/>
                            </a:rPr>
                            <m:t>𝜂</m:t>
                          </m:r>
                        </m:e>
                        <m:sub>
                          <m:r>
                            <a:rPr lang="en-IL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IL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IL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IL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IL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D6D7C16-C954-A941-6021-9DCD8C09F74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23829" y="1690688"/>
                <a:ext cx="10515600" cy="1063375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I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2082ED3D-1D4C-9ADB-AC6A-B2D19FACDD9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41000" y="2439000"/>
                <a:ext cx="10515600" cy="414000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92500"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b="1" dirty="0"/>
                  <a:t>Description of terms:</a:t>
                </a:r>
                <a:endParaRPr lang="en-IL" dirty="0"/>
              </a:p>
              <a:p>
                <a:pPr lvl="0"/>
                <a14:m>
                  <m:oMath xmlns:m="http://schemas.openxmlformats.org/officeDocument/2006/math">
                    <m:sSub>
                      <m:sSubPr>
                        <m:ctrlPr>
                          <a:rPr lang="en-IL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L" i="1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IL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IL">
                        <a:latin typeface="Cambria Math" panose="02040503050406030204" pitchFamily="18" charset="0"/>
                      </a:rPr>
                      <m:t>(</m:t>
                    </m:r>
                    <m:r>
                      <a:rPr lang="en-IL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IL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: temporal activation of the </a:t>
                </a:r>
                <a14:m>
                  <m:oMath xmlns:m="http://schemas.openxmlformats.org/officeDocument/2006/math">
                    <m:r>
                      <a:rPr lang="en-IL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-</a:t>
                </a:r>
                <a:r>
                  <a:rPr lang="en-US" dirty="0" err="1"/>
                  <a:t>th</a:t>
                </a:r>
                <a:r>
                  <a:rPr lang="en-US" dirty="0"/>
                  <a:t> mode.</a:t>
                </a:r>
                <a:endParaRPr lang="en-IL" dirty="0"/>
              </a:p>
              <a:p>
                <a:pPr lvl="0"/>
                <a14:m>
                  <m:oMath xmlns:m="http://schemas.openxmlformats.org/officeDocument/2006/math">
                    <m:sSub>
                      <m:sSubPr>
                        <m:ctrlPr>
                          <a:rPr lang="en-IL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̇"/>
                            <m:ctrlPr>
                              <a:rPr lang="en-IL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IL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</m:acc>
                      </m:e>
                      <m:sub>
                        <m:r>
                          <a:rPr lang="en-IL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IL">
                        <a:latin typeface="Cambria Math" panose="02040503050406030204" pitchFamily="18" charset="0"/>
                      </a:rPr>
                      <m:t>(</m:t>
                    </m:r>
                    <m:r>
                      <a:rPr lang="en-IL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IL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: first temporal derivative, modal velocity.</a:t>
                </a:r>
                <a:endParaRPr lang="en-IL" dirty="0"/>
              </a:p>
              <a:p>
                <a:pPr lvl="0"/>
                <a14:m>
                  <m:oMath xmlns:m="http://schemas.openxmlformats.org/officeDocument/2006/math">
                    <m:sSub>
                      <m:sSubPr>
                        <m:ctrlPr>
                          <a:rPr lang="en-IL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̈"/>
                            <m:ctrlPr>
                              <a:rPr lang="en-IL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IL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</m:acc>
                      </m:e>
                      <m:sub>
                        <m:r>
                          <a:rPr lang="en-IL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IL">
                        <a:latin typeface="Cambria Math" panose="02040503050406030204" pitchFamily="18" charset="0"/>
                      </a:rPr>
                      <m:t>(</m:t>
                    </m:r>
                    <m:r>
                      <a:rPr lang="en-IL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IL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: second temporal derivative, modal acceleration.</a:t>
                </a:r>
                <a:endParaRPr lang="en-IL" dirty="0"/>
              </a:p>
              <a:p>
                <a:pPr lvl="0"/>
                <a14:m>
                  <m:oMath xmlns:m="http://schemas.openxmlformats.org/officeDocument/2006/math">
                    <m:sSub>
                      <m:sSubPr>
                        <m:ctrlPr>
                          <a:rPr lang="en-IL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L" i="1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en-IL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dirty="0"/>
                  <a:t>: natural angular frequency of the </a:t>
                </a:r>
                <a14:m>
                  <m:oMath xmlns:m="http://schemas.openxmlformats.org/officeDocument/2006/math">
                    <m:r>
                      <a:rPr lang="en-IL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-</a:t>
                </a:r>
                <a:r>
                  <a:rPr lang="en-US" dirty="0" err="1"/>
                  <a:t>th</a:t>
                </a:r>
                <a:r>
                  <a:rPr lang="en-US" dirty="0"/>
                  <a:t> mode.</a:t>
                </a:r>
                <a:endParaRPr lang="en-IL" dirty="0"/>
              </a:p>
              <a:p>
                <a:pPr lvl="0"/>
                <a14:m>
                  <m:oMath xmlns:m="http://schemas.openxmlformats.org/officeDocument/2006/math">
                    <m:sSub>
                      <m:sSubPr>
                        <m:ctrlPr>
                          <a:rPr lang="en-IL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L" i="1">
                            <a:latin typeface="Cambria Math" panose="02040503050406030204" pitchFamily="18" charset="0"/>
                          </a:rPr>
                          <m:t>𝜁</m:t>
                        </m:r>
                      </m:e>
                      <m:sub>
                        <m:r>
                          <a:rPr lang="en-IL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dirty="0"/>
                  <a:t>: damping ratio of the </a:t>
                </a:r>
                <a14:m>
                  <m:oMath xmlns:m="http://schemas.openxmlformats.org/officeDocument/2006/math">
                    <m:r>
                      <a:rPr lang="en-IL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-</a:t>
                </a:r>
                <a:r>
                  <a:rPr lang="en-US" dirty="0" err="1"/>
                  <a:t>th</a:t>
                </a:r>
                <a:r>
                  <a:rPr lang="en-US" dirty="0"/>
                  <a:t> mode.</a:t>
                </a:r>
                <a:endParaRPr lang="en-IL" dirty="0"/>
              </a:p>
              <a:p>
                <a:pPr lvl="0"/>
                <a14:m>
                  <m:oMath xmlns:m="http://schemas.openxmlformats.org/officeDocument/2006/math">
                    <m:sSub>
                      <m:sSubPr>
                        <m:ctrlPr>
                          <a:rPr lang="en-IL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L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IL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dirty="0"/>
                  <a:t>: coupling coefficient between acoustic pressure and the </a:t>
                </a:r>
                <a14:m>
                  <m:oMath xmlns:m="http://schemas.openxmlformats.org/officeDocument/2006/math">
                    <m:r>
                      <a:rPr lang="en-IL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-</a:t>
                </a:r>
                <a:r>
                  <a:rPr lang="en-US" dirty="0" err="1"/>
                  <a:t>th</a:t>
                </a:r>
                <a:r>
                  <a:rPr lang="en-US" dirty="0"/>
                  <a:t> mode.</a:t>
                </a:r>
                <a:endParaRPr lang="en-IL" dirty="0"/>
              </a:p>
              <a:p>
                <a:pPr lvl="0"/>
                <a14:m>
                  <m:oMath xmlns:m="http://schemas.openxmlformats.org/officeDocument/2006/math">
                    <m:r>
                      <a:rPr lang="en-IL" i="1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IL">
                        <a:latin typeface="Cambria Math" panose="02040503050406030204" pitchFamily="18" charset="0"/>
                      </a:rPr>
                      <m:t>(</m:t>
                    </m:r>
                    <m:r>
                      <a:rPr lang="en-IL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IL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: acoustic pressure signal driving the surface.</a:t>
                </a:r>
                <a:endParaRPr lang="en-IL" dirty="0"/>
              </a:p>
              <a:p>
                <a:pPr lvl="0"/>
                <a14:m>
                  <m:oMath xmlns:m="http://schemas.openxmlformats.org/officeDocument/2006/math">
                    <m:sSub>
                      <m:sSubPr>
                        <m:ctrlPr>
                          <a:rPr lang="en-IL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L" i="1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a:rPr lang="en-IL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IL">
                        <a:latin typeface="Cambria Math" panose="02040503050406030204" pitchFamily="18" charset="0"/>
                      </a:rPr>
                      <m:t>(</m:t>
                    </m:r>
                    <m:r>
                      <a:rPr lang="en-IL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IL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: noise or modeling error for the </a:t>
                </a:r>
                <a14:m>
                  <m:oMath xmlns:m="http://schemas.openxmlformats.org/officeDocument/2006/math">
                    <m:r>
                      <a:rPr lang="en-IL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-</a:t>
                </a:r>
                <a:r>
                  <a:rPr lang="en-US" dirty="0" err="1"/>
                  <a:t>th</a:t>
                </a:r>
                <a:r>
                  <a:rPr lang="en-US" dirty="0"/>
                  <a:t> mode.</a:t>
                </a:r>
                <a:endParaRPr lang="en-IL" dirty="0"/>
              </a:p>
              <a:p>
                <a:endParaRPr lang="en-IL" dirty="0"/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2082ED3D-1D4C-9ADB-AC6A-B2D19FACDD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1000" y="2439000"/>
                <a:ext cx="10515600" cy="4140000"/>
              </a:xfrm>
              <a:prstGeom prst="rect">
                <a:avLst/>
              </a:prstGeom>
              <a:blipFill>
                <a:blip r:embed="rId3"/>
                <a:stretch>
                  <a:fillRect l="-1043" t="-2946" r="-464"/>
                </a:stretch>
              </a:blipFill>
            </p:spPr>
            <p:txBody>
              <a:bodyPr/>
              <a:lstStyle/>
              <a:p>
                <a:r>
                  <a:rPr lang="en-I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itle 1">
            <a:extLst>
              <a:ext uri="{FF2B5EF4-FFF2-40B4-BE49-F238E27FC236}">
                <a16:creationId xmlns:a16="http://schemas.microsoft.com/office/drawing/2014/main" id="{D9611555-63A5-100B-6041-9141ABB89496}"/>
              </a:ext>
            </a:extLst>
          </p:cNvPr>
          <p:cNvSpPr txBox="1">
            <a:spLocks/>
          </p:cNvSpPr>
          <p:nvPr/>
        </p:nvSpPr>
        <p:spPr>
          <a:xfrm>
            <a:off x="741000" y="195407"/>
            <a:ext cx="10515600" cy="9488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Modal Decomposition</a:t>
            </a:r>
            <a:endParaRPr lang="en-IL" dirty="0"/>
          </a:p>
        </p:txBody>
      </p:sp>
    </p:spTree>
    <p:extLst>
      <p:ext uri="{BB962C8B-B14F-4D97-AF65-F5344CB8AC3E}">
        <p14:creationId xmlns:p14="http://schemas.microsoft.com/office/powerpoint/2010/main" val="39853087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C2169B-E647-5200-CC15-018A97C6F0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CC09C5-878D-A6A2-853C-CF381878BB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044000"/>
            <a:ext cx="10515600" cy="646688"/>
          </a:xfrm>
        </p:spPr>
        <p:txBody>
          <a:bodyPr>
            <a:normAutofit/>
          </a:bodyPr>
          <a:lstStyle/>
          <a:p>
            <a:r>
              <a:rPr lang="en-US" sz="3200" dirty="0"/>
              <a:t>Modal response in the frequency domain:</a:t>
            </a:r>
            <a:endParaRPr lang="en-IL" sz="3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D6D7C16-C954-A941-6021-9DCD8C09F74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23829" y="1690688"/>
                <a:ext cx="10515600" cy="646689"/>
              </a:xfrm>
            </p:spPr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IL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L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IL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IL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IL" i="1">
                          <a:latin typeface="Cambria Math" panose="02040503050406030204" pitchFamily="18" charset="0"/>
                        </a:rPr>
                        <m:t>𝜔</m:t>
                      </m:r>
                      <m:r>
                        <a:rPr lang="en-IL">
                          <a:latin typeface="Cambria Math" panose="02040503050406030204" pitchFamily="18" charset="0"/>
                        </a:rPr>
                        <m:t>)=</m:t>
                      </m:r>
                      <m:sSub>
                        <m:sSubPr>
                          <m:ctrlPr>
                            <a:rPr lang="en-IL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L" i="1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IL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IL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IL" i="1">
                          <a:latin typeface="Cambria Math" panose="02040503050406030204" pitchFamily="18" charset="0"/>
                        </a:rPr>
                        <m:t>𝜔</m:t>
                      </m:r>
                      <m:r>
                        <a:rPr lang="en-IL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IL" i="1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IL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IL" i="1">
                          <a:latin typeface="Cambria Math" panose="02040503050406030204" pitchFamily="18" charset="0"/>
                        </a:rPr>
                        <m:t>𝜔</m:t>
                      </m:r>
                      <m:r>
                        <a:rPr lang="en-IL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IL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D6D7C16-C954-A941-6021-9DCD8C09F74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23829" y="1690688"/>
                <a:ext cx="10515600" cy="646689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I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2082ED3D-1D4C-9ADB-AC6A-B2D19FACDD9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41000" y="2439000"/>
                <a:ext cx="10515600" cy="414000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b="1" dirty="0"/>
                  <a:t>Description of terms:</a:t>
                </a:r>
                <a:endParaRPr lang="en-IL" dirty="0"/>
              </a:p>
              <a:p>
                <a:pPr lvl="0"/>
                <a14:m>
                  <m:oMath xmlns:m="http://schemas.openxmlformats.org/officeDocument/2006/math">
                    <m:sSub>
                      <m:sSubPr>
                        <m:ctrlPr>
                          <a:rPr lang="en-IL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L" i="1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IL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IL">
                        <a:latin typeface="Cambria Math" panose="02040503050406030204" pitchFamily="18" charset="0"/>
                      </a:rPr>
                      <m:t>(</m:t>
                    </m:r>
                    <m:r>
                      <a:rPr lang="en-IL" i="1">
                        <a:latin typeface="Cambria Math" panose="02040503050406030204" pitchFamily="18" charset="0"/>
                      </a:rPr>
                      <m:t>𝜔</m:t>
                    </m:r>
                    <m:r>
                      <a:rPr lang="en-IL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: Fourier transform of the modal coordinate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IL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L" i="1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IL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IL">
                        <a:latin typeface="Cambria Math" panose="02040503050406030204" pitchFamily="18" charset="0"/>
                      </a:rPr>
                      <m:t>(</m:t>
                    </m:r>
                    <m:r>
                      <a:rPr lang="en-IL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IL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</a:t>
                </a:r>
                <a:endParaRPr lang="en-IL" dirty="0"/>
              </a:p>
              <a:p>
                <a:pPr lvl="0"/>
                <a14:m>
                  <m:oMath xmlns:m="http://schemas.openxmlformats.org/officeDocument/2006/math">
                    <m:r>
                      <a:rPr lang="en-IL" i="1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IL">
                        <a:latin typeface="Cambria Math" panose="02040503050406030204" pitchFamily="18" charset="0"/>
                      </a:rPr>
                      <m:t>(</m:t>
                    </m:r>
                    <m:r>
                      <a:rPr lang="en-IL" i="1">
                        <a:latin typeface="Cambria Math" panose="02040503050406030204" pitchFamily="18" charset="0"/>
                      </a:rPr>
                      <m:t>𝜔</m:t>
                    </m:r>
                    <m:r>
                      <a:rPr lang="en-IL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: Fourier transform of the acoustic pressure </a:t>
                </a:r>
                <a14:m>
                  <m:oMath xmlns:m="http://schemas.openxmlformats.org/officeDocument/2006/math">
                    <m:r>
                      <a:rPr lang="en-IL" i="1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IL">
                        <a:latin typeface="Cambria Math" panose="02040503050406030204" pitchFamily="18" charset="0"/>
                      </a:rPr>
                      <m:t>(</m:t>
                    </m:r>
                    <m:r>
                      <a:rPr lang="en-IL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IL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</a:t>
                </a:r>
                <a:endParaRPr lang="en-IL" dirty="0"/>
              </a:p>
              <a:p>
                <a:pPr lvl="0"/>
                <a14:m>
                  <m:oMath xmlns:m="http://schemas.openxmlformats.org/officeDocument/2006/math">
                    <m:sSub>
                      <m:sSubPr>
                        <m:ctrlPr>
                          <a:rPr lang="en-IL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L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IL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IL">
                        <a:latin typeface="Cambria Math" panose="02040503050406030204" pitchFamily="18" charset="0"/>
                      </a:rPr>
                      <m:t>(</m:t>
                    </m:r>
                    <m:r>
                      <a:rPr lang="en-IL" i="1">
                        <a:latin typeface="Cambria Math" panose="02040503050406030204" pitchFamily="18" charset="0"/>
                      </a:rPr>
                      <m:t>𝜔</m:t>
                    </m:r>
                    <m:r>
                      <a:rPr lang="en-IL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: Transfer function of the </a:t>
                </a:r>
                <a14:m>
                  <m:oMath xmlns:m="http://schemas.openxmlformats.org/officeDocument/2006/math">
                    <m:r>
                      <a:rPr lang="en-IL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-</a:t>
                </a:r>
                <a:r>
                  <a:rPr lang="en-US" dirty="0" err="1"/>
                  <a:t>th</a:t>
                </a:r>
                <a:r>
                  <a:rPr lang="en-US" dirty="0"/>
                  <a:t> vibration mode.</a:t>
                </a:r>
                <a:endParaRPr lang="en-IL" dirty="0"/>
              </a:p>
              <a:p>
                <a:pPr lvl="0"/>
                <a14:m>
                  <m:oMath xmlns:m="http://schemas.openxmlformats.org/officeDocument/2006/math">
                    <m:r>
                      <a:rPr lang="en-IL" i="1">
                        <a:latin typeface="Cambria Math" panose="02040503050406030204" pitchFamily="18" charset="0"/>
                      </a:rPr>
                      <m:t>𝜔</m:t>
                    </m:r>
                  </m:oMath>
                </a14:m>
                <a:r>
                  <a:rPr lang="en-US" dirty="0"/>
                  <a:t>: Angular frequency.</a:t>
                </a:r>
                <a:endParaRPr lang="en-IL" dirty="0"/>
              </a:p>
              <a:p>
                <a:endParaRPr lang="en-IL" dirty="0"/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2082ED3D-1D4C-9ADB-AC6A-B2D19FACDD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1000" y="2439000"/>
                <a:ext cx="10515600" cy="4140000"/>
              </a:xfrm>
              <a:prstGeom prst="rect">
                <a:avLst/>
              </a:prstGeom>
              <a:blipFill>
                <a:blip r:embed="rId3"/>
                <a:stretch>
                  <a:fillRect l="-1217" t="-2504"/>
                </a:stretch>
              </a:blipFill>
            </p:spPr>
            <p:txBody>
              <a:bodyPr/>
              <a:lstStyle/>
              <a:p>
                <a:r>
                  <a:rPr lang="en-I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itle 1">
            <a:extLst>
              <a:ext uri="{FF2B5EF4-FFF2-40B4-BE49-F238E27FC236}">
                <a16:creationId xmlns:a16="http://schemas.microsoft.com/office/drawing/2014/main" id="{D9611555-63A5-100B-6041-9141ABB89496}"/>
              </a:ext>
            </a:extLst>
          </p:cNvPr>
          <p:cNvSpPr txBox="1">
            <a:spLocks/>
          </p:cNvSpPr>
          <p:nvPr/>
        </p:nvSpPr>
        <p:spPr>
          <a:xfrm>
            <a:off x="741000" y="195407"/>
            <a:ext cx="10515600" cy="9488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Frequency-Domain Modal Transfer Function</a:t>
            </a:r>
            <a:endParaRPr lang="en-IL" dirty="0"/>
          </a:p>
        </p:txBody>
      </p:sp>
    </p:spTree>
    <p:extLst>
      <p:ext uri="{BB962C8B-B14F-4D97-AF65-F5344CB8AC3E}">
        <p14:creationId xmlns:p14="http://schemas.microsoft.com/office/powerpoint/2010/main" val="30242740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C2169B-E647-5200-CC15-018A97C6F0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CC09C5-878D-A6A2-853C-CF381878BB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58581"/>
            <a:ext cx="10515600" cy="646688"/>
          </a:xfrm>
        </p:spPr>
        <p:txBody>
          <a:bodyPr>
            <a:normAutofit/>
          </a:bodyPr>
          <a:lstStyle/>
          <a:p>
            <a:r>
              <a:rPr lang="en-US" sz="3200" dirty="0"/>
              <a:t>Second-order oscillator transfer function:</a:t>
            </a:r>
            <a:endParaRPr lang="en-IL" sz="3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D6D7C16-C954-A941-6021-9DCD8C09F74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51000" y="884063"/>
                <a:ext cx="10515600" cy="1018312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IL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L" i="1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IL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IL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IL" i="1">
                          <a:latin typeface="Cambria Math" panose="02040503050406030204" pitchFamily="18" charset="0"/>
                        </a:rPr>
                        <m:t>𝜔</m:t>
                      </m:r>
                      <m:r>
                        <a:rPr lang="en-IL"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en-IL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IL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IL" i="1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IL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num>
                        <m:den>
                          <m:r>
                            <a:rPr lang="en-IL">
                              <a:latin typeface="Cambria Math" panose="020405030504060302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en-IL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IL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p>
                              <m:r>
                                <a:rPr lang="en-IL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IL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IL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IL" i="1">
                              <a:latin typeface="Cambria Math" panose="02040503050406030204" pitchFamily="18" charset="0"/>
                            </a:rPr>
                            <m:t>2</m:t>
                          </m:r>
                          <m:sSub>
                            <m:sSubPr>
                              <m:ctrlPr>
                                <a:rPr lang="en-IL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IL" i="1">
                                  <a:latin typeface="Cambria Math" panose="02040503050406030204" pitchFamily="18" charset="0"/>
                                </a:rPr>
                                <m:t>𝜁</m:t>
                              </m:r>
                            </m:e>
                            <m:sub>
                              <m:r>
                                <a:rPr lang="en-IL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IL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IL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IL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IL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en-IL"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en-IL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IL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IL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IL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en-IL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D6D7C16-C954-A941-6021-9DCD8C09F74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51000" y="884063"/>
                <a:ext cx="10515600" cy="1018312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I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2082ED3D-1D4C-9ADB-AC6A-B2D19FACDD9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44600" y="1890337"/>
                <a:ext cx="10515600" cy="414000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b="1" dirty="0"/>
                  <a:t>Description of terms:</a:t>
                </a:r>
                <a:endParaRPr lang="en-IL" dirty="0"/>
              </a:p>
              <a:p>
                <a:pPr lvl="1"/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</a:rPr>
                      <m:t>	</m:t>
                    </m:r>
                    <m:sSub>
                      <m:sSubPr>
                        <m:ctrlPr>
                          <a:rPr lang="en-IL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L" sz="2800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IL" sz="2800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IL" sz="2800">
                        <a:latin typeface="Cambria Math" panose="02040503050406030204" pitchFamily="18" charset="0"/>
                      </a:rPr>
                      <m:t>(</m:t>
                    </m:r>
                    <m:r>
                      <a:rPr lang="en-IL" sz="2800" i="1">
                        <a:latin typeface="Cambria Math" panose="02040503050406030204" pitchFamily="18" charset="0"/>
                      </a:rPr>
                      <m:t>𝜔</m:t>
                    </m:r>
                    <m:r>
                      <a:rPr lang="en-IL" sz="2800">
                        <a:latin typeface="Cambria Math" panose="02040503050406030204" pitchFamily="18" charset="0"/>
                      </a:rPr>
                      <m:t>)</m:t>
                    </m:r>
                    <m:r>
                      <m:rPr>
                        <m:nor/>
                      </m:rPr>
                      <a:rPr lang="en-US" sz="2800"/>
                      <m:t>: </m:t>
                    </m:r>
                    <m:r>
                      <m:rPr>
                        <m:nor/>
                      </m:rPr>
                      <a:rPr lang="en-US" sz="2800"/>
                      <m:t>frequency</m:t>
                    </m:r>
                    <m:r>
                      <m:rPr>
                        <m:nor/>
                      </m:rPr>
                      <a:rPr lang="en-US" sz="2800"/>
                      <m:t> </m:t>
                    </m:r>
                    <m:r>
                      <m:rPr>
                        <m:nor/>
                      </m:rPr>
                      <a:rPr lang="en-US" sz="2800"/>
                      <m:t>response</m:t>
                    </m:r>
                    <m:r>
                      <m:rPr>
                        <m:nor/>
                      </m:rPr>
                      <a:rPr lang="en-US" sz="2800"/>
                      <m:t> </m:t>
                    </m:r>
                    <m:r>
                      <m:rPr>
                        <m:nor/>
                      </m:rPr>
                      <a:rPr lang="en-US" sz="2800"/>
                      <m:t>of</m:t>
                    </m:r>
                    <m:r>
                      <m:rPr>
                        <m:nor/>
                      </m:rPr>
                      <a:rPr lang="en-US" sz="2800"/>
                      <m:t> </m:t>
                    </m:r>
                    <m:r>
                      <m:rPr>
                        <m:nor/>
                      </m:rPr>
                      <a:rPr lang="en-US" sz="2800"/>
                      <m:t>the</m:t>
                    </m:r>
                    <m:r>
                      <m:rPr>
                        <m:nor/>
                      </m:rPr>
                      <a:rPr lang="en-US" sz="2800"/>
                      <m:t> </m:t>
                    </m:r>
                    <m:r>
                      <a:rPr lang="en-IL" sz="2800" i="1">
                        <a:latin typeface="Cambria Math" panose="02040503050406030204" pitchFamily="18" charset="0"/>
                      </a:rPr>
                      <m:t>𝑘</m:t>
                    </m:r>
                    <m:r>
                      <m:rPr>
                        <m:nor/>
                      </m:rPr>
                      <a:rPr lang="en-US" sz="2800"/>
                      <m:t>−</m:t>
                    </m:r>
                    <m:r>
                      <m:rPr>
                        <m:nor/>
                      </m:rPr>
                      <a:rPr lang="en-US" sz="2800"/>
                      <m:t>th</m:t>
                    </m:r>
                    <m:r>
                      <m:rPr>
                        <m:nor/>
                      </m:rPr>
                      <a:rPr lang="en-US" sz="2800"/>
                      <m:t> </m:t>
                    </m:r>
                    <m:r>
                      <m:rPr>
                        <m:nor/>
                      </m:rPr>
                      <a:rPr lang="en-US" sz="2800"/>
                      <m:t>mode</m:t>
                    </m:r>
                    <m:r>
                      <m:rPr>
                        <m:nor/>
                      </m:rPr>
                      <a:rPr lang="en-US" sz="2800"/>
                      <m:t>.</m:t>
                    </m:r>
                  </m:oMath>
                </a14:m>
                <a:endParaRPr lang="en-IL" sz="2800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IL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L" sz="2800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IL" sz="2800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m:rPr>
                        <m:nor/>
                      </m:rPr>
                      <a:rPr lang="en-US" sz="2800"/>
                      <m:t>: </m:t>
                    </m:r>
                    <m:r>
                      <m:rPr>
                        <m:nor/>
                      </m:rPr>
                      <a:rPr lang="en-US" sz="2800"/>
                      <m:t>modal</m:t>
                    </m:r>
                    <m:r>
                      <m:rPr>
                        <m:nor/>
                      </m:rPr>
                      <a:rPr lang="en-US" sz="2800"/>
                      <m:t> </m:t>
                    </m:r>
                    <m:r>
                      <m:rPr>
                        <m:nor/>
                      </m:rPr>
                      <a:rPr lang="en-US" sz="2800"/>
                      <m:t>coupling</m:t>
                    </m:r>
                    <m:r>
                      <m:rPr>
                        <m:nor/>
                      </m:rPr>
                      <a:rPr lang="en-US" sz="2800"/>
                      <m:t> </m:t>
                    </m:r>
                    <m:r>
                      <m:rPr>
                        <m:nor/>
                      </m:rPr>
                      <a:rPr lang="en-US" sz="2800"/>
                      <m:t>coefficient</m:t>
                    </m:r>
                    <m:r>
                      <m:rPr>
                        <m:nor/>
                      </m:rPr>
                      <a:rPr lang="en-US" sz="2800"/>
                      <m:t>.</m:t>
                    </m:r>
                  </m:oMath>
                </a14:m>
                <a:endParaRPr lang="en-IL" sz="2800" dirty="0"/>
              </a:p>
              <a:p>
                <a:pPr lvl="1"/>
                <a14:m>
                  <m:oMath xmlns:m="http://schemas.openxmlformats.org/officeDocument/2006/math">
                    <m:r>
                      <a:rPr lang="en-IL" sz="2800" i="1">
                        <a:latin typeface="Cambria Math" panose="02040503050406030204" pitchFamily="18" charset="0"/>
                      </a:rPr>
                      <m:t>𝑗</m:t>
                    </m:r>
                    <m:r>
                      <m:rPr>
                        <m:nor/>
                      </m:rPr>
                      <a:rPr lang="en-US" sz="2800"/>
                      <m:t>: </m:t>
                    </m:r>
                    <m:r>
                      <m:rPr>
                        <m:nor/>
                      </m:rPr>
                      <a:rPr lang="en-US" sz="2800"/>
                      <m:t>imaginary</m:t>
                    </m:r>
                    <m:r>
                      <m:rPr>
                        <m:nor/>
                      </m:rPr>
                      <a:rPr lang="en-US" sz="2800"/>
                      <m:t> </m:t>
                    </m:r>
                    <m:r>
                      <m:rPr>
                        <m:nor/>
                      </m:rPr>
                      <a:rPr lang="en-US" sz="2800"/>
                      <m:t>unit</m:t>
                    </m:r>
                    <m:r>
                      <m:rPr>
                        <m:nor/>
                      </m:rPr>
                      <a:rPr lang="en-US" sz="2800"/>
                      <m:t>.</m:t>
                    </m:r>
                  </m:oMath>
                </a14:m>
                <a:endParaRPr lang="en-IL" sz="2800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IL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L" sz="2800" i="1">
                            <a:latin typeface="Cambria Math" panose="02040503050406030204" pitchFamily="18" charset="0"/>
                          </a:rPr>
                          <m:t>𝜁</m:t>
                        </m:r>
                      </m:e>
                      <m:sub>
                        <m:r>
                          <a:rPr lang="en-IL" sz="2800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m:rPr>
                        <m:nor/>
                      </m:rPr>
                      <a:rPr lang="en-US" sz="2800"/>
                      <m:t>: </m:t>
                    </m:r>
                    <m:r>
                      <m:rPr>
                        <m:nor/>
                      </m:rPr>
                      <a:rPr lang="en-US" sz="2800"/>
                      <m:t>damping</m:t>
                    </m:r>
                    <m:r>
                      <m:rPr>
                        <m:nor/>
                      </m:rPr>
                      <a:rPr lang="en-US" sz="2800"/>
                      <m:t> </m:t>
                    </m:r>
                    <m:r>
                      <m:rPr>
                        <m:nor/>
                      </m:rPr>
                      <a:rPr lang="en-US" sz="2800"/>
                      <m:t>ratio</m:t>
                    </m:r>
                    <m:r>
                      <m:rPr>
                        <m:nor/>
                      </m:rPr>
                      <a:rPr lang="en-US" sz="2800"/>
                      <m:t>.</m:t>
                    </m:r>
                  </m:oMath>
                </a14:m>
                <a:endParaRPr lang="en-IL" sz="2800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IL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L" sz="2800" i="1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en-IL" sz="2800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m:rPr>
                        <m:nor/>
                      </m:rPr>
                      <a:rPr lang="en-US" sz="2800"/>
                      <m:t>: </m:t>
                    </m:r>
                    <m:r>
                      <m:rPr>
                        <m:nor/>
                      </m:rPr>
                      <a:rPr lang="en-US" sz="2800"/>
                      <m:t>natural</m:t>
                    </m:r>
                    <m:r>
                      <m:rPr>
                        <m:nor/>
                      </m:rPr>
                      <a:rPr lang="en-US" sz="2800"/>
                      <m:t> </m:t>
                    </m:r>
                    <m:r>
                      <m:rPr>
                        <m:nor/>
                      </m:rPr>
                      <a:rPr lang="en-US" sz="2800"/>
                      <m:t>angular</m:t>
                    </m:r>
                    <m:r>
                      <m:rPr>
                        <m:nor/>
                      </m:rPr>
                      <a:rPr lang="en-US" sz="2800"/>
                      <m:t> </m:t>
                    </m:r>
                    <m:r>
                      <m:rPr>
                        <m:nor/>
                      </m:rPr>
                      <a:rPr lang="en-US" sz="2800"/>
                      <m:t>frequency</m:t>
                    </m:r>
                    <m:r>
                      <m:rPr>
                        <m:nor/>
                      </m:rPr>
                      <a:rPr lang="en-US" sz="2800"/>
                      <m:t> </m:t>
                    </m:r>
                    <m:r>
                      <m:rPr>
                        <m:nor/>
                      </m:rPr>
                      <a:rPr lang="en-US" sz="2800"/>
                      <m:t>of</m:t>
                    </m:r>
                    <m:r>
                      <m:rPr>
                        <m:nor/>
                      </m:rPr>
                      <a:rPr lang="en-US" sz="2800"/>
                      <m:t> </m:t>
                    </m:r>
                    <m:r>
                      <m:rPr>
                        <m:nor/>
                      </m:rPr>
                      <a:rPr lang="en-US" sz="2800"/>
                      <m:t>the</m:t>
                    </m:r>
                    <m:r>
                      <m:rPr>
                        <m:nor/>
                      </m:rPr>
                      <a:rPr lang="en-US" sz="2800"/>
                      <m:t> </m:t>
                    </m:r>
                    <m:r>
                      <m:rPr>
                        <m:nor/>
                      </m:rPr>
                      <a:rPr lang="en-US" sz="2800"/>
                      <m:t>mode</m:t>
                    </m:r>
                    <m:r>
                      <m:rPr>
                        <m:nor/>
                      </m:rPr>
                      <a:rPr lang="en-US" sz="2800"/>
                      <m:t>.</m:t>
                    </m:r>
                  </m:oMath>
                </a14:m>
                <a:endParaRPr lang="en-IL" sz="2800" dirty="0"/>
              </a:p>
              <a:p>
                <a:pPr lvl="1"/>
                <a14:m>
                  <m:oMath xmlns:m="http://schemas.openxmlformats.org/officeDocument/2006/math">
                    <m:r>
                      <a:rPr lang="en-IL" sz="2800" i="1">
                        <a:latin typeface="Cambria Math" panose="02040503050406030204" pitchFamily="18" charset="0"/>
                      </a:rPr>
                      <m:t>𝜔</m:t>
                    </m:r>
                    <m:r>
                      <m:rPr>
                        <m:nor/>
                      </m:rPr>
                      <a:rPr lang="en-US" sz="2800"/>
                      <m:t>: </m:t>
                    </m:r>
                    <m:r>
                      <m:rPr>
                        <m:nor/>
                      </m:rPr>
                      <a:rPr lang="en-US" sz="2800"/>
                      <m:t>evaluated</m:t>
                    </m:r>
                    <m:r>
                      <m:rPr>
                        <m:nor/>
                      </m:rPr>
                      <a:rPr lang="en-US" sz="2800"/>
                      <m:t> </m:t>
                    </m:r>
                    <m:r>
                      <m:rPr>
                        <m:nor/>
                      </m:rPr>
                      <a:rPr lang="en-US" sz="2800"/>
                      <m:t>angular</m:t>
                    </m:r>
                    <m:r>
                      <m:rPr>
                        <m:nor/>
                      </m:rPr>
                      <a:rPr lang="en-US" sz="2800"/>
                      <m:t> </m:t>
                    </m:r>
                    <m:r>
                      <m:rPr>
                        <m:nor/>
                      </m:rPr>
                      <a:rPr lang="en-US" sz="2800"/>
                      <m:t>frequency</m:t>
                    </m:r>
                    <m:r>
                      <m:rPr>
                        <m:nor/>
                      </m:rPr>
                      <a:rPr lang="en-US" sz="2800"/>
                      <m:t>.</m:t>
                    </m:r>
                  </m:oMath>
                </a14:m>
                <a:endParaRPr lang="en-IL" sz="2800" dirty="0"/>
              </a:p>
              <a:p>
                <a:endParaRPr lang="en-IL" dirty="0"/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2082ED3D-1D4C-9ADB-AC6A-B2D19FACDD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4600" y="1890337"/>
                <a:ext cx="10515600" cy="4140000"/>
              </a:xfrm>
              <a:prstGeom prst="rect">
                <a:avLst/>
              </a:prstGeom>
              <a:blipFill>
                <a:blip r:embed="rId3"/>
                <a:stretch>
                  <a:fillRect l="-1159" t="-2504"/>
                </a:stretch>
              </a:blipFill>
            </p:spPr>
            <p:txBody>
              <a:bodyPr/>
              <a:lstStyle/>
              <a:p>
                <a:r>
                  <a:rPr lang="en-I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095154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C2169B-E647-5200-CC15-018A97C6F0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CC09C5-878D-A6A2-853C-CF381878BB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58581"/>
            <a:ext cx="10515600" cy="646688"/>
          </a:xfrm>
        </p:spPr>
        <p:txBody>
          <a:bodyPr>
            <a:normAutofit/>
          </a:bodyPr>
          <a:lstStyle/>
          <a:p>
            <a:r>
              <a:rPr lang="en-US" sz="3200" dirty="0"/>
              <a:t>Surface Displacement as a Modal Convolution</a:t>
            </a:r>
            <a:endParaRPr lang="en-IL" sz="3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D6D7C16-C954-A941-6021-9DCD8C09F74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51000" y="884063"/>
                <a:ext cx="10515600" cy="119493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IL" i="1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en-IL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IL" b="1" i="1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IL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IL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IL">
                          <a:latin typeface="Cambria Math" panose="02040503050406030204" pitchFamily="18" charset="0"/>
                        </a:rPr>
                        <m:t>)=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IL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IL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IL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IL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IL" i="1">
                              <a:latin typeface="Cambria Math" panose="02040503050406030204" pitchFamily="18" charset="0"/>
                            </a:rPr>
                            <m:t>𝐾</m:t>
                          </m:r>
                        </m:sup>
                        <m:e>
                          <m:sSub>
                            <m:sSubPr>
                              <m:ctrlPr>
                                <a:rPr lang="en-IL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IL" i="1">
                                  <a:latin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en-IL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nary>
                      <m:r>
                        <a:rPr lang="en-IL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IL" b="1" i="1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IL">
                          <a:latin typeface="Cambria Math" panose="02040503050406030204" pitchFamily="18" charset="0"/>
                        </a:rPr>
                        <m:t>)</m:t>
                      </m:r>
                      <m:d>
                        <m:dPr>
                          <m:ctrlPr>
                            <a:rPr lang="en-IL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IL" i="1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IL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IL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IL">
                              <a:latin typeface="Cambria Math" panose="02040503050406030204" pitchFamily="18" charset="0"/>
                            </a:rPr>
                            <m:t>)∗</m:t>
                          </m:r>
                          <m:sSub>
                            <m:sSubPr>
                              <m:ctrlPr>
                                <a:rPr lang="en-IL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IL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e>
                            <m:sub>
                              <m:r>
                                <a:rPr lang="en-IL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IL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IL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IL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en-IL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D6D7C16-C954-A941-6021-9DCD8C09F74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51000" y="884063"/>
                <a:ext cx="10515600" cy="1194937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I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2082ED3D-1D4C-9ADB-AC6A-B2D19FACDD9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61000" y="2169000"/>
                <a:ext cx="10792800" cy="414000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b="1" dirty="0"/>
                  <a:t>Description of terms:</a:t>
                </a:r>
                <a:endParaRPr lang="en-IL" dirty="0"/>
              </a:p>
              <a:p>
                <a:pPr lvl="0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		</m:t>
                    </m:r>
                    <m:sSub>
                      <m:sSubPr>
                        <m:ctrlPr>
                          <a:rPr lang="en-IL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L" i="1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en-IL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IL">
                        <a:latin typeface="Cambria Math" panose="02040503050406030204" pitchFamily="18" charset="0"/>
                      </a:rPr>
                      <m:t>(</m:t>
                    </m:r>
                    <m:r>
                      <a:rPr lang="en-IL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IL">
                        <a:latin typeface="Cambria Math" panose="02040503050406030204" pitchFamily="18" charset="0"/>
                      </a:rPr>
                      <m:t>)</m:t>
                    </m:r>
                    <m:r>
                      <m:rPr>
                        <m:nor/>
                      </m:rPr>
                      <a:rPr lang="en-US"/>
                      <m:t>: </m:t>
                    </m:r>
                    <m:r>
                      <m:rPr>
                        <m:nor/>
                      </m:rPr>
                      <a:rPr lang="en-US"/>
                      <m:t>impulse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response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of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the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a:rPr lang="en-IL" i="1">
                        <a:latin typeface="Cambria Math" panose="02040503050406030204" pitchFamily="18" charset="0"/>
                      </a:rPr>
                      <m:t>𝑘</m:t>
                    </m:r>
                    <m:r>
                      <m:rPr>
                        <m:nor/>
                      </m:rPr>
                      <a:rPr lang="en-US"/>
                      <m:t>−</m:t>
                    </m:r>
                    <m:r>
                      <m:rPr>
                        <m:nor/>
                      </m:rPr>
                      <a:rPr lang="en-US"/>
                      <m:t>th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mode</m:t>
                    </m:r>
                    <m:r>
                      <m:rPr>
                        <m:nor/>
                      </m:rPr>
                      <a:rPr lang="en-US"/>
                      <m:t>.</m:t>
                    </m:r>
                  </m:oMath>
                </a14:m>
                <a:endParaRPr lang="en-IL" dirty="0"/>
              </a:p>
              <a:p>
                <a:pPr lvl="0"/>
                <a14:m>
                  <m:oMath xmlns:m="http://schemas.openxmlformats.org/officeDocument/2006/math">
                    <m:r>
                      <a:rPr lang="en-IL">
                        <a:latin typeface="Cambria Math" panose="02040503050406030204" pitchFamily="18" charset="0"/>
                      </a:rPr>
                      <m:t>∗</m:t>
                    </m:r>
                    <m:r>
                      <m:rPr>
                        <m:nor/>
                      </m:rPr>
                      <a:rPr lang="en-US"/>
                      <m:t>: </m:t>
                    </m:r>
                    <m:r>
                      <m:rPr>
                        <m:nor/>
                      </m:rPr>
                      <a:rPr lang="en-US"/>
                      <m:t>convolution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operator</m:t>
                    </m:r>
                    <m:r>
                      <m:rPr>
                        <m:nor/>
                      </m:rPr>
                      <a:rPr lang="en-US"/>
                      <m:t>.</m:t>
                    </m:r>
                  </m:oMath>
                </a14:m>
                <a:endParaRPr lang="en-IL" dirty="0"/>
              </a:p>
              <a:p>
                <a:pPr lvl="0"/>
                <a14:m>
                  <m:oMath xmlns:m="http://schemas.openxmlformats.org/officeDocument/2006/math">
                    <m:r>
                      <a:rPr lang="en-IL" i="1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IL">
                        <a:latin typeface="Cambria Math" panose="02040503050406030204" pitchFamily="18" charset="0"/>
                      </a:rPr>
                      <m:t>(</m:t>
                    </m:r>
                    <m:r>
                      <a:rPr lang="en-IL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IL">
                        <a:latin typeface="Cambria Math" panose="02040503050406030204" pitchFamily="18" charset="0"/>
                      </a:rPr>
                      <m:t>)∗</m:t>
                    </m:r>
                    <m:sSub>
                      <m:sSubPr>
                        <m:ctrlPr>
                          <a:rPr lang="en-IL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L" i="1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en-IL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IL">
                        <a:latin typeface="Cambria Math" panose="02040503050406030204" pitchFamily="18" charset="0"/>
                      </a:rPr>
                      <m:t>(</m:t>
                    </m:r>
                    <m:r>
                      <a:rPr lang="en-IL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IL">
                        <a:latin typeface="Cambria Math" panose="02040503050406030204" pitchFamily="18" charset="0"/>
                      </a:rPr>
                      <m:t>)</m:t>
                    </m:r>
                    <m:r>
                      <m:rPr>
                        <m:nor/>
                      </m:rPr>
                      <a:rPr lang="en-US"/>
                      <m:t>: </m:t>
                    </m:r>
                    <m:r>
                      <m:rPr>
                        <m:nor/>
                      </m:rPr>
                      <a:rPr lang="en-US"/>
                      <m:t>acoustic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pressure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filtered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by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the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mechanical</m:t>
                    </m:r>
                    <m:r>
                      <m:rPr>
                        <m:nor/>
                      </m:rPr>
                      <a:rPr lang="en-US"/>
                      <m:t> </m:t>
                    </m:r>
                  </m:oMath>
                </a14:m>
                <a:endParaRPr lang="en-US" dirty="0"/>
              </a:p>
              <a:p>
                <a:pPr marL="0" lvl="0" indent="0">
                  <a:buNone/>
                </a:pPr>
                <a:r>
                  <a:rPr lang="en-US" dirty="0"/>
                  <a:t>                              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/>
                      <m:t>response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of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the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a:rPr lang="en-IL" i="1">
                        <a:latin typeface="Cambria Math" panose="02040503050406030204" pitchFamily="18" charset="0"/>
                      </a:rPr>
                      <m:t>𝑘</m:t>
                    </m:r>
                    <m:r>
                      <m:rPr>
                        <m:nor/>
                      </m:rPr>
                      <a:rPr lang="en-US"/>
                      <m:t>−</m:t>
                    </m:r>
                    <m:r>
                      <m:rPr>
                        <m:nor/>
                      </m:rPr>
                      <a:rPr lang="en-US"/>
                      <m:t>th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mode</m:t>
                    </m:r>
                    <m:r>
                      <m:rPr>
                        <m:nor/>
                      </m:rPr>
                      <a:rPr lang="en-US"/>
                      <m:t>.</m:t>
                    </m:r>
                  </m:oMath>
                </a14:m>
                <a:endParaRPr lang="en-IL" dirty="0"/>
              </a:p>
              <a:p>
                <a:endParaRPr lang="en-IL" dirty="0"/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2082ED3D-1D4C-9ADB-AC6A-B2D19FACDD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1000" y="2169000"/>
                <a:ext cx="10792800" cy="4140000"/>
              </a:xfrm>
              <a:prstGeom prst="rect">
                <a:avLst/>
              </a:prstGeom>
              <a:blipFill>
                <a:blip r:embed="rId3"/>
                <a:stretch>
                  <a:fillRect l="-1129" t="-2651"/>
                </a:stretch>
              </a:blipFill>
            </p:spPr>
            <p:txBody>
              <a:bodyPr/>
              <a:lstStyle/>
              <a:p>
                <a:r>
                  <a:rPr lang="en-I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283615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C2169B-E647-5200-CC15-018A97C6F0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CC09C5-878D-A6A2-853C-CF381878BB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58581"/>
            <a:ext cx="10515600" cy="646688"/>
          </a:xfrm>
        </p:spPr>
        <p:txBody>
          <a:bodyPr>
            <a:normAutofit/>
          </a:bodyPr>
          <a:lstStyle/>
          <a:p>
            <a:r>
              <a:rPr lang="en-US" sz="3200" dirty="0"/>
              <a:t>Sound Pressure and Source Signal</a:t>
            </a:r>
            <a:endParaRPr lang="en-IL" sz="3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D6D7C16-C954-A941-6021-9DCD8C09F74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06000" y="953289"/>
                <a:ext cx="10515600" cy="540712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IL" i="1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IL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IL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IL"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en-IL" i="1">
                          <a:latin typeface="Cambria Math" panose="02040503050406030204" pitchFamily="18" charset="0"/>
                        </a:rPr>
                        <m:t>𝛾</m:t>
                      </m:r>
                      <m:r>
                        <a:rPr lang="en-IL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IL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IL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IL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IL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D6D7C16-C954-A941-6021-9DCD8C09F74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06000" y="953289"/>
                <a:ext cx="10515600" cy="540712"/>
              </a:xfrm>
              <a:blipFill>
                <a:blip r:embed="rId2"/>
                <a:stretch>
                  <a:fillRect b="-6742"/>
                </a:stretch>
              </a:blipFill>
            </p:spPr>
            <p:txBody>
              <a:bodyPr/>
              <a:lstStyle/>
              <a:p>
                <a:r>
                  <a:rPr lang="en-I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2082ED3D-1D4C-9ADB-AC6A-B2D19FACDD9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61000" y="2169000"/>
                <a:ext cx="10792800" cy="414000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dirty="0"/>
                  <a:t>Description of terms:</a:t>
                </a:r>
                <a:endParaRPr lang="en-IL" dirty="0"/>
              </a:p>
              <a:p>
                <a:pPr lvl="0"/>
                <a:endParaRPr lang="en-IL" dirty="0"/>
              </a:p>
              <a:p>
                <a:pPr lvl="0"/>
                <a:endParaRPr lang="en-IL" dirty="0"/>
              </a:p>
              <a:p>
                <a:pPr lvl="0"/>
                <a:endParaRPr lang="en-US" i="1" dirty="0"/>
              </a:p>
              <a:p>
                <a:pPr marL="0" lvl="0" indent="0">
                  <a:buNone/>
                </a:pPr>
                <a:r>
                  <a:rPr lang="en-US" dirty="0"/>
                  <a:t>         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𝑎𝑛𝑑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𝑎𝑐𝑜𝑢𝑠𝑡𝑖𝑐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𝑎𝑡𝑡𝑒𝑛𝑢𝑎𝑡𝑖𝑜𝑛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dirty="0"/>
              </a:p>
              <a:p>
                <a:endParaRPr lang="en-IL" dirty="0"/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2082ED3D-1D4C-9ADB-AC6A-B2D19FACDD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1000" y="2169000"/>
                <a:ext cx="10792800" cy="4140000"/>
              </a:xfrm>
              <a:prstGeom prst="rect">
                <a:avLst/>
              </a:prstGeom>
              <a:blipFill>
                <a:blip r:embed="rId3"/>
                <a:stretch>
                  <a:fillRect l="-1129" t="-2651"/>
                </a:stretch>
              </a:blipFill>
            </p:spPr>
            <p:txBody>
              <a:bodyPr/>
              <a:lstStyle/>
              <a:p>
                <a:r>
                  <a:rPr lang="en-I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029906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A3E9D8-4302-85B9-05BF-B4EB3E5F08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4433081-1C70-8DCD-2095-93F88180FD6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99000"/>
                <a:ext cx="10515600" cy="793375"/>
              </a:xfrm>
            </p:spPr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IL" b="1" i="1">
                          <a:latin typeface="Cambria Math" panose="02040503050406030204" pitchFamily="18" charset="0"/>
                        </a:rPr>
                        <m:t>𝒗</m:t>
                      </m:r>
                      <m:r>
                        <a:rPr lang="en-IL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IL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L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IL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IL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IL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IL"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en-IL" i="1">
                          <a:latin typeface="Cambria Math" panose="02040503050406030204" pitchFamily="18" charset="0"/>
                        </a:rPr>
                        <m:t>𝛽</m:t>
                      </m:r>
                      <m:sSub>
                        <m:sSubPr>
                          <m:ctrlPr>
                            <a:rPr lang="en-IL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IL"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b>
                          <m:r>
                            <a:rPr lang="en-IL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sub>
                      </m:sSub>
                      <m:r>
                        <a:rPr lang="en-IL" i="1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en-IL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IL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L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IL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IL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IL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IL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IL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4433081-1C70-8DCD-2095-93F88180FD6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99000"/>
                <a:ext cx="10515600" cy="793375"/>
              </a:xfrm>
              <a:blipFill>
                <a:blip r:embed="rId2"/>
                <a:stretch>
                  <a:fillRect t="-769"/>
                </a:stretch>
              </a:blipFill>
            </p:spPr>
            <p:txBody>
              <a:bodyPr/>
              <a:lstStyle/>
              <a:p>
                <a:r>
                  <a:rPr lang="en-I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A8216E48-DA5B-D7EE-FAFA-4DDF489AA6B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71000" y="2774500"/>
                <a:ext cx="11385000" cy="306000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b="1" dirty="0"/>
                  <a:t>Description of terms:</a:t>
                </a:r>
              </a:p>
              <a:p>
                <a:pPr lvl="0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	</m:t>
                    </m:r>
                    <m:r>
                      <a:rPr lang="en-IL" b="1" i="1">
                        <a:latin typeface="Cambria Math" panose="02040503050406030204" pitchFamily="18" charset="0"/>
                      </a:rPr>
                      <m:t>𝒗</m:t>
                    </m:r>
                    <m:r>
                      <a:rPr lang="en-IL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IL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L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IL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IL">
                        <a:latin typeface="Cambria Math" panose="02040503050406030204" pitchFamily="18" charset="0"/>
                      </a:rPr>
                      <m:t>,</m:t>
                    </m:r>
                    <m:r>
                      <a:rPr lang="en-IL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IL">
                        <a:latin typeface="Cambria Math" panose="02040503050406030204" pitchFamily="18" charset="0"/>
                      </a:rPr>
                      <m:t>)∈</m:t>
                    </m:r>
                    <m:sSup>
                      <m:sSupPr>
                        <m:ctrlPr>
                          <a:rPr lang="en-IL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IL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IL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m:rPr>
                        <m:nor/>
                      </m:rPr>
                      <a:rPr lang="en-US"/>
                      <m:t>: </m:t>
                    </m:r>
                    <m:r>
                      <m:rPr>
                        <m:nor/>
                      </m:rPr>
                      <a:rPr lang="en-US"/>
                      <m:t>measured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two</m:t>
                    </m:r>
                    <m:r>
                      <m:rPr>
                        <m:nor/>
                      </m:rPr>
                      <a:rPr lang="en-US"/>
                      <m:t>−</m:t>
                    </m:r>
                    <m:r>
                      <m:rPr>
                        <m:nor/>
                      </m:rPr>
                      <a:rPr lang="en-US"/>
                      <m:t>axis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speckle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shift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at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surface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point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sSub>
                      <m:sSubPr>
                        <m:ctrlPr>
                          <a:rPr lang="en-IL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L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IL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m:rPr>
                        <m:nor/>
                      </m:rPr>
                      <a:rPr lang="en-US"/>
                      <m:t>.</m:t>
                    </m:r>
                  </m:oMath>
                </a14:m>
                <a:endParaRPr lang="en-IL" dirty="0"/>
              </a:p>
              <a:p>
                <a:pPr lvl="0"/>
                <a14:m>
                  <m:oMath xmlns:m="http://schemas.openxmlformats.org/officeDocument/2006/math">
                    <m:sSub>
                      <m:sSubPr>
                        <m:ctrlPr>
                          <a:rPr lang="en-IL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L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IL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m:rPr>
                        <m:nor/>
                      </m:rPr>
                      <a:rPr lang="en-US"/>
                      <m:t>: </m:t>
                    </m:r>
                    <m:r>
                      <m:rPr>
                        <m:nor/>
                      </m:rPr>
                      <a:rPr lang="en-US"/>
                      <m:t>the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a:rPr lang="en-IL" i="1">
                        <a:latin typeface="Cambria Math" panose="02040503050406030204" pitchFamily="18" charset="0"/>
                      </a:rPr>
                      <m:t>𝑛</m:t>
                    </m:r>
                    <m:r>
                      <m:rPr>
                        <m:nor/>
                      </m:rPr>
                      <a:rPr lang="en-US"/>
                      <m:t>−</m:t>
                    </m:r>
                    <m:r>
                      <m:rPr>
                        <m:nor/>
                      </m:rPr>
                      <a:rPr lang="en-US"/>
                      <m:t>th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measured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surface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point</m:t>
                    </m:r>
                    <m:r>
                      <m:rPr>
                        <m:nor/>
                      </m:rPr>
                      <a:rPr lang="en-US"/>
                      <m:t>.</m:t>
                    </m:r>
                  </m:oMath>
                </a14:m>
                <a:endParaRPr lang="en-IL" dirty="0"/>
              </a:p>
              <a:p>
                <a:pPr lvl="0"/>
                <a14:m>
                  <m:oMath xmlns:m="http://schemas.openxmlformats.org/officeDocument/2006/math">
                    <m:r>
                      <a:rPr lang="en-IL" i="1">
                        <a:latin typeface="Cambria Math" panose="02040503050406030204" pitchFamily="18" charset="0"/>
                      </a:rPr>
                      <m:t>𝛽</m:t>
                    </m:r>
                    <m:r>
                      <m:rPr>
                        <m:nor/>
                      </m:rPr>
                      <a:rPr lang="en-US"/>
                      <m:t>: </m:t>
                    </m:r>
                    <m:r>
                      <m:rPr>
                        <m:nor/>
                      </m:rPr>
                      <a:rPr lang="en-US"/>
                      <m:t>optical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transfer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scale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factor</m:t>
                    </m:r>
                    <m:r>
                      <m:rPr>
                        <m:nor/>
                      </m:rPr>
                      <a:rPr lang="en-US"/>
                      <m:t>.</m:t>
                    </m:r>
                  </m:oMath>
                </a14:m>
                <a:endParaRPr lang="en-IL" dirty="0"/>
              </a:p>
              <a:p>
                <a:pPr lvl="0"/>
                <a14:m>
                  <m:oMath xmlns:m="http://schemas.openxmlformats.org/officeDocument/2006/math">
                    <m:sSub>
                      <m:sSubPr>
                        <m:ctrlPr>
                          <a:rPr lang="en-IL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IL">
                            <a:latin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a:rPr lang="en-IL" b="1" i="1">
                            <a:latin typeface="Cambria Math" panose="02040503050406030204" pitchFamily="18" charset="0"/>
                          </a:rPr>
                          <m:t>𝒙</m:t>
                        </m:r>
                      </m:sub>
                    </m:sSub>
                    <m:r>
                      <a:rPr lang="en-IL" i="1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IL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IL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L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IL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IL">
                        <a:latin typeface="Cambria Math" panose="02040503050406030204" pitchFamily="18" charset="0"/>
                      </a:rPr>
                      <m:t>,</m:t>
                    </m:r>
                    <m:r>
                      <a:rPr lang="en-IL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IL">
                        <a:latin typeface="Cambria Math" panose="02040503050406030204" pitchFamily="18" charset="0"/>
                      </a:rPr>
                      <m:t>)</m:t>
                    </m:r>
                    <m:r>
                      <m:rPr>
                        <m:nor/>
                      </m:rPr>
                      <a:rPr lang="en-US"/>
                      <m:t>: </m:t>
                    </m:r>
                    <m:r>
                      <m:rPr>
                        <m:nor/>
                      </m:rPr>
                      <a:rPr lang="en-US"/>
                      <m:t>spatial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gradient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of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the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surface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displacement</m:t>
                    </m:r>
                    <m:r>
                      <m:rPr>
                        <m:nor/>
                      </m:rPr>
                      <a:rPr lang="en-US"/>
                      <m:t>.</m:t>
                    </m:r>
                  </m:oMath>
                </a14:m>
                <a:endParaRPr lang="en-IL" dirty="0"/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A8216E48-DA5B-D7EE-FAFA-4DDF489AA6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000" y="2774500"/>
                <a:ext cx="11385000" cy="3060000"/>
              </a:xfrm>
              <a:prstGeom prst="rect">
                <a:avLst/>
              </a:prstGeom>
              <a:blipFill>
                <a:blip r:embed="rId3"/>
                <a:stretch>
                  <a:fillRect l="-1071" t="-3386"/>
                </a:stretch>
              </a:blipFill>
            </p:spPr>
            <p:txBody>
              <a:bodyPr/>
              <a:lstStyle/>
              <a:p>
                <a:r>
                  <a:rPr lang="en-I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itle 1">
            <a:extLst>
              <a:ext uri="{FF2B5EF4-FFF2-40B4-BE49-F238E27FC236}">
                <a16:creationId xmlns:a16="http://schemas.microsoft.com/office/drawing/2014/main" id="{C25C15D4-2CBE-925C-7226-56303D315D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48875"/>
          </a:xfrm>
        </p:spPr>
        <p:txBody>
          <a:bodyPr/>
          <a:lstStyle/>
          <a:p>
            <a:r>
              <a:rPr lang="en-US" dirty="0"/>
              <a:t>Speckle-Based Vibration Measurements</a:t>
            </a:r>
            <a:endParaRPr lang="en-IL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267010C1-AB47-FE7A-3CF9-29AF2C2B9505}"/>
              </a:ext>
            </a:extLst>
          </p:cNvPr>
          <p:cNvSpPr txBox="1">
            <a:spLocks/>
          </p:cNvSpPr>
          <p:nvPr/>
        </p:nvSpPr>
        <p:spPr>
          <a:xfrm>
            <a:off x="838200" y="1095375"/>
            <a:ext cx="10515600" cy="9488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200" dirty="0"/>
              <a:t>Speckle shifts as surface gradients</a:t>
            </a:r>
            <a:endParaRPr lang="en-IL" sz="3200" dirty="0"/>
          </a:p>
        </p:txBody>
      </p:sp>
    </p:spTree>
    <p:extLst>
      <p:ext uri="{BB962C8B-B14F-4D97-AF65-F5344CB8AC3E}">
        <p14:creationId xmlns:p14="http://schemas.microsoft.com/office/powerpoint/2010/main" val="203034209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C2169B-E647-5200-CC15-018A97C6F0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CC09C5-878D-A6A2-853C-CF381878BB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58581"/>
            <a:ext cx="10515600" cy="646688"/>
          </a:xfrm>
        </p:spPr>
        <p:txBody>
          <a:bodyPr>
            <a:normAutofit/>
          </a:bodyPr>
          <a:lstStyle/>
          <a:p>
            <a:r>
              <a:rPr lang="en-US" sz="3200" dirty="0"/>
              <a:t>Forward model from sound to measured speckle shifts</a:t>
            </a:r>
            <a:endParaRPr lang="en-IL" sz="3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D6D7C16-C954-A941-6021-9DCD8C09F74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06000" y="953289"/>
                <a:ext cx="10515600" cy="1350712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IL" b="1" i="1" smtClean="0">
                          <a:latin typeface="Cambria Math" panose="02040503050406030204" pitchFamily="18" charset="0"/>
                        </a:rPr>
                        <m:t>𝒗</m:t>
                      </m:r>
                      <m:r>
                        <a:rPr lang="en-IL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IL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L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IL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IL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IL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IL">
                          <a:latin typeface="Cambria Math" panose="02040503050406030204" pitchFamily="18" charset="0"/>
                        </a:rPr>
                        <m:t>)≈</m:t>
                      </m:r>
                      <m:r>
                        <a:rPr lang="en-IL" i="1">
                          <a:latin typeface="Cambria Math" panose="02040503050406030204" pitchFamily="18" charset="0"/>
                        </a:rPr>
                        <m:t>𝛾𝛽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IL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IL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IL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IL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IL" i="1">
                              <a:latin typeface="Cambria Math" panose="02040503050406030204" pitchFamily="18" charset="0"/>
                            </a:rPr>
                            <m:t>𝐾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a:rPr lang="en-IL"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</m:nary>
                      <m:sSub>
                        <m:sSubPr>
                          <m:ctrlPr>
                            <a:rPr lang="en-IL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L" i="1"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en-IL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IL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IL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L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IL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IL">
                          <a:latin typeface="Cambria Math" panose="02040503050406030204" pitchFamily="18" charset="0"/>
                        </a:rPr>
                        <m:t>)</m:t>
                      </m:r>
                      <m:d>
                        <m:dPr>
                          <m:ctrlPr>
                            <a:rPr lang="en-IL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IL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IL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IL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IL">
                              <a:latin typeface="Cambria Math" panose="02040503050406030204" pitchFamily="18" charset="0"/>
                            </a:rPr>
                            <m:t>)∗</m:t>
                          </m:r>
                          <m:sSub>
                            <m:sSubPr>
                              <m:ctrlPr>
                                <a:rPr lang="en-IL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IL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e>
                            <m:sub>
                              <m:r>
                                <a:rPr lang="en-IL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IL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IL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IL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lang="en-IL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IL" b="1" i="1">
                          <a:latin typeface="Cambria Math" panose="02040503050406030204" pitchFamily="18" charset="0"/>
                        </a:rPr>
                        <m:t>𝜼</m:t>
                      </m:r>
                      <m:r>
                        <a:rPr lang="en-IL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IL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L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IL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IL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IL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IL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IL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D6D7C16-C954-A941-6021-9DCD8C09F74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06000" y="953289"/>
                <a:ext cx="10515600" cy="1350712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I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2082ED3D-1D4C-9ADB-AC6A-B2D19FACDD9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71000" y="2484000"/>
                <a:ext cx="10792800" cy="414000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dirty="0"/>
                  <a:t>Description of terms:</a:t>
                </a:r>
                <a:endParaRPr lang="en-IL" dirty="0"/>
              </a:p>
              <a:p>
                <a:pPr lvl="0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	</m:t>
                    </m:r>
                    <m:r>
                      <a:rPr lang="en-IL" b="1" i="1">
                        <a:latin typeface="Cambria Math" panose="02040503050406030204" pitchFamily="18" charset="0"/>
                      </a:rPr>
                      <m:t>𝒗</m:t>
                    </m:r>
                    <m:r>
                      <a:rPr lang="en-IL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IL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L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IL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IL">
                        <a:latin typeface="Cambria Math" panose="02040503050406030204" pitchFamily="18" charset="0"/>
                      </a:rPr>
                      <m:t>,</m:t>
                    </m:r>
                    <m:r>
                      <a:rPr lang="en-IL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IL">
                        <a:latin typeface="Cambria Math" panose="02040503050406030204" pitchFamily="18" charset="0"/>
                      </a:rPr>
                      <m:t>)</m:t>
                    </m:r>
                    <m:r>
                      <m:rPr>
                        <m:nor/>
                      </m:rPr>
                      <a:rPr lang="en-US"/>
                      <m:t>: </m:t>
                    </m:r>
                    <m:r>
                      <m:rPr>
                        <m:nor/>
                      </m:rPr>
                      <a:rPr lang="en-US"/>
                      <m:t>measured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two</m:t>
                    </m:r>
                    <m:r>
                      <m:rPr>
                        <m:nor/>
                      </m:rPr>
                      <a:rPr lang="en-US"/>
                      <m:t>−</m:t>
                    </m:r>
                    <m:r>
                      <m:rPr>
                        <m:nor/>
                      </m:rPr>
                      <a:rPr lang="en-US"/>
                      <m:t>axis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vibration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signal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at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point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sSub>
                      <m:sSubPr>
                        <m:ctrlPr>
                          <a:rPr lang="en-IL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L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IL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m:rPr>
                        <m:nor/>
                      </m:rPr>
                      <a:rPr lang="en-US"/>
                      <m:t>.</m:t>
                    </m:r>
                  </m:oMath>
                </a14:m>
                <a:endParaRPr lang="en-IL" dirty="0"/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IL">
                        <a:latin typeface="Cambria Math" panose="02040503050406030204" pitchFamily="18" charset="0"/>
                      </a:rPr>
                      <m:t>∇</m:t>
                    </m:r>
                    <m:sSub>
                      <m:sSubPr>
                        <m:ctrlPr>
                          <a:rPr lang="en-IL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L" i="1"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  <m:sub>
                        <m:r>
                          <a:rPr lang="en-IL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IL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IL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L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IL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IL">
                        <a:latin typeface="Cambria Math" panose="02040503050406030204" pitchFamily="18" charset="0"/>
                      </a:rPr>
                      <m:t>)</m:t>
                    </m:r>
                    <m:r>
                      <m:rPr>
                        <m:nor/>
                      </m:rPr>
                      <a:rPr lang="en-US"/>
                      <m:t>: </m:t>
                    </m:r>
                    <m:r>
                      <m:rPr>
                        <m:nor/>
                      </m:rPr>
                      <a:rPr lang="en-US"/>
                      <m:t>spatial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gradient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of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the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a:rPr lang="en-IL" i="1">
                        <a:latin typeface="Cambria Math" panose="02040503050406030204" pitchFamily="18" charset="0"/>
                      </a:rPr>
                      <m:t>𝑘</m:t>
                    </m:r>
                    <m:r>
                      <m:rPr>
                        <m:nor/>
                      </m:rPr>
                      <a:rPr lang="en-US"/>
                      <m:t>−</m:t>
                    </m:r>
                    <m:r>
                      <m:rPr>
                        <m:nor/>
                      </m:rPr>
                      <a:rPr lang="en-US"/>
                      <m:t>th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mode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shape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at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point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sSub>
                      <m:sSubPr>
                        <m:ctrlPr>
                          <a:rPr lang="en-IL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L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IL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m:rPr>
                        <m:nor/>
                      </m:rPr>
                      <a:rPr lang="en-US"/>
                      <m:t>.</m:t>
                    </m:r>
                  </m:oMath>
                </a14:m>
                <a:endParaRPr lang="en-IL" dirty="0"/>
              </a:p>
              <a:p>
                <a:pPr lvl="0"/>
                <a14:m>
                  <m:oMath xmlns:m="http://schemas.openxmlformats.org/officeDocument/2006/math">
                    <m:r>
                      <a:rPr lang="en-IL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IL">
                        <a:latin typeface="Cambria Math" panose="02040503050406030204" pitchFamily="18" charset="0"/>
                      </a:rPr>
                      <m:t>(</m:t>
                    </m:r>
                    <m:r>
                      <a:rPr lang="en-IL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IL">
                        <a:latin typeface="Cambria Math" panose="02040503050406030204" pitchFamily="18" charset="0"/>
                      </a:rPr>
                      <m:t>)</m:t>
                    </m:r>
                    <m:r>
                      <m:rPr>
                        <m:nor/>
                      </m:rPr>
                      <a:rPr lang="en-US"/>
                      <m:t>: </m:t>
                    </m:r>
                    <m:r>
                      <m:rPr>
                        <m:nor/>
                      </m:rPr>
                      <a:rPr lang="en-US"/>
                      <m:t>latent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source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sound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signal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to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be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recovered</m:t>
                    </m:r>
                    <m:r>
                      <m:rPr>
                        <m:nor/>
                      </m:rPr>
                      <a:rPr lang="en-US"/>
                      <m:t>.</m:t>
                    </m:r>
                  </m:oMath>
                </a14:m>
                <a:endParaRPr lang="en-IL" dirty="0"/>
              </a:p>
              <a:p>
                <a:pPr lvl="0"/>
                <a14:m>
                  <m:oMath xmlns:m="http://schemas.openxmlformats.org/officeDocument/2006/math">
                    <m:sSub>
                      <m:sSubPr>
                        <m:ctrlPr>
                          <a:rPr lang="en-IL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L" i="1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en-IL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IL">
                        <a:latin typeface="Cambria Math" panose="02040503050406030204" pitchFamily="18" charset="0"/>
                      </a:rPr>
                      <m:t>(</m:t>
                    </m:r>
                    <m:r>
                      <a:rPr lang="en-IL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IL">
                        <a:latin typeface="Cambria Math" panose="02040503050406030204" pitchFamily="18" charset="0"/>
                      </a:rPr>
                      <m:t>)</m:t>
                    </m:r>
                    <m:r>
                      <m:rPr>
                        <m:nor/>
                      </m:rPr>
                      <a:rPr lang="en-US"/>
                      <m:t>: </m:t>
                    </m:r>
                    <m:r>
                      <m:rPr>
                        <m:nor/>
                      </m:rPr>
                      <a:rPr lang="en-US"/>
                      <m:t>impulse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response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of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the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a:rPr lang="en-IL" i="1">
                        <a:latin typeface="Cambria Math" panose="02040503050406030204" pitchFamily="18" charset="0"/>
                      </a:rPr>
                      <m:t>𝑘</m:t>
                    </m:r>
                    <m:r>
                      <m:rPr>
                        <m:nor/>
                      </m:rPr>
                      <a:rPr lang="en-US"/>
                      <m:t>−</m:t>
                    </m:r>
                    <m:r>
                      <m:rPr>
                        <m:nor/>
                      </m:rPr>
                      <a:rPr lang="en-US"/>
                      <m:t>th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mode</m:t>
                    </m:r>
                    <m:r>
                      <m:rPr>
                        <m:nor/>
                      </m:rPr>
                      <a:rPr lang="en-US"/>
                      <m:t>.</m:t>
                    </m:r>
                  </m:oMath>
                </a14:m>
                <a:endParaRPr lang="en-IL" dirty="0"/>
              </a:p>
              <a:p>
                <a:pPr lvl="0"/>
                <a14:m>
                  <m:oMath xmlns:m="http://schemas.openxmlformats.org/officeDocument/2006/math">
                    <m:r>
                      <a:rPr lang="en-IL" b="1" i="1">
                        <a:latin typeface="Cambria Math" panose="02040503050406030204" pitchFamily="18" charset="0"/>
                      </a:rPr>
                      <m:t>𝜼</m:t>
                    </m:r>
                    <m:r>
                      <a:rPr lang="en-IL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IL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L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IL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IL">
                        <a:latin typeface="Cambria Math" panose="02040503050406030204" pitchFamily="18" charset="0"/>
                      </a:rPr>
                      <m:t>,</m:t>
                    </m:r>
                    <m:r>
                      <a:rPr lang="en-IL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IL">
                        <a:latin typeface="Cambria Math" panose="02040503050406030204" pitchFamily="18" charset="0"/>
                      </a:rPr>
                      <m:t>)</m:t>
                    </m:r>
                    <m:r>
                      <m:rPr>
                        <m:nor/>
                      </m:rPr>
                      <a:rPr lang="en-US"/>
                      <m:t>: </m:t>
                    </m:r>
                    <m:r>
                      <m:rPr>
                        <m:nor/>
                      </m:rPr>
                      <a:rPr lang="en-US"/>
                      <m:t>measurement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noise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or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modeling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error</m:t>
                    </m:r>
                    <m:r>
                      <m:rPr>
                        <m:nor/>
                      </m:rPr>
                      <a:rPr lang="en-US"/>
                      <m:t>.</m:t>
                    </m:r>
                  </m:oMath>
                </a14:m>
                <a:endParaRPr lang="en-IL" dirty="0"/>
              </a:p>
              <a:p>
                <a:pPr lvl="0"/>
                <a14:m>
                  <m:oMath xmlns:m="http://schemas.openxmlformats.org/officeDocument/2006/math">
                    <m:r>
                      <a:rPr lang="en-IL" i="1">
                        <a:latin typeface="Cambria Math" panose="02040503050406030204" pitchFamily="18" charset="0"/>
                      </a:rPr>
                      <m:t>𝛾𝛽</m:t>
                    </m:r>
                    <m:r>
                      <m:rPr>
                        <m:nor/>
                      </m:rPr>
                      <a:rPr lang="en-US"/>
                      <m:t>: </m:t>
                    </m:r>
                    <m:r>
                      <m:rPr>
                        <m:nor/>
                      </m:rPr>
                      <a:rPr lang="en-US"/>
                      <m:t>combined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acoustic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and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optical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scale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factor</m:t>
                    </m:r>
                    <m:r>
                      <m:rPr>
                        <m:nor/>
                      </m:rPr>
                      <a:rPr lang="en-US"/>
                      <m:t>.</m:t>
                    </m:r>
                  </m:oMath>
                </a14:m>
                <a:endParaRPr lang="en-IL" dirty="0"/>
              </a:p>
              <a:p>
                <a:pPr marL="0" indent="0">
                  <a:buNone/>
                </a:pPr>
                <a:endParaRPr lang="en-IL" dirty="0"/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2082ED3D-1D4C-9ADB-AC6A-B2D19FACDD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000" y="2484000"/>
                <a:ext cx="10792800" cy="4140000"/>
              </a:xfrm>
              <a:prstGeom prst="rect">
                <a:avLst/>
              </a:prstGeom>
              <a:blipFill>
                <a:blip r:embed="rId3"/>
                <a:stretch>
                  <a:fillRect l="-1129" t="-2500"/>
                </a:stretch>
              </a:blipFill>
            </p:spPr>
            <p:txBody>
              <a:bodyPr/>
              <a:lstStyle/>
              <a:p>
                <a:r>
                  <a:rPr lang="en-I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3095908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C2169B-E647-5200-CC15-018A97C6F0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CC09C5-878D-A6A2-853C-CF381878BB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58581"/>
            <a:ext cx="10515600" cy="646688"/>
          </a:xfrm>
        </p:spPr>
        <p:txBody>
          <a:bodyPr>
            <a:normAutofit/>
          </a:bodyPr>
          <a:lstStyle/>
          <a:p>
            <a:r>
              <a:rPr lang="en-US" sz="3200" dirty="0"/>
              <a:t>Mode Frequency Estimation</a:t>
            </a:r>
            <a:endParaRPr lang="en-IL" sz="3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D6D7C16-C954-A941-6021-9DCD8C09F74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06000" y="953289"/>
                <a:ext cx="10515600" cy="810712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IL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en-IL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IL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en-IL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IL" i="1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IL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e>
                        <m:sub>
                          <m:r>
                            <a:rPr lang="en-IL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IL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IL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IL" i="1">
                              <a:latin typeface="Cambria Math" panose="02040503050406030204" pitchFamily="18" charset="0"/>
                            </a:rPr>
                            <m:t>𝐾</m:t>
                          </m:r>
                        </m:sup>
                      </m:sSubSup>
                      <m:r>
                        <a:rPr lang="en-IL">
                          <a:latin typeface="Cambria Math" panose="02040503050406030204" pitchFamily="18" charset="0"/>
                        </a:rPr>
                        <m:t>←</m:t>
                      </m:r>
                      <m:r>
                        <m:rPr>
                          <m:sty m:val="p"/>
                        </m:rPr>
                        <a:rPr lang="en-IL">
                          <a:latin typeface="Cambria Math" panose="02040503050406030204" pitchFamily="18" charset="0"/>
                        </a:rPr>
                        <m:t>robust</m:t>
                      </m:r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_</m:t>
                      </m:r>
                      <m:r>
                        <m:rPr>
                          <m:sty m:val="p"/>
                        </m:rPr>
                        <a:rPr lang="en-IL">
                          <a:latin typeface="Cambria Math" panose="02040503050406030204" pitchFamily="18" charset="0"/>
                        </a:rPr>
                        <m:t>find</m:t>
                      </m:r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_</m:t>
                      </m:r>
                      <m:r>
                        <m:rPr>
                          <m:sty m:val="p"/>
                        </m:rPr>
                        <a:rPr lang="en-IL">
                          <a:latin typeface="Cambria Math" panose="02040503050406030204" pitchFamily="18" charset="0"/>
                        </a:rPr>
                        <m:t>peaks</m:t>
                      </m:r>
                      <m:d>
                        <m:dPr>
                          <m:ctrlPr>
                            <a:rPr lang="en-IL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IL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IL" b="1" i="1">
                                  <a:latin typeface="Cambria Math" panose="02040503050406030204" pitchFamily="18" charset="0"/>
                                </a:rPr>
                                <m:t>𝑽</m:t>
                              </m:r>
                              <m:r>
                                <a:rPr lang="en-IL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IL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IL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en-IL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IL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IL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en-IL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IL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D6D7C16-C954-A941-6021-9DCD8C09F74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06000" y="953289"/>
                <a:ext cx="10515600" cy="810712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I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2082ED3D-1D4C-9ADB-AC6A-B2D19FACDD9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71000" y="2484000"/>
                <a:ext cx="11520000" cy="414000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dirty="0"/>
                  <a:t>Description of terms:</a:t>
                </a:r>
                <a:endParaRPr lang="en-IL" dirty="0"/>
              </a:p>
              <a:p>
                <a:pPr lvl="0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		</m:t>
                    </m:r>
                    <m:sSub>
                      <m:sSubPr>
                        <m:ctrlPr>
                          <a:rPr lang="en-IL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IL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IL" i="1"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</m:acc>
                      </m:e>
                      <m:sub>
                        <m:r>
                          <a:rPr lang="en-IL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m:rPr>
                        <m:nor/>
                      </m:rPr>
                      <a:rPr lang="en-US"/>
                      <m:t>: </m:t>
                    </m:r>
                    <m:r>
                      <m:rPr>
                        <m:nor/>
                      </m:rPr>
                      <a:rPr lang="en-US"/>
                      <m:t>estimated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natural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frequency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of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the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a:rPr lang="en-IL" i="1">
                        <a:latin typeface="Cambria Math" panose="02040503050406030204" pitchFamily="18" charset="0"/>
                      </a:rPr>
                      <m:t>𝑘</m:t>
                    </m:r>
                    <m:r>
                      <m:rPr>
                        <m:nor/>
                      </m:rPr>
                      <a:rPr lang="en-US"/>
                      <m:t>−</m:t>
                    </m:r>
                    <m:r>
                      <m:rPr>
                        <m:nor/>
                      </m:rPr>
                      <a:rPr lang="en-US"/>
                      <m:t>th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mode</m:t>
                    </m:r>
                    <m:r>
                      <m:rPr>
                        <m:nor/>
                      </m:rPr>
                      <a:rPr lang="en-US"/>
                      <m:t>.</m:t>
                    </m:r>
                  </m:oMath>
                </a14:m>
                <a:endParaRPr lang="en-IL" dirty="0"/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IL">
                        <a:latin typeface="Cambria Math" panose="02040503050406030204" pitchFamily="18" charset="0"/>
                      </a:rPr>
                      <m:t>robustfindpeaks</m:t>
                    </m:r>
                    <m:r>
                      <a:rPr lang="en-IL">
                        <a:latin typeface="Cambria Math" panose="02040503050406030204" pitchFamily="18" charset="0"/>
                      </a:rPr>
                      <m:t>(⋅)</m:t>
                    </m:r>
                    <m:r>
                      <m:rPr>
                        <m:nor/>
                      </m:rPr>
                      <a:rPr lang="en-US"/>
                      <m:t>: </m:t>
                    </m:r>
                    <m:r>
                      <m:rPr>
                        <m:nor/>
                      </m:rPr>
                      <a:rPr lang="en-US"/>
                      <m:t>robust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peak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detection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procedure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used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to</m:t>
                    </m:r>
                    <m:r>
                      <m:rPr>
                        <m:nor/>
                      </m:rPr>
                      <a:rPr lang="en-US"/>
                      <m:t> </m:t>
                    </m:r>
                  </m:oMath>
                </a14:m>
                <a:endParaRPr lang="en-US" dirty="0"/>
              </a:p>
              <a:p>
                <a:pPr marL="0" lvl="0" indent="0">
                  <a:buNone/>
                </a:pPr>
                <a:r>
                  <a:rPr lang="en-US" dirty="0"/>
                  <a:t>                                             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/>
                      <m:t>identify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modal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frequencies</m:t>
                    </m:r>
                    <m:r>
                      <m:rPr>
                        <m:nor/>
                      </m:rPr>
                      <a:rPr lang="en-US"/>
                      <m:t>.</m:t>
                    </m:r>
                  </m:oMath>
                </a14:m>
                <a:endParaRPr lang="en-IL" dirty="0"/>
              </a:p>
              <a:p>
                <a:pPr lvl="0"/>
                <a14:m>
                  <m:oMath xmlns:m="http://schemas.openxmlformats.org/officeDocument/2006/math">
                    <m:r>
                      <a:rPr lang="en-IL">
                        <a:latin typeface="Cambria Math" panose="02040503050406030204" pitchFamily="18" charset="0"/>
                      </a:rPr>
                      <m:t>|</m:t>
                    </m:r>
                    <m:r>
                      <a:rPr lang="en-IL" b="1" i="1">
                        <a:latin typeface="Cambria Math" panose="02040503050406030204" pitchFamily="18" charset="0"/>
                      </a:rPr>
                      <m:t>𝑽</m:t>
                    </m:r>
                    <m:r>
                      <a:rPr lang="en-IL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IL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L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IL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IL">
                        <a:latin typeface="Cambria Math" panose="02040503050406030204" pitchFamily="18" charset="0"/>
                      </a:rPr>
                      <m:t>,</m:t>
                    </m:r>
                    <m:r>
                      <a:rPr lang="en-IL" i="1">
                        <a:latin typeface="Cambria Math" panose="02040503050406030204" pitchFamily="18" charset="0"/>
                      </a:rPr>
                      <m:t>𝜔</m:t>
                    </m:r>
                    <m:r>
                      <a:rPr lang="en-IL">
                        <a:latin typeface="Cambria Math" panose="02040503050406030204" pitchFamily="18" charset="0"/>
                      </a:rPr>
                      <m:t>)|</m:t>
                    </m:r>
                    <m:r>
                      <m:rPr>
                        <m:nor/>
                      </m:rPr>
                      <a:rPr lang="en-US"/>
                      <m:t>: </m:t>
                    </m:r>
                    <m:r>
                      <m:rPr>
                        <m:nor/>
                      </m:rPr>
                      <a:rPr lang="en-US"/>
                      <m:t>magnitude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spectrum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of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the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measured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vibration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signal</m:t>
                    </m:r>
                    <m:r>
                      <m:rPr>
                        <m:nor/>
                      </m:rPr>
                      <a:rPr lang="en-US"/>
                      <m:t>.</m:t>
                    </m:r>
                  </m:oMath>
                </a14:m>
                <a:endParaRPr lang="en-IL" dirty="0"/>
              </a:p>
              <a:p>
                <a:pPr marL="0" indent="0">
                  <a:buNone/>
                </a:pPr>
                <a:endParaRPr lang="en-IL" dirty="0"/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2082ED3D-1D4C-9ADB-AC6A-B2D19FACDD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000" y="2484000"/>
                <a:ext cx="11520000" cy="4140000"/>
              </a:xfrm>
              <a:prstGeom prst="rect">
                <a:avLst/>
              </a:prstGeom>
              <a:blipFill>
                <a:blip r:embed="rId3"/>
                <a:stretch>
                  <a:fillRect l="-1058" t="-2500"/>
                </a:stretch>
              </a:blipFill>
            </p:spPr>
            <p:txBody>
              <a:bodyPr/>
              <a:lstStyle/>
              <a:p>
                <a:r>
                  <a:rPr lang="en-I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228897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C2169B-E647-5200-CC15-018A97C6F0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CC09C5-878D-A6A2-853C-CF381878BB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58581"/>
            <a:ext cx="10515600" cy="646688"/>
          </a:xfrm>
        </p:spPr>
        <p:txBody>
          <a:bodyPr>
            <a:normAutofit/>
          </a:bodyPr>
          <a:lstStyle/>
          <a:p>
            <a:r>
              <a:rPr lang="en-US" sz="3200" dirty="0"/>
              <a:t>Mode Shape Gradient Estimation</a:t>
            </a:r>
            <a:endParaRPr lang="en-IL" sz="3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D6D7C16-C954-A941-6021-9DCD8C09F74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09112" y="888281"/>
                <a:ext cx="10515600" cy="121571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IL">
                          <a:latin typeface="Cambria Math" panose="02040503050406030204" pitchFamily="18" charset="0"/>
                        </a:rPr>
                        <m:t>∇</m:t>
                      </m:r>
                      <m:sSub>
                        <m:sSubPr>
                          <m:ctrlPr>
                            <a:rPr lang="en-IL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IL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IL" i="1">
                                  <a:latin typeface="Cambria Math" panose="02040503050406030204" pitchFamily="18" charset="0"/>
                                </a:rPr>
                                <m:t>𝜙</m:t>
                              </m:r>
                            </m:e>
                          </m:acc>
                        </m:e>
                        <m:sub>
                          <m:r>
                            <a:rPr lang="en-IL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IL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IL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L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IL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IL">
                          <a:latin typeface="Cambria Math" panose="02040503050406030204" pitchFamily="18" charset="0"/>
                        </a:rPr>
                        <m:t>)=</m:t>
                      </m:r>
                      <m:r>
                        <m:rPr>
                          <m:sty m:val="p"/>
                        </m:rPr>
                        <a:rPr lang="en-IL">
                          <a:latin typeface="Cambria Math" panose="02040503050406030204" pitchFamily="18" charset="0"/>
                        </a:rPr>
                        <m:t>Re</m:t>
                      </m:r>
                      <m:d>
                        <m:dPr>
                          <m:begChr m:val="{"/>
                          <m:endChr m:val="}"/>
                          <m:ctrlPr>
                            <a:rPr lang="en-IL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IL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IL" b="1" i="1">
                                  <a:latin typeface="Cambria Math" panose="02040503050406030204" pitchFamily="18" charset="0"/>
                                </a:rPr>
                                <m:t>𝑽</m:t>
                              </m:r>
                              <m:r>
                                <a:rPr lang="en-IL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IL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IL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en-IL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IL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IL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en-IL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IL" i="1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IL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IL">
                                  <a:latin typeface="Cambria Math" panose="02040503050406030204" pitchFamily="18" charset="0"/>
                                </a:rPr>
                                <m:t>)⋅</m:t>
                              </m:r>
                              <m:sSub>
                                <m:sSubPr>
                                  <m:ctrlPr>
                                    <a:rPr lang="en-IL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IL" i="1">
                                      <a:latin typeface="Cambria Math" panose="02040503050406030204" pitchFamily="18" charset="0"/>
                                    </a:rPr>
                                    <m:t>𝑉</m:t>
                                  </m:r>
                                </m:e>
                                <m:sub>
                                  <m:r>
                                    <a:rPr lang="en-IL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IL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IL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IL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en-IL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IL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IL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en-IL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IL" i="1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IL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sSup>
                                <m:sSupPr>
                                  <m:ctrlPr>
                                    <a:rPr lang="en-IL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IL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en-IL"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</m:sup>
                              </m:sSup>
                            </m:num>
                            <m:den>
                              <m:sSub>
                                <m:sSubPr>
                                  <m:ctrlPr>
                                    <a:rPr lang="en-IL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IL">
                                      <a:latin typeface="Cambria Math" panose="02040503050406030204" pitchFamily="18" charset="0"/>
                                    </a:rPr>
                                    <m:t>𝔼</m:t>
                                  </m:r>
                                </m:e>
                                <m:sub>
                                  <m:r>
                                    <a:rPr lang="en-IL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IL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IL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IL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IL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IL" b="1" i="1">
                                          <a:latin typeface="Cambria Math" panose="02040503050406030204" pitchFamily="18" charset="0"/>
                                        </a:rPr>
                                        <m:t>𝑽</m:t>
                                      </m:r>
                                      <m:r>
                                        <a:rPr lang="en-IL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sSub>
                                        <m:sSubPr>
                                          <m:ctrlPr>
                                            <a:rPr lang="en-IL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IL" b="1" i="1">
                                              <a:latin typeface="Cambria Math" panose="02040503050406030204" pitchFamily="18" charset="0"/>
                                            </a:rPr>
                                            <m:t>𝒙</m:t>
                                          </m:r>
                                        </m:e>
                                        <m:sub>
                                          <m:r>
                                            <a:rPr lang="en-IL" i="1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  <m:r>
                                        <a:rPr lang="en-IL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sSub>
                                        <m:sSubPr>
                                          <m:ctrlPr>
                                            <a:rPr lang="en-IL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acc>
                                            <m:accPr>
                                              <m:chr m:val="̂"/>
                                              <m:ctrlPr>
                                                <a:rPr lang="en-IL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lang="en-IL" i="1">
                                                  <a:latin typeface="Cambria Math" panose="02040503050406030204" pitchFamily="18" charset="0"/>
                                                </a:rPr>
                                                <m:t>𝜔</m:t>
                                              </m:r>
                                            </m:e>
                                          </m:acc>
                                        </m:e>
                                        <m:sub>
                                          <m:r>
                                            <a:rPr lang="en-IL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  <m:r>
                                        <a:rPr lang="en-IL"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e>
                                  </m:d>
                                </m:e>
                              </m:d>
                              <m:r>
                                <a:rPr lang="en-IL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IL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IL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IL" i="1">
                                          <a:latin typeface="Cambria Math" panose="02040503050406030204" pitchFamily="18" charset="0"/>
                                        </a:rPr>
                                        <m:t>𝑉</m:t>
                                      </m:r>
                                    </m:e>
                                    <m:sub>
                                      <m:r>
                                        <a:rPr lang="en-IL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en-IL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sSub>
                                    <m:sSubPr>
                                      <m:ctrlPr>
                                        <a:rPr lang="en-IL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IL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r>
                                        <a:rPr lang="en-IL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  <m:r>
                                    <a:rPr lang="en-IL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IL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̂"/>
                                          <m:ctrlPr>
                                            <a:rPr lang="en-IL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IL" i="1">
                                              <a:latin typeface="Cambria Math" panose="02040503050406030204" pitchFamily="18" charset="0"/>
                                            </a:rPr>
                                            <m:t>𝜔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IL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  <m:r>
                                    <a:rPr lang="en-IL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d>
                            </m:den>
                          </m:f>
                        </m:e>
                      </m:d>
                    </m:oMath>
                  </m:oMathPara>
                </a14:m>
                <a:endParaRPr lang="en-IL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D6D7C16-C954-A941-6021-9DCD8C09F74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09112" y="888281"/>
                <a:ext cx="10515600" cy="1215711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I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2082ED3D-1D4C-9ADB-AC6A-B2D19FACDD9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71000" y="2484000"/>
                <a:ext cx="11520000" cy="414000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dirty="0"/>
                  <a:t>Description of terms:</a:t>
                </a:r>
                <a:endParaRPr lang="en-IL" dirty="0"/>
              </a:p>
              <a:p>
                <a:pPr lvl="0"/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		</m:t>
                    </m:r>
                    <m:r>
                      <a:rPr lang="el-GR" i="1">
                        <a:latin typeface="Cambria Math" panose="02040503050406030204" pitchFamily="18" charset="0"/>
                      </a:rPr>
                      <m:t>	</m:t>
                    </m:r>
                    <m:r>
                      <m:rPr>
                        <m:sty m:val="p"/>
                      </m:rPr>
                      <a:rPr lang="en-IL">
                        <a:latin typeface="Cambria Math" panose="02040503050406030204" pitchFamily="18" charset="0"/>
                      </a:rPr>
                      <m:t>∇</m:t>
                    </m:r>
                    <m:sSub>
                      <m:sSubPr>
                        <m:ctrlPr>
                          <a:rPr lang="en-IL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IL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IL" i="1">
                                <a:latin typeface="Cambria Math" panose="02040503050406030204" pitchFamily="18" charset="0"/>
                              </a:rPr>
                              <m:t>𝜙</m:t>
                            </m:r>
                          </m:e>
                        </m:acc>
                      </m:e>
                      <m:sub>
                        <m:r>
                          <a:rPr lang="en-IL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IL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IL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L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IL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IL">
                        <a:latin typeface="Cambria Math" panose="02040503050406030204" pitchFamily="18" charset="0"/>
                      </a:rPr>
                      <m:t>)</m:t>
                    </m:r>
                    <m:r>
                      <m:rPr>
                        <m:nor/>
                      </m:rPr>
                      <a:rPr lang="en-US"/>
                      <m:t>: </m:t>
                    </m:r>
                    <m:r>
                      <m:rPr>
                        <m:nor/>
                      </m:rPr>
                      <a:rPr lang="en-US"/>
                      <m:t>estimated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gradient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of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the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a:rPr lang="en-IL" i="1">
                        <a:latin typeface="Cambria Math" panose="02040503050406030204" pitchFamily="18" charset="0"/>
                      </a:rPr>
                      <m:t>𝑘</m:t>
                    </m:r>
                    <m:r>
                      <m:rPr>
                        <m:nor/>
                      </m:rPr>
                      <a:rPr lang="en-US"/>
                      <m:t>−</m:t>
                    </m:r>
                    <m:r>
                      <m:rPr>
                        <m:nor/>
                      </m:rPr>
                      <a:rPr lang="en-US"/>
                      <m:t>th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mode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shape</m:t>
                    </m:r>
                    <m:r>
                      <m:rPr>
                        <m:nor/>
                      </m:rPr>
                      <a:rPr lang="en-US" b="0" i="0" smtClean="0"/>
                      <m:t> </m:t>
                    </m:r>
                    <m:r>
                      <m:rPr>
                        <m:nor/>
                      </m:rPr>
                      <a:rPr lang="en-US"/>
                      <m:t>at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point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sSub>
                      <m:sSubPr>
                        <m:ctrlPr>
                          <a:rPr lang="en-IL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L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IL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m:rPr>
                        <m:nor/>
                      </m:rPr>
                      <a:rPr lang="en-US"/>
                      <m:t>.</m:t>
                    </m:r>
                  </m:oMath>
                </a14:m>
                <a:endParaRPr lang="en-IL" dirty="0"/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IL">
                        <a:latin typeface="Cambria Math" panose="02040503050406030204" pitchFamily="18" charset="0"/>
                      </a:rPr>
                      <m:t>Re</m:t>
                    </m:r>
                    <m:r>
                      <a:rPr lang="en-IL">
                        <a:latin typeface="Cambria Math" panose="02040503050406030204" pitchFamily="18" charset="0"/>
                      </a:rPr>
                      <m:t>{⋅}</m:t>
                    </m:r>
                    <m:r>
                      <m:rPr>
                        <m:nor/>
                      </m:rPr>
                      <a:rPr lang="en-US"/>
                      <m:t>: </m:t>
                    </m:r>
                    <m:r>
                      <m:rPr>
                        <m:nor/>
                      </m:rPr>
                      <a:rPr lang="en-US"/>
                      <m:t>real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part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operator</m:t>
                    </m:r>
                    <m:r>
                      <m:rPr>
                        <m:nor/>
                      </m:rPr>
                      <a:rPr lang="en-US"/>
                      <m:t>.</m:t>
                    </m:r>
                  </m:oMath>
                </a14:m>
                <a:endParaRPr lang="en-IL" dirty="0"/>
              </a:p>
              <a:p>
                <a:pPr lvl="0"/>
                <a14:m>
                  <m:oMath xmlns:m="http://schemas.openxmlformats.org/officeDocument/2006/math">
                    <m:r>
                      <a:rPr lang="en-IL" b="1" i="1">
                        <a:latin typeface="Cambria Math" panose="02040503050406030204" pitchFamily="18" charset="0"/>
                      </a:rPr>
                      <m:t>𝑽</m:t>
                    </m:r>
                    <m:r>
                      <a:rPr lang="en-IL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IL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L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IL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IL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IL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IL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IL" i="1"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</m:acc>
                      </m:e>
                      <m:sub>
                        <m:r>
                          <a:rPr lang="en-IL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IL">
                        <a:latin typeface="Cambria Math" panose="02040503050406030204" pitchFamily="18" charset="0"/>
                      </a:rPr>
                      <m:t>)</m:t>
                    </m:r>
                    <m:r>
                      <m:rPr>
                        <m:nor/>
                      </m:rPr>
                      <a:rPr lang="en-US"/>
                      <m:t>: </m:t>
                    </m:r>
                    <m:r>
                      <m:rPr>
                        <m:nor/>
                      </m:rPr>
                      <a:rPr lang="en-US"/>
                      <m:t>measured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vibration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spectrum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at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the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estimated</m:t>
                    </m:r>
                    <m:r>
                      <m:rPr>
                        <m:nor/>
                      </m:rPr>
                      <a:rPr lang="en-US"/>
                      <m:t> </m:t>
                    </m:r>
                  </m:oMath>
                </a14:m>
                <a:endParaRPr lang="en-US" dirty="0"/>
              </a:p>
              <a:p>
                <a:pPr marL="0" lvl="0" indent="0">
                  <a:buNone/>
                </a:pPr>
                <a:r>
                  <a:rPr lang="en-US" dirty="0"/>
                  <a:t>                          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/>
                      <m:t>modal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frequency</m:t>
                    </m:r>
                    <m:r>
                      <m:rPr>
                        <m:nor/>
                      </m:rPr>
                      <a:rPr lang="en-US"/>
                      <m:t>.</m:t>
                    </m:r>
                  </m:oMath>
                </a14:m>
                <a:endParaRPr lang="en-IL" dirty="0"/>
              </a:p>
              <a:p>
                <a:pPr lvl="0"/>
                <a14:m>
                  <m:oMath xmlns:m="http://schemas.openxmlformats.org/officeDocument/2006/math">
                    <m:sSub>
                      <m:sSubPr>
                        <m:ctrlPr>
                          <a:rPr lang="en-IL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L" i="1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IL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IL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IL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L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IL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IL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IL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IL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IL" i="1"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</m:acc>
                      </m:e>
                      <m:sub>
                        <m:r>
                          <a:rPr lang="en-IL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IL">
                        <a:latin typeface="Cambria Math" panose="02040503050406030204" pitchFamily="18" charset="0"/>
                      </a:rPr>
                      <m:t>)</m:t>
                    </m:r>
                    <m:r>
                      <m:rPr>
                        <m:nor/>
                      </m:rPr>
                      <a:rPr lang="en-US"/>
                      <m:t>: </m:t>
                    </m:r>
                    <m:r>
                      <m:rPr>
                        <m:nor/>
                      </m:rPr>
                      <a:rPr lang="en-US"/>
                      <m:t>first</m:t>
                    </m:r>
                    <m:r>
                      <m:rPr>
                        <m:nor/>
                      </m:rPr>
                      <a:rPr lang="en-US"/>
                      <m:t>−</m:t>
                    </m:r>
                    <m:r>
                      <m:rPr>
                        <m:nor/>
                      </m:rPr>
                      <a:rPr lang="en-US"/>
                      <m:t>axis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vibration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measurement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at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reference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point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sSub>
                      <m:sSubPr>
                        <m:ctrlPr>
                          <a:rPr lang="en-IL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L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IL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m:rPr>
                        <m:nor/>
                      </m:rPr>
                      <a:rPr lang="en-US"/>
                      <m:t>.</m:t>
                    </m:r>
                  </m:oMath>
                </a14:m>
                <a:endParaRPr lang="en-IL" dirty="0"/>
              </a:p>
              <a:p>
                <a:pPr lvl="0"/>
                <a14:m>
                  <m:oMath xmlns:m="http://schemas.openxmlformats.org/officeDocument/2006/math">
                    <m:r>
                      <a:rPr lang="en-IL">
                        <a:latin typeface="Cambria Math" panose="02040503050406030204" pitchFamily="18" charset="0"/>
                      </a:rPr>
                      <m:t>(⋅</m:t>
                    </m:r>
                    <m:sSup>
                      <m:sSupPr>
                        <m:ctrlPr>
                          <a:rPr lang="en-IL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IL"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en-IL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m:rPr>
                        <m:nor/>
                      </m:rPr>
                      <a:rPr lang="en-US"/>
                      <m:t>: </m:t>
                    </m:r>
                    <m:r>
                      <m:rPr>
                        <m:nor/>
                      </m:rPr>
                      <a:rPr lang="en-US"/>
                      <m:t>complex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conjugate</m:t>
                    </m:r>
                    <m:r>
                      <m:rPr>
                        <m:nor/>
                      </m:rPr>
                      <a:rPr lang="en-US"/>
                      <m:t>.</m:t>
                    </m:r>
                  </m:oMath>
                </a14:m>
                <a:endParaRPr lang="en-IL" dirty="0"/>
              </a:p>
              <a:p>
                <a:pPr lvl="0"/>
                <a14:m>
                  <m:oMath xmlns:m="http://schemas.openxmlformats.org/officeDocument/2006/math">
                    <m:sSub>
                      <m:sSubPr>
                        <m:ctrlPr>
                          <a:rPr lang="en-IL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L">
                            <a:latin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en-IL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IL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IL" i="1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r>
                      <a:rPr lang="en-IL">
                        <a:latin typeface="Cambria Math" panose="02040503050406030204" pitchFamily="18" charset="0"/>
                      </a:rPr>
                      <m:t>[⋅]</m:t>
                    </m:r>
                    <m:r>
                      <m:rPr>
                        <m:nor/>
                      </m:rPr>
                      <a:rPr lang="en-US"/>
                      <m:t>: </m:t>
                    </m:r>
                    <m:r>
                      <m:rPr>
                        <m:nor/>
                      </m:rPr>
                      <a:rPr lang="en-US"/>
                      <m:t>average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over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all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points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a:rPr lang="en-IL" i="1">
                        <a:latin typeface="Cambria Math" panose="02040503050406030204" pitchFamily="18" charset="0"/>
                      </a:rPr>
                      <m:t>𝑛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and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vibration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axes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a:rPr lang="en-IL" i="1">
                        <a:latin typeface="Cambria Math" panose="02040503050406030204" pitchFamily="18" charset="0"/>
                      </a:rPr>
                      <m:t>𝑎</m:t>
                    </m:r>
                    <m:r>
                      <m:rPr>
                        <m:nor/>
                      </m:rPr>
                      <a:rPr lang="en-US"/>
                      <m:t>.</m:t>
                    </m:r>
                  </m:oMath>
                </a14:m>
                <a:endParaRPr lang="en-IL" dirty="0"/>
              </a:p>
              <a:p>
                <a:pPr marL="0" indent="0">
                  <a:buNone/>
                </a:pPr>
                <a:endParaRPr lang="en-IL" dirty="0"/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2082ED3D-1D4C-9ADB-AC6A-B2D19FACDD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000" y="2484000"/>
                <a:ext cx="11520000" cy="4140000"/>
              </a:xfrm>
              <a:prstGeom prst="rect">
                <a:avLst/>
              </a:prstGeom>
              <a:blipFill>
                <a:blip r:embed="rId3"/>
                <a:stretch>
                  <a:fillRect l="-1058" t="-2500"/>
                </a:stretch>
              </a:blipFill>
            </p:spPr>
            <p:txBody>
              <a:bodyPr/>
              <a:lstStyle/>
              <a:p>
                <a:r>
                  <a:rPr lang="en-I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0937572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C2169B-E647-5200-CC15-018A97C6F0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CC09C5-878D-A6A2-853C-CF381878BB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58581"/>
            <a:ext cx="10515600" cy="646688"/>
          </a:xfrm>
        </p:spPr>
        <p:txBody>
          <a:bodyPr>
            <a:normAutofit/>
          </a:bodyPr>
          <a:lstStyle/>
          <a:p>
            <a:r>
              <a:rPr lang="en-US" sz="3200" dirty="0"/>
              <a:t>Sound Recovery Optimization</a:t>
            </a:r>
            <a:endParaRPr lang="en-IL" sz="3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D6D7C16-C954-A941-6021-9DCD8C09F74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09112" y="888281"/>
                <a:ext cx="10515600" cy="1215711"/>
              </a:xfrm>
            </p:spPr>
            <p:txBody>
              <a:bodyPr>
                <a:normAutofit fontScale="85000" lnSpcReduction="1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IL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̂"/>
                              <m:ctrlPr>
                                <a:rPr lang="en-IL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IL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acc>
                        </m:e>
                        <m:sup>
                          <m:r>
                            <m:rPr>
                              <m:sty m:val="p"/>
                            </m:rPr>
                            <a:rPr lang="en-IL">
                              <a:latin typeface="Cambria Math" panose="02040503050406030204" pitchFamily="18" charset="0"/>
                            </a:rPr>
                            <m:t>inv</m:t>
                          </m:r>
                        </m:sup>
                      </m:sSup>
                      <m:r>
                        <a:rPr lang="en-IL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IL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IL">
                          <a:latin typeface="Cambria Math" panose="02040503050406030204" pitchFamily="18" charset="0"/>
                        </a:rPr>
                        <m:t>)=</m:t>
                      </m:r>
                      <m:r>
                        <m:rPr>
                          <m:sty m:val="p"/>
                        </m:rPr>
                        <a:rPr lang="en-IL">
                          <a:latin typeface="Cambria Math" panose="02040503050406030204" pitchFamily="18" charset="0"/>
                        </a:rPr>
                        <m:t>arg</m:t>
                      </m:r>
                      <m:limLow>
                        <m:limLowPr>
                          <m:ctrlPr>
                            <a:rPr lang="en-IL" i="1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IL">
                              <a:latin typeface="Cambria Math" panose="02040503050406030204" pitchFamily="18" charset="0"/>
                            </a:rPr>
                            <m:t>min</m:t>
                          </m:r>
                        </m:e>
                        <m:lim>
                          <m:r>
                            <a:rPr lang="en-IL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IL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IL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IL">
                              <a:latin typeface="Cambria Math" panose="02040503050406030204" pitchFamily="18" charset="0"/>
                            </a:rPr>
                            <m:t>),</m:t>
                          </m:r>
                          <m:sSub>
                            <m:sSubPr>
                              <m:ctrlPr>
                                <a:rPr lang="en-IL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IL" i="1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IL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lim>
                      </m:limLow>
                      <m:sSubSup>
                        <m:sSubSupPr>
                          <m:ctrlPr>
                            <a:rPr lang="en-IL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d>
                            <m:dPr>
                              <m:begChr m:val="∥"/>
                              <m:endChr m:val="∥"/>
                              <m:ctrlPr>
                                <a:rPr lang="en-IL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IL" b="1" i="1">
                                  <a:latin typeface="Cambria Math" panose="02040503050406030204" pitchFamily="18" charset="0"/>
                                </a:rPr>
                                <m:t>𝒗</m:t>
                              </m:r>
                              <m:r>
                                <a:rPr lang="en-IL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IL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IL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en-IL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IL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IL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IL">
                                  <a:latin typeface="Cambria Math" panose="02040503050406030204" pitchFamily="18" charset="0"/>
                                </a:rPr>
                                <m:t>)−</m:t>
                              </m:r>
                              <m:nary>
                                <m:naryPr>
                                  <m:chr m:val="∑"/>
                                  <m:limLoc m:val="undOvr"/>
                                  <m:ctrlPr>
                                    <a:rPr lang="en-IL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a:rPr lang="en-IL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en-IL">
                                      <a:latin typeface="Cambria Math" panose="02040503050406030204" pitchFamily="18" charset="0"/>
                                    </a:rPr>
                                    <m:t>=</m:t>
                                  </m:r>
                                  <m:r>
                                    <a:rPr lang="en-IL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en-IL" i="1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sup>
                                <m:e>
                                  <m:r>
                                    <m:rPr>
                                      <m:sty m:val="p"/>
                                    </m:rPr>
                                    <a:rPr lang="en-IL">
                                      <a:latin typeface="Cambria Math" panose="02040503050406030204" pitchFamily="18" charset="0"/>
                                    </a:rPr>
                                    <m:t>∇</m:t>
                                  </m:r>
                                </m:e>
                              </m:nary>
                              <m:sSub>
                                <m:sSubPr>
                                  <m:ctrlPr>
                                    <a:rPr lang="en-IL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en-IL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IL" i="1"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IL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IL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IL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IL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en-IL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IL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d>
                                <m:dPr>
                                  <m:ctrlPr>
                                    <a:rPr lang="en-IL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IL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  <m:r>
                                    <a:rPr lang="en-IL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IL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IL">
                                      <a:latin typeface="Cambria Math" panose="02040503050406030204" pitchFamily="18" charset="0"/>
                                    </a:rPr>
                                    <m:t>)∗</m:t>
                                  </m:r>
                                  <m:sSub>
                                    <m:sSubPr>
                                      <m:ctrlPr>
                                        <a:rPr lang="en-IL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̂"/>
                                          <m:ctrlPr>
                                            <a:rPr lang="en-IL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IL" i="1">
                                              <a:latin typeface="Cambria Math" panose="02040503050406030204" pitchFamily="18" charset="0"/>
                                            </a:rPr>
                                            <m:t>𝑔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IL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  <m:r>
                                    <a:rPr lang="en-IL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IL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IL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d>
                            </m:e>
                          </m:d>
                        </m:e>
                        <m:sub>
                          <m:r>
                            <a:rPr lang="en-IL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IL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en-IL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IL" i="1">
                          <a:latin typeface="Cambria Math" panose="02040503050406030204" pitchFamily="18" charset="0"/>
                        </a:rPr>
                        <m:t>𝜆</m:t>
                      </m:r>
                      <m:sSubSup>
                        <m:sSubSupPr>
                          <m:ctrlPr>
                            <a:rPr lang="en-IL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d>
                            <m:dPr>
                              <m:begChr m:val="∥"/>
                              <m:endChr m:val="∥"/>
                              <m:ctrlPr>
                                <a:rPr lang="en-IL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̇"/>
                                  <m:ctrlPr>
                                    <a:rPr lang="en-IL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IL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acc>
                              <m:r>
                                <a:rPr lang="en-IL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IL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IL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d>
                        </m:e>
                        <m:sub>
                          <m:r>
                            <a:rPr lang="en-IL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IL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IL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D6D7C16-C954-A941-6021-9DCD8C09F74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09112" y="888281"/>
                <a:ext cx="10515600" cy="1215711"/>
              </a:xfrm>
              <a:blipFill>
                <a:blip r:embed="rId2"/>
                <a:stretch>
                  <a:fillRect t="-503"/>
                </a:stretch>
              </a:blipFill>
            </p:spPr>
            <p:txBody>
              <a:bodyPr/>
              <a:lstStyle/>
              <a:p>
                <a:r>
                  <a:rPr lang="en-I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2082ED3D-1D4C-9ADB-AC6A-B2D19FACDD9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71000" y="2484000"/>
                <a:ext cx="11520000" cy="414000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92500"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dirty="0"/>
                  <a:t>Description of terms:</a:t>
                </a:r>
                <a:endParaRPr lang="en-IL" dirty="0"/>
              </a:p>
              <a:p>
                <a:pPr lvl="0"/>
                <a14:m>
                  <m:oMath xmlns:m="http://schemas.openxmlformats.org/officeDocument/2006/math">
                    <m:sSup>
                      <m:sSupPr>
                        <m:ctrlPr>
                          <a:rPr lang="en-IL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̂"/>
                            <m:ctrlPr>
                              <a:rPr lang="en-IL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IL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acc>
                      </m:e>
                      <m:sup>
                        <m:r>
                          <m:rPr>
                            <m:sty m:val="p"/>
                          </m:rPr>
                          <a:rPr lang="en-IL">
                            <a:latin typeface="Cambria Math" panose="02040503050406030204" pitchFamily="18" charset="0"/>
                          </a:rPr>
                          <m:t>inv</m:t>
                        </m:r>
                      </m:sup>
                    </m:sSup>
                    <m:r>
                      <a:rPr lang="en-IL">
                        <a:latin typeface="Cambria Math" panose="02040503050406030204" pitchFamily="18" charset="0"/>
                      </a:rPr>
                      <m:t>(</m:t>
                    </m:r>
                    <m:r>
                      <a:rPr lang="en-IL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IL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: recovered source sound signal.</a:t>
                </a:r>
                <a:endParaRPr lang="en-IL" dirty="0"/>
              </a:p>
              <a:p>
                <a:pPr lvl="0"/>
                <a14:m>
                  <m:oMath xmlns:m="http://schemas.openxmlformats.org/officeDocument/2006/math">
                    <m:r>
                      <a:rPr lang="en-IL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IL">
                        <a:latin typeface="Cambria Math" panose="02040503050406030204" pitchFamily="18" charset="0"/>
                      </a:rPr>
                      <m:t>(</m:t>
                    </m:r>
                    <m:r>
                      <a:rPr lang="en-IL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IL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: latent sound signal optimized during recovery.</a:t>
                </a:r>
                <a:endParaRPr lang="en-IL" dirty="0"/>
              </a:p>
              <a:p>
                <a:pPr lvl="0"/>
                <a14:m>
                  <m:oMath xmlns:m="http://schemas.openxmlformats.org/officeDocument/2006/math">
                    <m:sSub>
                      <m:sSubPr>
                        <m:ctrlPr>
                          <a:rPr lang="en-IL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L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IL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dirty="0"/>
                  <a:t>: modal coupling coefficient optimized jointly with the signal.</a:t>
                </a:r>
                <a:endParaRPr lang="en-IL" dirty="0"/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IL">
                        <a:latin typeface="Cambria Math" panose="02040503050406030204" pitchFamily="18" charset="0"/>
                      </a:rPr>
                      <m:t>∇</m:t>
                    </m:r>
                    <m:sSub>
                      <m:sSubPr>
                        <m:ctrlPr>
                          <a:rPr lang="en-IL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IL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IL" i="1">
                                <a:latin typeface="Cambria Math" panose="02040503050406030204" pitchFamily="18" charset="0"/>
                              </a:rPr>
                              <m:t>𝜙</m:t>
                            </m:r>
                          </m:e>
                        </m:acc>
                      </m:e>
                      <m:sub>
                        <m:r>
                          <a:rPr lang="en-IL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IL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IL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L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IL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IL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: estimated gradient of the </a:t>
                </a:r>
                <a14:m>
                  <m:oMath xmlns:m="http://schemas.openxmlformats.org/officeDocument/2006/math">
                    <m:r>
                      <a:rPr lang="en-IL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-</a:t>
                </a:r>
                <a:r>
                  <a:rPr lang="en-US" dirty="0" err="1"/>
                  <a:t>th</a:t>
                </a:r>
                <a:r>
                  <a:rPr lang="en-US" dirty="0"/>
                  <a:t> mode shape.</a:t>
                </a:r>
                <a:endParaRPr lang="en-IL" dirty="0"/>
              </a:p>
              <a:p>
                <a:pPr lvl="0"/>
                <a14:m>
                  <m:oMath xmlns:m="http://schemas.openxmlformats.org/officeDocument/2006/math">
                    <m:sSub>
                      <m:sSubPr>
                        <m:ctrlPr>
                          <a:rPr lang="en-IL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IL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IL" i="1">
                                <a:latin typeface="Cambria Math" panose="02040503050406030204" pitchFamily="18" charset="0"/>
                              </a:rPr>
                              <m:t>𝑔</m:t>
                            </m:r>
                          </m:e>
                        </m:acc>
                      </m:e>
                      <m:sub>
                        <m:r>
                          <a:rPr lang="en-IL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IL">
                        <a:latin typeface="Cambria Math" panose="02040503050406030204" pitchFamily="18" charset="0"/>
                      </a:rPr>
                      <m:t>(</m:t>
                    </m:r>
                    <m:r>
                      <a:rPr lang="en-IL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IL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: estimated impulse response of the </a:t>
                </a:r>
                <a14:m>
                  <m:oMath xmlns:m="http://schemas.openxmlformats.org/officeDocument/2006/math">
                    <m:r>
                      <a:rPr lang="en-IL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-</a:t>
                </a:r>
                <a:r>
                  <a:rPr lang="en-US" dirty="0" err="1"/>
                  <a:t>th</a:t>
                </a:r>
                <a:r>
                  <a:rPr lang="en-US" dirty="0"/>
                  <a:t> mode.</a:t>
                </a:r>
                <a:endParaRPr lang="en-IL" dirty="0"/>
              </a:p>
              <a:p>
                <a:pPr lvl="0"/>
                <a14:m>
                  <m:oMath xmlns:m="http://schemas.openxmlformats.org/officeDocument/2006/math">
                    <m:r>
                      <a:rPr lang="en-IL" i="1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dirty="0"/>
                  <a:t>: regularization weight.</a:t>
                </a:r>
                <a:endParaRPr lang="en-IL" dirty="0"/>
              </a:p>
              <a:p>
                <a:pPr lvl="0"/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IL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IL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acc>
                    <m:r>
                      <a:rPr lang="en-IL">
                        <a:latin typeface="Cambria Math" panose="02040503050406030204" pitchFamily="18" charset="0"/>
                      </a:rPr>
                      <m:t>(</m:t>
                    </m:r>
                    <m:r>
                      <a:rPr lang="en-IL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IL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: temporal derivative of the recovered sound signal.</a:t>
                </a:r>
                <a:endParaRPr lang="en-IL" dirty="0"/>
              </a:p>
              <a:p>
                <a:pPr lvl="0"/>
                <a14:m>
                  <m:oMath xmlns:m="http://schemas.openxmlformats.org/officeDocument/2006/math">
                    <m:r>
                      <a:rPr lang="en-IL">
                        <a:latin typeface="Cambria Math" panose="02040503050406030204" pitchFamily="18" charset="0"/>
                      </a:rPr>
                      <m:t>∥⋅</m:t>
                    </m:r>
                    <m:sSubSup>
                      <m:sSubSupPr>
                        <m:ctrlPr>
                          <a:rPr lang="en-IL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IL">
                            <a:latin typeface="Cambria Math" panose="02040503050406030204" pitchFamily="18" charset="0"/>
                          </a:rPr>
                          <m:t>∥</m:t>
                        </m:r>
                      </m:e>
                      <m:sub>
                        <m:r>
                          <a:rPr lang="en-IL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IL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dirty="0"/>
                  <a:t>: squared Euclidean norm.</a:t>
                </a:r>
                <a:endParaRPr lang="en-IL" dirty="0"/>
              </a:p>
              <a:p>
                <a:pPr marL="0" indent="0">
                  <a:buNone/>
                </a:pPr>
                <a:endParaRPr lang="en-IL" dirty="0"/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2082ED3D-1D4C-9ADB-AC6A-B2D19FACDD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000" y="2484000"/>
                <a:ext cx="11520000" cy="4140000"/>
              </a:xfrm>
              <a:prstGeom prst="rect">
                <a:avLst/>
              </a:prstGeom>
              <a:blipFill>
                <a:blip r:embed="rId3"/>
                <a:stretch>
                  <a:fillRect l="-952" t="-2941" b="-441"/>
                </a:stretch>
              </a:blipFill>
            </p:spPr>
            <p:txBody>
              <a:bodyPr/>
              <a:lstStyle/>
              <a:p>
                <a:r>
                  <a:rPr lang="en-I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2387209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C2169B-E647-5200-CC15-018A97C6F0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CC09C5-878D-A6A2-853C-CF381878BB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58581"/>
            <a:ext cx="10515600" cy="646688"/>
          </a:xfrm>
        </p:spPr>
        <p:txBody>
          <a:bodyPr>
            <a:normAutofit/>
          </a:bodyPr>
          <a:lstStyle/>
          <a:p>
            <a:r>
              <a:rPr lang="en-US" sz="3200" dirty="0"/>
              <a:t>Total variation of a mode-shape gradient</a:t>
            </a:r>
            <a:endParaRPr lang="en-IL" sz="3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D6D7C16-C954-A941-6021-9DCD8C09F74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09112" y="888281"/>
                <a:ext cx="10515600" cy="121571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IL">
                          <a:latin typeface="Cambria Math" panose="02040503050406030204" pitchFamily="18" charset="0"/>
                        </a:rPr>
                        <m:t>TV</m:t>
                      </m:r>
                      <m:d>
                        <m:dPr>
                          <m:ctrlPr>
                            <a:rPr lang="en-IL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IL">
                              <a:latin typeface="Cambria Math" panose="02040503050406030204" pitchFamily="18" charset="0"/>
                            </a:rPr>
                            <m:t>∇</m:t>
                          </m:r>
                          <m:sSub>
                            <m:sSubPr>
                              <m:ctrlPr>
                                <a:rPr lang="en-IL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IL" i="1">
                                  <a:latin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en-IL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d>
                      <m:r>
                        <a:rPr lang="en-IL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IL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IL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IL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IL" i="1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  <m:sup>
                          <m:r>
                            <a:rPr lang="en-IL" i="1">
                              <a:latin typeface="Cambria Math" panose="02040503050406030204" pitchFamily="18" charset="0"/>
                            </a:rPr>
                            <m:t>​</m:t>
                          </m:r>
                        </m:sup>
                        <m:e>
                          <m:sSub>
                            <m:sSubPr>
                              <m:ctrlPr>
                                <a:rPr lang="en-IL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d>
                                <m:dPr>
                                  <m:begChr m:val="∥"/>
                                  <m:endChr m:val="∥"/>
                                  <m:ctrlPr>
                                    <a:rPr lang="en-IL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IL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IL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</m:num>
                                    <m:den>
                                      <m:r>
                                        <a:rPr lang="en-IL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r>
                                        <a:rPr lang="en-IL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den>
                                  </m:f>
                                  <m:r>
                                    <m:rPr>
                                      <m:sty m:val="p"/>
                                    </m:rPr>
                                    <a:rPr lang="en-IL">
                                      <a:latin typeface="Cambria Math" panose="02040503050406030204" pitchFamily="18" charset="0"/>
                                    </a:rPr>
                                    <m:t>∇</m:t>
                                  </m:r>
                                  <m:sSub>
                                    <m:sSubPr>
                                      <m:ctrlPr>
                                        <a:rPr lang="en-IL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IL" i="1"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r>
                                        <a:rPr lang="en-IL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  <m:r>
                                    <a:rPr lang="en-IL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IL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en-IL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IL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  <m:r>
                                    <a:rPr lang="en-IL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d>
                            </m:e>
                            <m:sub>
                              <m:r>
                                <a:rPr lang="en-IL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nary>
                      <m:r>
                        <a:rPr lang="en-IL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IL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∥"/>
                              <m:endChr m:val="∥"/>
                              <m:ctrlPr>
                                <a:rPr lang="en-IL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IL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IL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</m:num>
                                <m:den>
                                  <m:r>
                                    <a:rPr lang="en-IL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en-IL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den>
                              </m:f>
                              <m:r>
                                <m:rPr>
                                  <m:sty m:val="p"/>
                                </m:rPr>
                                <a:rPr lang="en-IL">
                                  <a:latin typeface="Cambria Math" panose="02040503050406030204" pitchFamily="18" charset="0"/>
                                </a:rPr>
                                <m:t>∇</m:t>
                              </m:r>
                              <m:sSub>
                                <m:sSubPr>
                                  <m:ctrlPr>
                                    <a:rPr lang="en-IL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IL" i="1"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r>
                                    <a:rPr lang="en-IL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IL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IL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IL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IL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en-IL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d>
                        </m:e>
                        <m:sub>
                          <m:r>
                            <a:rPr lang="en-IL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IL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D6D7C16-C954-A941-6021-9DCD8C09F74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09112" y="888281"/>
                <a:ext cx="10515600" cy="1215711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I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2082ED3D-1D4C-9ADB-AC6A-B2D19FACDD9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71000" y="2484000"/>
                <a:ext cx="11520000" cy="414000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dirty="0"/>
                  <a:t>Description of terms:</a:t>
                </a:r>
                <a:endParaRPr lang="en-IL" dirty="0"/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IL">
                        <a:latin typeface="Cambria Math" panose="02040503050406030204" pitchFamily="18" charset="0"/>
                      </a:rPr>
                      <m:t>TV</m:t>
                    </m:r>
                    <m:r>
                      <a:rPr lang="en-IL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IL">
                        <a:latin typeface="Cambria Math" panose="02040503050406030204" pitchFamily="18" charset="0"/>
                      </a:rPr>
                      <m:t>∇</m:t>
                    </m:r>
                    <m:sSub>
                      <m:sSubPr>
                        <m:ctrlPr>
                          <a:rPr lang="en-IL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L" i="1"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  <m:sub>
                        <m:r>
                          <a:rPr lang="en-IL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IL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: total variation of the gradient field of the </a:t>
                </a:r>
                <a14:m>
                  <m:oMath xmlns:m="http://schemas.openxmlformats.org/officeDocument/2006/math">
                    <m:r>
                      <a:rPr lang="en-IL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-</a:t>
                </a:r>
                <a:r>
                  <a:rPr lang="en-US" dirty="0" err="1"/>
                  <a:t>th</a:t>
                </a:r>
                <a:r>
                  <a:rPr lang="en-US" dirty="0"/>
                  <a:t> mode shape.</a:t>
                </a:r>
                <a:endParaRPr lang="en-IL" dirty="0"/>
              </a:p>
              <a:p>
                <a:pPr lvl="0"/>
                <a14:m>
                  <m:oMath xmlns:m="http://schemas.openxmlformats.org/officeDocument/2006/math">
                    <m:f>
                      <m:fPr>
                        <m:ctrlPr>
                          <a:rPr lang="en-IL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IL">
                            <a:latin typeface="Cambria Math" panose="02040503050406030204" pitchFamily="18" charset="0"/>
                          </a:rPr>
                          <m:t>𝜕</m:t>
                        </m:r>
                      </m:num>
                      <m:den>
                        <m:r>
                          <a:rPr lang="en-IL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IL" i="1">
                            <a:latin typeface="Cambria Math" panose="02040503050406030204" pitchFamily="18" charset="0"/>
                          </a:rPr>
                          <m:t>𝑥</m:t>
                        </m:r>
                      </m:den>
                    </m:f>
                    <m:r>
                      <m:rPr>
                        <m:sty m:val="p"/>
                      </m:rPr>
                      <a:rPr lang="en-IL">
                        <a:latin typeface="Cambria Math" panose="02040503050406030204" pitchFamily="18" charset="0"/>
                      </a:rPr>
                      <m:t>∇</m:t>
                    </m:r>
                    <m:sSub>
                      <m:sSubPr>
                        <m:ctrlPr>
                          <a:rPr lang="en-IL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L" i="1"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  <m:sub>
                        <m:r>
                          <a:rPr lang="en-IL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IL">
                        <a:latin typeface="Cambria Math" panose="02040503050406030204" pitchFamily="18" charset="0"/>
                      </a:rPr>
                      <m:t>(</m:t>
                    </m:r>
                    <m:r>
                      <a:rPr lang="en-IL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IL">
                        <a:latin typeface="Cambria Math" panose="02040503050406030204" pitchFamily="18" charset="0"/>
                      </a:rPr>
                      <m:t>,</m:t>
                    </m:r>
                    <m:r>
                      <a:rPr lang="en-IL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IL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: spatial derivative of the mode-gradient field along </a:t>
                </a:r>
              </a:p>
              <a:p>
                <a:pPr marL="0" lvl="0" indent="0">
                  <a:buNone/>
                </a:pPr>
                <a:r>
                  <a:rPr lang="en-US" dirty="0"/>
                  <a:t>                               the </a:t>
                </a:r>
                <a14:m>
                  <m:oMath xmlns:m="http://schemas.openxmlformats.org/officeDocument/2006/math">
                    <m:r>
                      <a:rPr lang="en-IL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direction.</a:t>
                </a:r>
                <a:endParaRPr lang="en-IL" dirty="0"/>
              </a:p>
              <a:p>
                <a:pPr lvl="0"/>
                <a14:m>
                  <m:oMath xmlns:m="http://schemas.openxmlformats.org/officeDocument/2006/math">
                    <m:f>
                      <m:fPr>
                        <m:ctrlPr>
                          <a:rPr lang="en-IL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IL">
                            <a:latin typeface="Cambria Math" panose="02040503050406030204" pitchFamily="18" charset="0"/>
                          </a:rPr>
                          <m:t>𝜕</m:t>
                        </m:r>
                      </m:num>
                      <m:den>
                        <m:r>
                          <a:rPr lang="en-IL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IL" i="1">
                            <a:latin typeface="Cambria Math" panose="02040503050406030204" pitchFamily="18" charset="0"/>
                          </a:rPr>
                          <m:t>𝑦</m:t>
                        </m:r>
                      </m:den>
                    </m:f>
                    <m:r>
                      <m:rPr>
                        <m:sty m:val="p"/>
                      </m:rPr>
                      <a:rPr lang="en-IL">
                        <a:latin typeface="Cambria Math" panose="02040503050406030204" pitchFamily="18" charset="0"/>
                      </a:rPr>
                      <m:t>∇</m:t>
                    </m:r>
                    <m:sSub>
                      <m:sSubPr>
                        <m:ctrlPr>
                          <a:rPr lang="en-IL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L" i="1"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  <m:sub>
                        <m:r>
                          <a:rPr lang="en-IL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IL">
                        <a:latin typeface="Cambria Math" panose="02040503050406030204" pitchFamily="18" charset="0"/>
                      </a:rPr>
                      <m:t>(</m:t>
                    </m:r>
                    <m:r>
                      <a:rPr lang="en-IL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IL">
                        <a:latin typeface="Cambria Math" panose="02040503050406030204" pitchFamily="18" charset="0"/>
                      </a:rPr>
                      <m:t>,</m:t>
                    </m:r>
                    <m:r>
                      <a:rPr lang="en-IL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IL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: spatial derivative of the mode-gradient field along </a:t>
                </a:r>
              </a:p>
              <a:p>
                <a:pPr marL="0" lvl="0" indent="0">
                  <a:buNone/>
                </a:pPr>
                <a:r>
                  <a:rPr lang="en-US" dirty="0"/>
                  <a:t>                                the </a:t>
                </a:r>
                <a14:m>
                  <m:oMath xmlns:m="http://schemas.openxmlformats.org/officeDocument/2006/math">
                    <m:r>
                      <a:rPr lang="en-IL" i="1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 direction.</a:t>
                </a:r>
                <a:endParaRPr lang="en-IL" dirty="0"/>
              </a:p>
              <a:p>
                <a:pPr lvl="0"/>
                <a14:m>
                  <m:oMath xmlns:m="http://schemas.openxmlformats.org/officeDocument/2006/math">
                    <m:r>
                      <a:rPr lang="en-IL">
                        <a:latin typeface="Cambria Math" panose="02040503050406030204" pitchFamily="18" charset="0"/>
                      </a:rPr>
                      <m:t>∥⋅</m:t>
                    </m:r>
                    <m:sSub>
                      <m:sSubPr>
                        <m:ctrlPr>
                          <a:rPr lang="en-IL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L">
                            <a:latin typeface="Cambria Math" panose="02040503050406030204" pitchFamily="18" charset="0"/>
                          </a:rPr>
                          <m:t>∥</m:t>
                        </m:r>
                      </m:e>
                      <m:sub>
                        <m:r>
                          <a:rPr lang="en-IL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: Euclidean norm.</a:t>
                </a:r>
                <a:endParaRPr lang="en-IL" dirty="0"/>
              </a:p>
              <a:p>
                <a:pPr marL="0" indent="0">
                  <a:buNone/>
                </a:pPr>
                <a:endParaRPr lang="en-IL" dirty="0"/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2082ED3D-1D4C-9ADB-AC6A-B2D19FACDD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000" y="2484000"/>
                <a:ext cx="11520000" cy="4140000"/>
              </a:xfrm>
              <a:prstGeom prst="rect">
                <a:avLst/>
              </a:prstGeom>
              <a:blipFill>
                <a:blip r:embed="rId3"/>
                <a:stretch>
                  <a:fillRect l="-1058" t="-2500"/>
                </a:stretch>
              </a:blipFill>
            </p:spPr>
            <p:txBody>
              <a:bodyPr/>
              <a:lstStyle/>
              <a:p>
                <a:r>
                  <a:rPr lang="en-I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6671883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A3E9D8-4302-85B9-05BF-B4EB3E5F08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4433081-1C70-8DCD-2095-93F88180FD6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99000"/>
                <a:ext cx="10515600" cy="793375"/>
              </a:xfrm>
            </p:spPr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IL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IL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IL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IL">
                              <a:latin typeface="Cambria Math" panose="02040503050406030204" pitchFamily="18" charset="0"/>
                            </a:rPr>
                            <m:t>ref</m:t>
                          </m:r>
                        </m:sup>
                      </m:sSubSup>
                      <m:r>
                        <a:rPr lang="en-IL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IL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L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IL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IL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IL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IL">
                          <a:latin typeface="Cambria Math" panose="02040503050406030204" pitchFamily="18" charset="0"/>
                        </a:rPr>
                        <m:t>)≈</m:t>
                      </m:r>
                      <m:sSup>
                        <m:sSupPr>
                          <m:ctrlPr>
                            <a:rPr lang="en-IL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IL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IL">
                              <a:latin typeface="Cambria Math" panose="02040503050406030204" pitchFamily="18" charset="0"/>
                            </a:rPr>
                            <m:t>ref</m:t>
                          </m:r>
                        </m:sup>
                      </m:sSup>
                      <m:r>
                        <a:rPr lang="en-IL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IL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IL">
                          <a:latin typeface="Cambria Math" panose="02040503050406030204" pitchFamily="18" charset="0"/>
                        </a:rPr>
                        <m:t>)∗</m:t>
                      </m:r>
                      <m:sSub>
                        <m:sSubPr>
                          <m:ctrlPr>
                            <a:rPr lang="en-IL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L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IL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IL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IL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  <m:r>
                        <a:rPr lang="en-IL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IL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IL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IL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4433081-1C70-8DCD-2095-93F88180FD6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99000"/>
                <a:ext cx="10515600" cy="793375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I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A8216E48-DA5B-D7EE-FAFA-4DDF489AA6B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71000" y="2774500"/>
                <a:ext cx="11385000" cy="306000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b="1" dirty="0"/>
                  <a:t>Description of terms:</a:t>
                </a:r>
              </a:p>
              <a:p>
                <a:pPr lvl="0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	</m:t>
                    </m:r>
                    <m:sSubSup>
                      <m:sSubSupPr>
                        <m:ctrlPr>
                          <a:rPr lang="en-IL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IL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IL" i="1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IL">
                            <a:latin typeface="Cambria Math" panose="02040503050406030204" pitchFamily="18" charset="0"/>
                          </a:rPr>
                          <m:t>ref</m:t>
                        </m:r>
                      </m:sup>
                    </m:sSubSup>
                    <m:r>
                      <a:rPr lang="en-IL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IL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L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IL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IL">
                        <a:latin typeface="Cambria Math" panose="02040503050406030204" pitchFamily="18" charset="0"/>
                      </a:rPr>
                      <m:t>,</m:t>
                    </m:r>
                    <m:r>
                      <a:rPr lang="en-IL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IL">
                        <a:latin typeface="Cambria Math" panose="02040503050406030204" pitchFamily="18" charset="0"/>
                      </a:rPr>
                      <m:t>)</m:t>
                    </m:r>
                    <m:r>
                      <m:rPr>
                        <m:nor/>
                      </m:rPr>
                      <a:rPr lang="en-US"/>
                      <m:t>: </m:t>
                    </m:r>
                    <m:r>
                      <m:rPr>
                        <m:nor/>
                      </m:rPr>
                      <a:rPr lang="en-US"/>
                      <m:t>reference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vibration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signal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at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point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sSub>
                      <m:sSubPr>
                        <m:ctrlPr>
                          <a:rPr lang="en-IL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L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IL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and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axis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a:rPr lang="en-IL" i="1">
                        <a:latin typeface="Cambria Math" panose="02040503050406030204" pitchFamily="18" charset="0"/>
                      </a:rPr>
                      <m:t>𝑎</m:t>
                    </m:r>
                    <m:r>
                      <m:rPr>
                        <m:nor/>
                      </m:rPr>
                      <a:rPr lang="en-US"/>
                      <m:t>.</m:t>
                    </m:r>
                  </m:oMath>
                </a14:m>
                <a:endParaRPr lang="en-IL" dirty="0"/>
              </a:p>
              <a:p>
                <a:pPr lvl="0"/>
                <a14:m>
                  <m:oMath xmlns:m="http://schemas.openxmlformats.org/officeDocument/2006/math">
                    <m:sSup>
                      <m:sSupPr>
                        <m:ctrlPr>
                          <a:rPr lang="en-IL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IL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en-IL">
                            <a:latin typeface="Cambria Math" panose="02040503050406030204" pitchFamily="18" charset="0"/>
                          </a:rPr>
                          <m:t>ref</m:t>
                        </m:r>
                      </m:sup>
                    </m:sSup>
                    <m:r>
                      <a:rPr lang="en-IL">
                        <a:latin typeface="Cambria Math" panose="02040503050406030204" pitchFamily="18" charset="0"/>
                      </a:rPr>
                      <m:t>(</m:t>
                    </m:r>
                    <m:r>
                      <a:rPr lang="en-IL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IL">
                        <a:latin typeface="Cambria Math" panose="02040503050406030204" pitchFamily="18" charset="0"/>
                      </a:rPr>
                      <m:t>)</m:t>
                    </m:r>
                    <m:r>
                      <m:rPr>
                        <m:nor/>
                      </m:rPr>
                      <a:rPr lang="en-US"/>
                      <m:t>: </m:t>
                    </m:r>
                    <m:r>
                      <m:rPr>
                        <m:nor/>
                      </m:rPr>
                      <a:rPr lang="en-US"/>
                      <m:t>known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reference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audio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signal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used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for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calibration</m:t>
                    </m:r>
                    <m:r>
                      <m:rPr>
                        <m:nor/>
                      </m:rPr>
                      <a:rPr lang="en-US"/>
                      <m:t>.</m:t>
                    </m:r>
                  </m:oMath>
                </a14:m>
                <a:endParaRPr lang="en-IL" dirty="0"/>
              </a:p>
              <a:p>
                <a:pPr lvl="0"/>
                <a14:m>
                  <m:oMath xmlns:m="http://schemas.openxmlformats.org/officeDocument/2006/math">
                    <m:sSub>
                      <m:sSubPr>
                        <m:ctrlPr>
                          <a:rPr lang="en-IL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L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IL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IL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IL" i="1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r>
                      <a:rPr lang="en-IL">
                        <a:latin typeface="Cambria Math" panose="02040503050406030204" pitchFamily="18" charset="0"/>
                      </a:rPr>
                      <m:t>(</m:t>
                    </m:r>
                    <m:r>
                      <a:rPr lang="en-IL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IL">
                        <a:latin typeface="Cambria Math" panose="02040503050406030204" pitchFamily="18" charset="0"/>
                      </a:rPr>
                      <m:t>)</m:t>
                    </m:r>
                    <m:r>
                      <m:rPr>
                        <m:nor/>
                      </m:rPr>
                      <a:rPr lang="en-US"/>
                      <m:t>: </m:t>
                    </m:r>
                    <m:r>
                      <m:rPr>
                        <m:nor/>
                      </m:rPr>
                      <a:rPr lang="en-US"/>
                      <m:t>impulse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response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from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the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reference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sound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to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point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sSub>
                      <m:sSubPr>
                        <m:ctrlPr>
                          <a:rPr lang="en-IL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L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IL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m:rPr>
                        <m:nor/>
                      </m:rPr>
                      <a:rPr lang="en-US"/>
                      <m:t> </m:t>
                    </m:r>
                  </m:oMath>
                </a14:m>
                <a:endParaRPr lang="en-US" dirty="0"/>
              </a:p>
              <a:p>
                <a:pPr marL="0" lvl="0" indent="0">
                  <a:buNone/>
                </a:pPr>
                <a:r>
                  <a:rPr lang="en-US" dirty="0"/>
                  <a:t>                     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/>
                      <m:t>and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vibration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axis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a:rPr lang="en-IL" i="1">
                        <a:latin typeface="Cambria Math" panose="02040503050406030204" pitchFamily="18" charset="0"/>
                      </a:rPr>
                      <m:t>𝑎</m:t>
                    </m:r>
                    <m:r>
                      <m:rPr>
                        <m:nor/>
                      </m:rPr>
                      <a:rPr lang="en-US"/>
                      <m:t>.</m:t>
                    </m:r>
                  </m:oMath>
                </a14:m>
                <a:endParaRPr lang="en-IL" dirty="0"/>
              </a:p>
              <a:p>
                <a:pPr lvl="0"/>
                <a14:m>
                  <m:oMath xmlns:m="http://schemas.openxmlformats.org/officeDocument/2006/math">
                    <m:r>
                      <a:rPr lang="en-IL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IL">
                        <a:latin typeface="Cambria Math" panose="02040503050406030204" pitchFamily="18" charset="0"/>
                      </a:rPr>
                      <m:t>∈{</m:t>
                    </m:r>
                    <m:r>
                      <a:rPr lang="en-IL" i="1">
                        <a:latin typeface="Cambria Math" panose="02040503050406030204" pitchFamily="18" charset="0"/>
                      </a:rPr>
                      <m:t>1</m:t>
                    </m:r>
                    <m:r>
                      <a:rPr lang="en-IL">
                        <a:latin typeface="Cambria Math" panose="02040503050406030204" pitchFamily="18" charset="0"/>
                      </a:rPr>
                      <m:t>,</m:t>
                    </m:r>
                    <m:r>
                      <a:rPr lang="en-IL" i="1">
                        <a:latin typeface="Cambria Math" panose="02040503050406030204" pitchFamily="18" charset="0"/>
                      </a:rPr>
                      <m:t>2</m:t>
                    </m:r>
                    <m:r>
                      <a:rPr lang="en-IL">
                        <a:latin typeface="Cambria Math" panose="02040503050406030204" pitchFamily="18" charset="0"/>
                      </a:rPr>
                      <m:t>}</m:t>
                    </m:r>
                    <m:r>
                      <m:rPr>
                        <m:nor/>
                      </m:rPr>
                      <a:rPr lang="en-US"/>
                      <m:t>: </m:t>
                    </m:r>
                    <m:r>
                      <m:rPr>
                        <m:nor/>
                      </m:rPr>
                      <a:rPr lang="en-US"/>
                      <m:t>vibration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axis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index</m:t>
                    </m:r>
                    <m:r>
                      <m:rPr>
                        <m:nor/>
                      </m:rPr>
                      <a:rPr lang="en-US"/>
                      <m:t>.</m:t>
                    </m:r>
                  </m:oMath>
                </a14:m>
                <a:endParaRPr lang="en-IL" dirty="0"/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A8216E48-DA5B-D7EE-FAFA-4DDF489AA6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000" y="2774500"/>
                <a:ext cx="11385000" cy="3060000"/>
              </a:xfrm>
              <a:prstGeom prst="rect">
                <a:avLst/>
              </a:prstGeom>
              <a:blipFill>
                <a:blip r:embed="rId3"/>
                <a:stretch>
                  <a:fillRect l="-1071" t="-4382"/>
                </a:stretch>
              </a:blipFill>
            </p:spPr>
            <p:txBody>
              <a:bodyPr/>
              <a:lstStyle/>
              <a:p>
                <a:r>
                  <a:rPr lang="en-I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itle 1">
            <a:extLst>
              <a:ext uri="{FF2B5EF4-FFF2-40B4-BE49-F238E27FC236}">
                <a16:creationId xmlns:a16="http://schemas.microsoft.com/office/drawing/2014/main" id="{C25C15D4-2CBE-925C-7226-56303D315D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48875"/>
          </a:xfrm>
        </p:spPr>
        <p:txBody>
          <a:bodyPr/>
          <a:lstStyle/>
          <a:p>
            <a:r>
              <a:rPr lang="en-US" dirty="0"/>
              <a:t>Calibration-Based Baseline</a:t>
            </a:r>
            <a:endParaRPr lang="en-IL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267010C1-AB47-FE7A-3CF9-29AF2C2B9505}"/>
              </a:ext>
            </a:extLst>
          </p:cNvPr>
          <p:cNvSpPr txBox="1">
            <a:spLocks/>
          </p:cNvSpPr>
          <p:nvPr/>
        </p:nvSpPr>
        <p:spPr>
          <a:xfrm>
            <a:off x="838200" y="1095375"/>
            <a:ext cx="10515600" cy="9488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200" dirty="0"/>
              <a:t>Reference convolution model</a:t>
            </a:r>
            <a:endParaRPr lang="en-IL" sz="3200" dirty="0"/>
          </a:p>
        </p:txBody>
      </p:sp>
    </p:spTree>
    <p:extLst>
      <p:ext uri="{BB962C8B-B14F-4D97-AF65-F5344CB8AC3E}">
        <p14:creationId xmlns:p14="http://schemas.microsoft.com/office/powerpoint/2010/main" val="69500247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C2169B-E647-5200-CC15-018A97C6F0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CC09C5-878D-A6A2-853C-CF381878BB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58581"/>
            <a:ext cx="10515600" cy="646688"/>
          </a:xfrm>
        </p:spPr>
        <p:txBody>
          <a:bodyPr>
            <a:normAutofit/>
          </a:bodyPr>
          <a:lstStyle/>
          <a:p>
            <a:r>
              <a:rPr lang="en-US" sz="3200" dirty="0"/>
              <a:t>Reference convolution model</a:t>
            </a:r>
            <a:endParaRPr lang="en-IL" sz="3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D6D7C16-C954-A941-6021-9DCD8C09F74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06000" y="1044000"/>
                <a:ext cx="10515600" cy="74071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IL" sz="36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IL" sz="36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IL" sz="3600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IL" sz="3600">
                              <a:latin typeface="Cambria Math" panose="02040503050406030204" pitchFamily="18" charset="0"/>
                            </a:rPr>
                            <m:t>ref</m:t>
                          </m:r>
                        </m:sup>
                      </m:sSubSup>
                      <m:r>
                        <a:rPr lang="en-IL" sz="360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IL" sz="3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L" sz="3600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IL" sz="36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IL" sz="360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IL" sz="3600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IL" sz="3600">
                          <a:latin typeface="Cambria Math" panose="02040503050406030204" pitchFamily="18" charset="0"/>
                        </a:rPr>
                        <m:t>)≈</m:t>
                      </m:r>
                      <m:sSup>
                        <m:sSupPr>
                          <m:ctrlPr>
                            <a:rPr lang="en-IL" sz="36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IL" sz="36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IL" sz="3600">
                              <a:latin typeface="Cambria Math" panose="02040503050406030204" pitchFamily="18" charset="0"/>
                            </a:rPr>
                            <m:t>ref</m:t>
                          </m:r>
                        </m:sup>
                      </m:sSup>
                      <m:r>
                        <a:rPr lang="en-IL" sz="360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IL" sz="3600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IL" sz="3600">
                          <a:latin typeface="Cambria Math" panose="02040503050406030204" pitchFamily="18" charset="0"/>
                        </a:rPr>
                        <m:t>)∗</m:t>
                      </m:r>
                      <m:sSub>
                        <m:sSubPr>
                          <m:ctrlPr>
                            <a:rPr lang="en-IL" sz="3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L" sz="3600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IL" sz="36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IL" sz="360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IL" sz="3600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  <m:r>
                        <a:rPr lang="en-IL" sz="360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IL" sz="3600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IL" sz="360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IL" sz="36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D6D7C16-C954-A941-6021-9DCD8C09F74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06000" y="1044000"/>
                <a:ext cx="10515600" cy="740719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I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2082ED3D-1D4C-9ADB-AC6A-B2D19FACDD9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71000" y="2484000"/>
                <a:ext cx="11520000" cy="414000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dirty="0"/>
                  <a:t>Description of terms:</a:t>
                </a:r>
                <a:endParaRPr lang="en-IL" dirty="0"/>
              </a:p>
              <a:p>
                <a:pPr lvl="0"/>
                <a14:m>
                  <m:oMath xmlns:m="http://schemas.openxmlformats.org/officeDocument/2006/math">
                    <m:sSubSup>
                      <m:sSubSupPr>
                        <m:ctrlPr>
                          <a:rPr lang="en-IL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IL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IL" i="1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IL">
                            <a:latin typeface="Cambria Math" panose="02040503050406030204" pitchFamily="18" charset="0"/>
                          </a:rPr>
                          <m:t>ref</m:t>
                        </m:r>
                      </m:sup>
                    </m:sSubSup>
                    <m:r>
                      <a:rPr lang="en-IL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IL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L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IL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IL">
                        <a:latin typeface="Cambria Math" panose="02040503050406030204" pitchFamily="18" charset="0"/>
                      </a:rPr>
                      <m:t>,</m:t>
                    </m:r>
                    <m:r>
                      <a:rPr lang="en-IL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IL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: reference vibration signal at point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IL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L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IL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dirty="0"/>
                  <a:t> and axis </a:t>
                </a:r>
                <a14:m>
                  <m:oMath xmlns:m="http://schemas.openxmlformats.org/officeDocument/2006/math">
                    <m:r>
                      <a:rPr lang="en-IL" i="1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dirty="0"/>
                  <a:t>.</a:t>
                </a:r>
                <a:endParaRPr lang="en-IL" dirty="0"/>
              </a:p>
              <a:p>
                <a:pPr lvl="0"/>
                <a14:m>
                  <m:oMath xmlns:m="http://schemas.openxmlformats.org/officeDocument/2006/math">
                    <m:sSup>
                      <m:sSupPr>
                        <m:ctrlPr>
                          <a:rPr lang="en-IL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IL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en-IL">
                            <a:latin typeface="Cambria Math" panose="02040503050406030204" pitchFamily="18" charset="0"/>
                          </a:rPr>
                          <m:t>ref</m:t>
                        </m:r>
                      </m:sup>
                    </m:sSup>
                    <m:r>
                      <a:rPr lang="en-IL">
                        <a:latin typeface="Cambria Math" panose="02040503050406030204" pitchFamily="18" charset="0"/>
                      </a:rPr>
                      <m:t>(</m:t>
                    </m:r>
                    <m:r>
                      <a:rPr lang="en-IL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IL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: known reference audio signal used for calibration.</a:t>
                </a:r>
                <a:endParaRPr lang="en-IL" dirty="0"/>
              </a:p>
              <a:p>
                <a:pPr lvl="0"/>
                <a14:m>
                  <m:oMath xmlns:m="http://schemas.openxmlformats.org/officeDocument/2006/math">
                    <m:sSub>
                      <m:sSubPr>
                        <m:ctrlPr>
                          <a:rPr lang="en-IL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L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IL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IL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IL" i="1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r>
                      <a:rPr lang="en-IL">
                        <a:latin typeface="Cambria Math" panose="02040503050406030204" pitchFamily="18" charset="0"/>
                      </a:rPr>
                      <m:t>(</m:t>
                    </m:r>
                    <m:r>
                      <a:rPr lang="en-IL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IL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: impulse response from the reference sound to point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IL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L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IL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dirty="0"/>
                  <a:t> </a:t>
                </a:r>
              </a:p>
              <a:p>
                <a:pPr marL="0" lvl="0" indent="0">
                  <a:buNone/>
                </a:pPr>
                <a:r>
                  <a:rPr lang="en-US" dirty="0"/>
                  <a:t>                     and vibration axis </a:t>
                </a:r>
                <a14:m>
                  <m:oMath xmlns:m="http://schemas.openxmlformats.org/officeDocument/2006/math">
                    <m:r>
                      <a:rPr lang="en-IL" i="1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dirty="0"/>
                  <a:t>.</a:t>
                </a:r>
                <a:endParaRPr lang="en-IL" dirty="0"/>
              </a:p>
              <a:p>
                <a:pPr lvl="0"/>
                <a14:m>
                  <m:oMath xmlns:m="http://schemas.openxmlformats.org/officeDocument/2006/math">
                    <m:r>
                      <a:rPr lang="en-IL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IL">
                        <a:latin typeface="Cambria Math" panose="02040503050406030204" pitchFamily="18" charset="0"/>
                      </a:rPr>
                      <m:t>∈{</m:t>
                    </m:r>
                    <m:r>
                      <a:rPr lang="en-IL" i="1">
                        <a:latin typeface="Cambria Math" panose="02040503050406030204" pitchFamily="18" charset="0"/>
                      </a:rPr>
                      <m:t>1</m:t>
                    </m:r>
                    <m:r>
                      <a:rPr lang="en-IL">
                        <a:latin typeface="Cambria Math" panose="02040503050406030204" pitchFamily="18" charset="0"/>
                      </a:rPr>
                      <m:t>,</m:t>
                    </m:r>
                    <m:r>
                      <a:rPr lang="en-IL" i="1">
                        <a:latin typeface="Cambria Math" panose="02040503050406030204" pitchFamily="18" charset="0"/>
                      </a:rPr>
                      <m:t>2</m:t>
                    </m:r>
                    <m:r>
                      <a:rPr lang="en-IL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dirty="0"/>
                  <a:t>: vibration axis index.</a:t>
                </a:r>
                <a:endParaRPr lang="en-IL" dirty="0"/>
              </a:p>
              <a:p>
                <a:pPr marL="0" indent="0">
                  <a:buNone/>
                </a:pPr>
                <a:endParaRPr lang="en-IL" dirty="0"/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2082ED3D-1D4C-9ADB-AC6A-B2D19FACDD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000" y="2484000"/>
                <a:ext cx="11520000" cy="4140000"/>
              </a:xfrm>
              <a:prstGeom prst="rect">
                <a:avLst/>
              </a:prstGeom>
              <a:blipFill>
                <a:blip r:embed="rId3"/>
                <a:stretch>
                  <a:fillRect l="-1058" t="-2500"/>
                </a:stretch>
              </a:blipFill>
            </p:spPr>
            <p:txBody>
              <a:bodyPr/>
              <a:lstStyle/>
              <a:p>
                <a:r>
                  <a:rPr lang="en-I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5498466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C2169B-E647-5200-CC15-018A97C6F0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CC09C5-878D-A6A2-853C-CF381878BB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58581"/>
            <a:ext cx="10515600" cy="646688"/>
          </a:xfrm>
        </p:spPr>
        <p:txBody>
          <a:bodyPr>
            <a:normAutofit/>
          </a:bodyPr>
          <a:lstStyle/>
          <a:p>
            <a:r>
              <a:rPr lang="en-US" sz="3200" dirty="0"/>
              <a:t>Inverse filter estimation</a:t>
            </a:r>
            <a:endParaRPr lang="en-IL" sz="3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D6D7C16-C954-A941-6021-9DCD8C09F74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06000" y="1044000"/>
                <a:ext cx="10515600" cy="740719"/>
              </a:xfrm>
            </p:spPr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IL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̂"/>
                              <m:ctrlPr>
                                <a:rPr lang="en-IL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IL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</m:acc>
                        </m:e>
                        <m:sub>
                          <m:r>
                            <a:rPr lang="en-IL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IL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IL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  <m:sup>
                          <m:r>
                            <a:rPr lang="en-IL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IL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  <m:r>
                        <a:rPr lang="en-IL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IL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IL">
                          <a:latin typeface="Cambria Math" panose="02040503050406030204" pitchFamily="18" charset="0"/>
                        </a:rPr>
                        <m:t>)=</m:t>
                      </m:r>
                      <m:r>
                        <m:rPr>
                          <m:sty m:val="p"/>
                        </m:rPr>
                        <a:rPr lang="en-IL">
                          <a:latin typeface="Cambria Math" panose="02040503050406030204" pitchFamily="18" charset="0"/>
                        </a:rPr>
                        <m:t>arg</m:t>
                      </m:r>
                      <m:limLow>
                        <m:limLowPr>
                          <m:ctrlPr>
                            <a:rPr lang="en-IL" i="1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IL">
                              <a:latin typeface="Cambria Math" panose="02040503050406030204" pitchFamily="18" charset="0"/>
                            </a:rPr>
                            <m:t>min</m:t>
                          </m:r>
                        </m:e>
                        <m:lim>
                          <m:r>
                            <a:rPr lang="en-IL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IL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IL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IL">
                              <a:latin typeface="Cambria Math" panose="02040503050406030204" pitchFamily="18" charset="0"/>
                            </a:rPr>
                            <m:t>)</m:t>
                          </m:r>
                        </m:lim>
                      </m:limLow>
                      <m:sSubSup>
                        <m:sSubSupPr>
                          <m:ctrlPr>
                            <a:rPr lang="en-IL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d>
                            <m:dPr>
                              <m:begChr m:val="∥"/>
                              <m:endChr m:val="∥"/>
                              <m:ctrlPr>
                                <a:rPr lang="en-IL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IL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IL" i="1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IL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IL">
                                      <a:latin typeface="Cambria Math" panose="02040503050406030204" pitchFamily="18" charset="0"/>
                                    </a:rPr>
                                    <m:t>ref</m:t>
                                  </m:r>
                                </m:sup>
                              </m:sSubSup>
                              <m:r>
                                <a:rPr lang="en-IL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IL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IL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en-IL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IL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IL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IL">
                                  <a:latin typeface="Cambria Math" panose="02040503050406030204" pitchFamily="18" charset="0"/>
                                </a:rPr>
                                <m:t>)∗</m:t>
                              </m:r>
                              <m:r>
                                <a:rPr lang="en-IL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  <m:r>
                                <a:rPr lang="en-IL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IL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IL">
                                  <a:latin typeface="Cambria Math" panose="02040503050406030204" pitchFamily="18" charset="0"/>
                                </a:rPr>
                                <m:t>)−</m:t>
                              </m:r>
                              <m:sSup>
                                <m:sSupPr>
                                  <m:ctrlPr>
                                    <a:rPr lang="en-IL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IL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IL">
                                      <a:latin typeface="Cambria Math" panose="02040503050406030204" pitchFamily="18" charset="0"/>
                                    </a:rPr>
                                    <m:t>ref</m:t>
                                  </m:r>
                                </m:sup>
                              </m:sSup>
                              <m:r>
                                <a:rPr lang="en-IL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IL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IL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d>
                        </m:e>
                        <m:sub>
                          <m:r>
                            <a:rPr lang="en-IL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IL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IL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D6D7C16-C954-A941-6021-9DCD8C09F74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06000" y="1044000"/>
                <a:ext cx="10515600" cy="740719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I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2082ED3D-1D4C-9ADB-AC6A-B2D19FACDD9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71000" y="2484000"/>
                <a:ext cx="11520000" cy="414000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dirty="0"/>
                  <a:t>Description of terms:</a:t>
                </a:r>
                <a:endParaRPr lang="en-IL" dirty="0"/>
              </a:p>
              <a:p>
                <a:pPr lvl="0"/>
                <a14:m>
                  <m:oMath xmlns:m="http://schemas.openxmlformats.org/officeDocument/2006/math">
                    <m:sSubSup>
                      <m:sSubSupPr>
                        <m:ctrlPr>
                          <a:rPr lang="en-IL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̂"/>
                            <m:ctrlPr>
                              <a:rPr lang="en-IL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IL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</m:acc>
                      </m:e>
                      <m:sub>
                        <m:r>
                          <a:rPr lang="en-IL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IL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IL" i="1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  <m:sup>
                        <m:r>
                          <a:rPr lang="en-IL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IL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bSup>
                    <m:r>
                      <a:rPr lang="en-IL">
                        <a:latin typeface="Cambria Math" panose="02040503050406030204" pitchFamily="18" charset="0"/>
                      </a:rPr>
                      <m:t>(</m:t>
                    </m:r>
                    <m:r>
                      <a:rPr lang="en-IL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IL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: estimated inverse filter for point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IL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L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IL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dirty="0"/>
                  <a:t> and axis </a:t>
                </a:r>
                <a14:m>
                  <m:oMath xmlns:m="http://schemas.openxmlformats.org/officeDocument/2006/math">
                    <m:r>
                      <a:rPr lang="en-IL" i="1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dirty="0"/>
                  <a:t>.</a:t>
                </a:r>
                <a:endParaRPr lang="en-IL" dirty="0"/>
              </a:p>
              <a:p>
                <a:pPr lvl="0"/>
                <a14:m>
                  <m:oMath xmlns:m="http://schemas.openxmlformats.org/officeDocument/2006/math">
                    <m:r>
                      <a:rPr lang="en-IL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en-IL">
                        <a:latin typeface="Cambria Math" panose="02040503050406030204" pitchFamily="18" charset="0"/>
                      </a:rPr>
                      <m:t>(</m:t>
                    </m:r>
                    <m:r>
                      <a:rPr lang="en-IL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IL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: candidate inverse filter optimized by least squares.</a:t>
                </a:r>
                <a:endParaRPr lang="en-IL" dirty="0"/>
              </a:p>
              <a:p>
                <a:pPr lvl="0"/>
                <a14:m>
                  <m:oMath xmlns:m="http://schemas.openxmlformats.org/officeDocument/2006/math">
                    <m:sSubSup>
                      <m:sSubSupPr>
                        <m:ctrlPr>
                          <a:rPr lang="en-IL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IL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IL" i="1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IL">
                            <a:latin typeface="Cambria Math" panose="02040503050406030204" pitchFamily="18" charset="0"/>
                          </a:rPr>
                          <m:t>ref</m:t>
                        </m:r>
                      </m:sup>
                    </m:sSubSup>
                    <m:r>
                      <a:rPr lang="en-IL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IL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L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IL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IL">
                        <a:latin typeface="Cambria Math" panose="02040503050406030204" pitchFamily="18" charset="0"/>
                      </a:rPr>
                      <m:t>,</m:t>
                    </m:r>
                    <m:r>
                      <a:rPr lang="en-IL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IL">
                        <a:latin typeface="Cambria Math" panose="02040503050406030204" pitchFamily="18" charset="0"/>
                      </a:rPr>
                      <m:t>)∗</m:t>
                    </m:r>
                    <m:r>
                      <a:rPr lang="en-IL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en-IL">
                        <a:latin typeface="Cambria Math" panose="02040503050406030204" pitchFamily="18" charset="0"/>
                      </a:rPr>
                      <m:t>(</m:t>
                    </m:r>
                    <m:r>
                      <a:rPr lang="en-IL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IL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: calibrated reconstruction of the reference signal.</a:t>
                </a:r>
                <a:endParaRPr lang="en-IL" dirty="0"/>
              </a:p>
              <a:p>
                <a:pPr marL="0" indent="0">
                  <a:buNone/>
                </a:pPr>
                <a:endParaRPr lang="en-IL" dirty="0"/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2082ED3D-1D4C-9ADB-AC6A-B2D19FACDD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000" y="2484000"/>
                <a:ext cx="11520000" cy="4140000"/>
              </a:xfrm>
              <a:prstGeom prst="rect">
                <a:avLst/>
              </a:prstGeom>
              <a:blipFill>
                <a:blip r:embed="rId3"/>
                <a:stretch>
                  <a:fillRect l="-1058" t="-2500"/>
                </a:stretch>
              </a:blipFill>
            </p:spPr>
            <p:txBody>
              <a:bodyPr/>
              <a:lstStyle/>
              <a:p>
                <a:r>
                  <a:rPr lang="en-I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2946798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C2169B-E647-5200-CC15-018A97C6F0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CC09C5-878D-A6A2-853C-CF381878BB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58581"/>
            <a:ext cx="10515600" cy="646688"/>
          </a:xfrm>
        </p:spPr>
        <p:txBody>
          <a:bodyPr>
            <a:normAutofit/>
          </a:bodyPr>
          <a:lstStyle/>
          <a:p>
            <a:r>
              <a:rPr lang="en-US" sz="3200" dirty="0"/>
              <a:t>Recovered signal using calibrated inverse filters</a:t>
            </a:r>
            <a:endParaRPr lang="en-IL" sz="3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D6D7C16-C954-A941-6021-9DCD8C09F74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06000" y="1044000"/>
                <a:ext cx="10515600" cy="1080000"/>
              </a:xfrm>
            </p:spPr>
            <p:txBody>
              <a:bodyPr>
                <a:normAutofit fontScale="85000" lnSpcReduction="1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IL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̂"/>
                              <m:ctrlPr>
                                <a:rPr lang="en-IL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IL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acc>
                        </m:e>
                        <m:sup>
                          <m:r>
                            <m:rPr>
                              <m:sty m:val="p"/>
                            </m:rPr>
                            <a:rPr lang="en-IL">
                              <a:latin typeface="Cambria Math" panose="02040503050406030204" pitchFamily="18" charset="0"/>
                            </a:rPr>
                            <m:t>new</m:t>
                          </m:r>
                        </m:sup>
                      </m:sSup>
                      <m:r>
                        <a:rPr lang="en-IL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IL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IL"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en-IL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IL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IL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IL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ctrlPr>
                            <a:rPr lang="en-IL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IL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IL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IL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IL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  <m:e>
                          <m:nary>
                            <m:naryPr>
                              <m:chr m:val="∑"/>
                              <m:limLoc m:val="undOvr"/>
                              <m:ctrlPr>
                                <a:rPr lang="en-IL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IL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IL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IL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IL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p>
                            <m:e>
                              <m:sSubSup>
                                <m:sSubSupPr>
                                  <m:ctrlPr>
                                    <a:rPr lang="en-IL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IL" i="1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IL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IL">
                                      <a:latin typeface="Cambria Math" panose="02040503050406030204" pitchFamily="18" charset="0"/>
                                    </a:rPr>
                                    <m:t>new</m:t>
                                  </m:r>
                                </m:sup>
                              </m:sSubSup>
                            </m:e>
                          </m:nary>
                        </m:e>
                      </m:nary>
                      <m:r>
                        <a:rPr lang="en-IL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IL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L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IL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IL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IL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IL">
                          <a:latin typeface="Cambria Math" panose="02040503050406030204" pitchFamily="18" charset="0"/>
                        </a:rPr>
                        <m:t>)∗</m:t>
                      </m:r>
                      <m:sSubSup>
                        <m:sSubSupPr>
                          <m:ctrlPr>
                            <a:rPr lang="en-IL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̂"/>
                              <m:ctrlPr>
                                <a:rPr lang="en-IL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IL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</m:acc>
                        </m:e>
                        <m:sub>
                          <m:r>
                            <a:rPr lang="en-IL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IL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IL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  <m:sup>
                          <m:r>
                            <a:rPr lang="en-IL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IL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  <m:r>
                        <a:rPr lang="en-IL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IL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IL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IL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D6D7C16-C954-A941-6021-9DCD8C09F74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06000" y="1044000"/>
                <a:ext cx="10515600" cy="1080000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I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2082ED3D-1D4C-9ADB-AC6A-B2D19FACDD9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71000" y="2484000"/>
                <a:ext cx="11520000" cy="414000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dirty="0"/>
                  <a:t>Description of terms:</a:t>
                </a:r>
                <a:endParaRPr lang="en-IL" dirty="0"/>
              </a:p>
              <a:p>
                <a:pPr lvl="0"/>
                <a14:m>
                  <m:oMath xmlns:m="http://schemas.openxmlformats.org/officeDocument/2006/math">
                    <m:sSup>
                      <m:sSupPr>
                        <m:ctrlPr>
                          <a:rPr lang="en-IL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̂"/>
                            <m:ctrlPr>
                              <a:rPr lang="en-IL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IL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acc>
                      </m:e>
                      <m:sup>
                        <m:r>
                          <m:rPr>
                            <m:sty m:val="p"/>
                          </m:rPr>
                          <a:rPr lang="en-IL">
                            <a:latin typeface="Cambria Math" panose="02040503050406030204" pitchFamily="18" charset="0"/>
                          </a:rPr>
                          <m:t>new</m:t>
                        </m:r>
                      </m:sup>
                    </m:sSup>
                    <m:r>
                      <a:rPr lang="en-IL">
                        <a:latin typeface="Cambria Math" panose="02040503050406030204" pitchFamily="18" charset="0"/>
                      </a:rPr>
                      <m:t>(</m:t>
                    </m:r>
                    <m:r>
                      <a:rPr lang="en-IL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IL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: recovered signal for a new measurement.</a:t>
                </a:r>
                <a:endParaRPr lang="en-IL" dirty="0"/>
              </a:p>
              <a:p>
                <a:pPr lvl="0"/>
                <a14:m>
                  <m:oMath xmlns:m="http://schemas.openxmlformats.org/officeDocument/2006/math">
                    <m:sSubSup>
                      <m:sSubSupPr>
                        <m:ctrlPr>
                          <a:rPr lang="en-IL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IL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IL" i="1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IL">
                            <a:latin typeface="Cambria Math" panose="02040503050406030204" pitchFamily="18" charset="0"/>
                          </a:rPr>
                          <m:t>new</m:t>
                        </m:r>
                      </m:sup>
                    </m:sSubSup>
                    <m:r>
                      <a:rPr lang="en-IL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IL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L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IL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IL">
                        <a:latin typeface="Cambria Math" panose="02040503050406030204" pitchFamily="18" charset="0"/>
                      </a:rPr>
                      <m:t>,</m:t>
                    </m:r>
                    <m:r>
                      <a:rPr lang="en-IL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IL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: new measured vibration signal at point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IL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L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IL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dirty="0"/>
                  <a:t> and axis </a:t>
                </a:r>
                <a14:m>
                  <m:oMath xmlns:m="http://schemas.openxmlformats.org/officeDocument/2006/math">
                    <m:r>
                      <a:rPr lang="en-IL" i="1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dirty="0"/>
                  <a:t>.</a:t>
                </a:r>
                <a:endParaRPr lang="en-IL" dirty="0"/>
              </a:p>
              <a:p>
                <a:pPr lvl="0"/>
                <a14:m>
                  <m:oMath xmlns:m="http://schemas.openxmlformats.org/officeDocument/2006/math">
                    <m:sSubSup>
                      <m:sSubSupPr>
                        <m:ctrlPr>
                          <a:rPr lang="en-IL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̂"/>
                            <m:ctrlPr>
                              <a:rPr lang="en-IL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IL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</m:acc>
                      </m:e>
                      <m:sub>
                        <m:r>
                          <a:rPr lang="en-IL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IL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IL" i="1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  <m:sup>
                        <m:r>
                          <a:rPr lang="en-IL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IL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bSup>
                    <m:r>
                      <a:rPr lang="en-IL">
                        <a:latin typeface="Cambria Math" panose="02040503050406030204" pitchFamily="18" charset="0"/>
                      </a:rPr>
                      <m:t>(</m:t>
                    </m:r>
                    <m:r>
                      <a:rPr lang="en-IL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IL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: calibrated inverse filter.</a:t>
                </a:r>
                <a:endParaRPr lang="en-IL" dirty="0"/>
              </a:p>
              <a:p>
                <a:pPr lvl="0"/>
                <a14:m>
                  <m:oMath xmlns:m="http://schemas.openxmlformats.org/officeDocument/2006/math">
                    <m:r>
                      <a:rPr lang="en-IL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dirty="0"/>
                  <a:t>: number of measured surface points.</a:t>
                </a:r>
                <a:endParaRPr lang="en-IL" dirty="0"/>
              </a:p>
              <a:p>
                <a:pPr lvl="0"/>
                <a14:m>
                  <m:oMath xmlns:m="http://schemas.openxmlformats.org/officeDocument/2006/math">
                    <m:r>
                      <a:rPr lang="en-IL" i="1">
                        <a:latin typeface="Cambria Math" panose="02040503050406030204" pitchFamily="18" charset="0"/>
                      </a:rPr>
                      <m:t>2</m:t>
                    </m:r>
                    <m:r>
                      <a:rPr lang="en-IL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dirty="0"/>
                  <a:t>: total number of measurement channels, since each point has two vibration axes.</a:t>
                </a:r>
                <a:endParaRPr lang="en-IL" dirty="0"/>
              </a:p>
              <a:p>
                <a:pPr marL="0" indent="0">
                  <a:buNone/>
                </a:pPr>
                <a:endParaRPr lang="en-IL" dirty="0"/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2082ED3D-1D4C-9ADB-AC6A-B2D19FACDD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000" y="2484000"/>
                <a:ext cx="11520000" cy="4140000"/>
              </a:xfrm>
              <a:prstGeom prst="rect">
                <a:avLst/>
              </a:prstGeom>
              <a:blipFill>
                <a:blip r:embed="rId3"/>
                <a:stretch>
                  <a:fillRect l="-1058" t="-2500"/>
                </a:stretch>
              </a:blipFill>
            </p:spPr>
            <p:txBody>
              <a:bodyPr/>
              <a:lstStyle/>
              <a:p>
                <a:r>
                  <a:rPr lang="en-I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4619105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7204B7-2B14-4DA2-5F64-8B96F350C7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06D080-22F3-3E2F-8C38-203A10A0AA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95919790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C2169B-E647-5200-CC15-018A97C6F0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CC09C5-878D-A6A2-853C-CF381878BB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L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66CC5536-7B8B-BAB9-0D36-D8664175137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6000" y="2754000"/>
            <a:ext cx="4565200" cy="1440000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2082ED3D-1D4C-9ADB-AC6A-B2D19FACDD90}"/>
              </a:ext>
            </a:extLst>
          </p:cNvPr>
          <p:cNvSpPr txBox="1">
            <a:spLocks/>
          </p:cNvSpPr>
          <p:nvPr/>
        </p:nvSpPr>
        <p:spPr>
          <a:xfrm>
            <a:off x="741000" y="2439000"/>
            <a:ext cx="10515600" cy="4140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L" dirty="0"/>
          </a:p>
        </p:txBody>
      </p:sp>
    </p:spTree>
    <p:extLst>
      <p:ext uri="{BB962C8B-B14F-4D97-AF65-F5344CB8AC3E}">
        <p14:creationId xmlns:p14="http://schemas.microsoft.com/office/powerpoint/2010/main" val="179262757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C2169B-E647-5200-CC15-018A97C6F0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CC09C5-878D-A6A2-853C-CF381878BB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6D7C16-C954-A941-6021-9DCD8C09F7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3829" y="1690688"/>
            <a:ext cx="10515600" cy="1063375"/>
          </a:xfrm>
        </p:spPr>
        <p:txBody>
          <a:bodyPr/>
          <a:lstStyle/>
          <a:p>
            <a:pPr marL="0" indent="0">
              <a:buNone/>
            </a:pPr>
            <a:endParaRPr lang="en-IL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2082ED3D-1D4C-9ADB-AC6A-B2D19FACDD90}"/>
              </a:ext>
            </a:extLst>
          </p:cNvPr>
          <p:cNvSpPr txBox="1">
            <a:spLocks/>
          </p:cNvSpPr>
          <p:nvPr/>
        </p:nvSpPr>
        <p:spPr>
          <a:xfrm>
            <a:off x="741000" y="2439000"/>
            <a:ext cx="10515600" cy="4140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L" dirty="0"/>
          </a:p>
        </p:txBody>
      </p:sp>
    </p:spTree>
    <p:extLst>
      <p:ext uri="{BB962C8B-B14F-4D97-AF65-F5344CB8AC3E}">
        <p14:creationId xmlns:p14="http://schemas.microsoft.com/office/powerpoint/2010/main" val="405628622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C2169B-E647-5200-CC15-018A97C6F0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CC09C5-878D-A6A2-853C-CF381878BB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6D7C16-C954-A941-6021-9DCD8C09F7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3829" y="1690688"/>
            <a:ext cx="10515600" cy="1063375"/>
          </a:xfrm>
        </p:spPr>
        <p:txBody>
          <a:bodyPr/>
          <a:lstStyle/>
          <a:p>
            <a:pPr marL="0" indent="0">
              <a:buNone/>
            </a:pPr>
            <a:endParaRPr lang="en-IL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2082ED3D-1D4C-9ADB-AC6A-B2D19FACDD90}"/>
              </a:ext>
            </a:extLst>
          </p:cNvPr>
          <p:cNvSpPr txBox="1">
            <a:spLocks/>
          </p:cNvSpPr>
          <p:nvPr/>
        </p:nvSpPr>
        <p:spPr>
          <a:xfrm>
            <a:off x="741000" y="2439000"/>
            <a:ext cx="10515600" cy="4140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L" dirty="0"/>
          </a:p>
        </p:txBody>
      </p:sp>
    </p:spTree>
    <p:extLst>
      <p:ext uri="{BB962C8B-B14F-4D97-AF65-F5344CB8AC3E}">
        <p14:creationId xmlns:p14="http://schemas.microsoft.com/office/powerpoint/2010/main" val="7019592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3049</TotalTime>
  <Words>1684</Words>
  <Application>Microsoft Office PowerPoint</Application>
  <PresentationFormat>Widescreen</PresentationFormat>
  <Paragraphs>160</Paragraphs>
  <Slides>24</Slides>
  <Notes>0</Notes>
  <HiddenSlides>0</HiddenSlides>
  <MMClips>1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9" baseType="lpstr">
      <vt:lpstr>Aptos</vt:lpstr>
      <vt:lpstr>Aptos Display</vt:lpstr>
      <vt:lpstr>Arial</vt:lpstr>
      <vt:lpstr>Cambria Math</vt:lpstr>
      <vt:lpstr>Office Theme</vt:lpstr>
      <vt:lpstr>Hearing the Room Through the Shape of the Drum</vt:lpstr>
      <vt:lpstr>Setup and Task</vt:lpstr>
      <vt:lpstr>From One Laser Point to a Grid</vt:lpstr>
      <vt:lpstr>Surface Vibration Model</vt:lpstr>
      <vt:lpstr>Modal Decomposition</vt:lpstr>
      <vt:lpstr>Second-order modal oscillator:</vt:lpstr>
      <vt:lpstr>Modal response in the frequency domain:</vt:lpstr>
      <vt:lpstr>Second-order oscillator transfer function:</vt:lpstr>
      <vt:lpstr>Surface Displacement as a Modal Convolution</vt:lpstr>
      <vt:lpstr>Sound Pressure and Source Signal</vt:lpstr>
      <vt:lpstr>Speckle-Based Vibration Measurements</vt:lpstr>
      <vt:lpstr>Forward model from sound to measured speckle shifts</vt:lpstr>
      <vt:lpstr>Mode Frequency Estimation</vt:lpstr>
      <vt:lpstr>Mode Shape Gradient Estimation</vt:lpstr>
      <vt:lpstr>Sound Recovery Optimization</vt:lpstr>
      <vt:lpstr>Total variation of a mode-shape gradient</vt:lpstr>
      <vt:lpstr>Calibration-Based Baseline</vt:lpstr>
      <vt:lpstr>Reference convolution model</vt:lpstr>
      <vt:lpstr>Inverse filter estimation</vt:lpstr>
      <vt:lpstr>Recovered signal using calibrated inverse filters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Shoham Perry</dc:creator>
  <cp:lastModifiedBy>Shoham Perry</cp:lastModifiedBy>
  <cp:revision>25</cp:revision>
  <dcterms:created xsi:type="dcterms:W3CDTF">2026-06-13T06:50:58Z</dcterms:created>
  <dcterms:modified xsi:type="dcterms:W3CDTF">2026-06-19T05:45:30Z</dcterms:modified>
</cp:coreProperties>
</file>