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2" r:id="rId3"/>
    <p:sldId id="260" r:id="rId4"/>
    <p:sldId id="258" r:id="rId5"/>
    <p:sldId id="257" r:id="rId6"/>
    <p:sldId id="263" r:id="rId7"/>
  </p:sldIdLst>
  <p:sldSz cx="12192000" cy="6858000"/>
  <p:notesSz cx="6858000" cy="9144000"/>
  <p:defaultTextStyle>
    <a:defPPr>
      <a:defRPr lang="en-I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61" d="100"/>
          <a:sy n="61" d="100"/>
        </p:scale>
        <p:origin x="57" y="17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45000" cy="450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49B705-7124-0C46-B058-69D8A87B5E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43FDAB9-7BC8-E837-949A-8E29F17887F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5C00C9-0E32-A9D5-665B-E4D6B7FF32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6BEFB0-C86D-4E60-A5F1-3C6A4FC28D6B}" type="datetimeFigureOut">
              <a:rPr lang="en-IL" smtClean="0"/>
              <a:t>25/07/2026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842ED9-5705-B9D1-3F5C-3AD9112E5D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83F422-2C59-E53D-4ECB-31BE094AD8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34B8D3-3DD9-4F44-8740-49DE7E15BBB0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5175185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E8CFAF-1A06-5DBF-833F-0FC2D5325D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2AAE4A-A461-9CD0-7196-2DCF8B8021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31A48A-0110-1FC3-A93D-E6620EFFDA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6BEFB0-C86D-4E60-A5F1-3C6A4FC28D6B}" type="datetimeFigureOut">
              <a:rPr lang="en-IL" smtClean="0"/>
              <a:t>25/07/2026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1C0524-1E2E-9474-60A3-A641172AB1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2BB456-7649-6842-9C48-8C27BB2C15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34B8D3-3DD9-4F44-8740-49DE7E15BBB0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1404388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71E903-854A-6E8D-772A-30230F171E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C6083EC-D050-07EF-65E1-3383A52E9E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9E598E-F9C9-4CCD-C8C7-3684714F7D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6BEFB0-C86D-4E60-A5F1-3C6A4FC28D6B}" type="datetimeFigureOut">
              <a:rPr lang="en-IL" smtClean="0"/>
              <a:t>25/07/2026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9B6EFF-0683-DA63-16C4-1BA40CAD8B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01206B-79CC-F010-71D5-7B0FA3CD6D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34B8D3-3DD9-4F44-8740-49DE7E15BBB0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59226991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A17325-0321-4420-449D-146661D9A5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59B4BC-6F8B-29E4-CCB8-B0A9621D3BC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967D7DE-FEDD-5997-6E23-47B013B81F3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EC3CF43-12C0-214E-A529-5E54F7BA82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6BEFB0-C86D-4E60-A5F1-3C6A4FC28D6B}" type="datetimeFigureOut">
              <a:rPr lang="en-IL" smtClean="0"/>
              <a:t>25/07/2026</a:t>
            </a:fld>
            <a:endParaRPr lang="en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7E2E63D-36DF-C2E6-B310-AE999A7869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0C6EAA0-9F0F-E574-8720-CD5BC8D55B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34B8D3-3DD9-4F44-8740-49DE7E15BBB0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9885935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86FD19-C828-C541-9722-18D052085F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D20BDA-1FB6-673A-E3D8-088660FED7A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6C7B4A6-D362-64D7-2F30-6EDE826F745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B43E5BF-46DD-B963-DC1C-33CE1AE4AD2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6F62645-26BE-FE19-96EE-CFD84D83096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B2DB123-B3BA-9D26-AF99-32653132B9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6BEFB0-C86D-4E60-A5F1-3C6A4FC28D6B}" type="datetimeFigureOut">
              <a:rPr lang="en-IL" smtClean="0"/>
              <a:t>25/07/2026</a:t>
            </a:fld>
            <a:endParaRPr lang="en-I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16F5647-7605-B94E-8EB2-6F22E5C58F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B50AE17-B7DA-F61B-6D6C-94E7F466C3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34B8D3-3DD9-4F44-8740-49DE7E15BBB0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987887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862BAA-7C64-87A4-18DE-FC6AED99FD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AA17604-2AF8-7E68-36D1-47E675DADC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6BEFB0-C86D-4E60-A5F1-3C6A4FC28D6B}" type="datetimeFigureOut">
              <a:rPr lang="en-IL" smtClean="0"/>
              <a:t>25/07/2026</a:t>
            </a:fld>
            <a:endParaRPr lang="en-I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7F80260-9A2B-B258-9BCB-59E693F873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4552155-7B82-B034-0247-8B0D3E4863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34B8D3-3DD9-4F44-8740-49DE7E15BBB0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8865467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DB7E32-50FB-80BB-EA6F-CEE8C8870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6BEFB0-C86D-4E60-A5F1-3C6A4FC28D6B}" type="datetimeFigureOut">
              <a:rPr lang="en-IL" smtClean="0"/>
              <a:t>25/07/2026</a:t>
            </a:fld>
            <a:endParaRPr lang="en-I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4E88151-08C2-829D-EA2F-EC5C10BAA6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739AFB-0F1A-C9DB-2CD2-589AD518BE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34B8D3-3DD9-4F44-8740-49DE7E15BBB0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4802531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F303AD-B5F1-6BF5-AA7B-FDAF4CD6E3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FE956F-2F40-B681-F488-08967F2A18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C7E156A-C04D-D977-3C83-E56C27EF081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7C8915D-F6EE-5051-B9D4-8133971EBE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6BEFB0-C86D-4E60-A5F1-3C6A4FC28D6B}" type="datetimeFigureOut">
              <a:rPr lang="en-IL" smtClean="0"/>
              <a:t>25/07/2026</a:t>
            </a:fld>
            <a:endParaRPr lang="en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C9F2369-645D-DE3F-6327-661B8F315B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3DD2A5-7915-1BF0-E1D0-07CF374049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34B8D3-3DD9-4F44-8740-49DE7E15BBB0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5669066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BB0A62-0D67-C0EF-3CF2-41BA77EC67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6407C32-1EAF-EBF7-4905-736B3B9C43E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CB44E15-FB53-138D-472F-D4BE32C5683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F88F47D-B354-259D-FE55-6D0DF8687A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6BEFB0-C86D-4E60-A5F1-3C6A4FC28D6B}" type="datetimeFigureOut">
              <a:rPr lang="en-IL" smtClean="0"/>
              <a:t>25/07/2026</a:t>
            </a:fld>
            <a:endParaRPr lang="en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D215897-C80D-A27F-53DB-073710AF2E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54A47B-A61F-55C9-2C21-46DC988874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34B8D3-3DD9-4F44-8740-49DE7E15BBB0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40043976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DC9689-626B-3621-E992-86EFC38665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2E60DB1-DE74-8019-BB5E-AF4910C96B7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86A2556-0E8B-DE22-6509-796B0913F5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6BEFB0-C86D-4E60-A5F1-3C6A4FC28D6B}" type="datetimeFigureOut">
              <a:rPr lang="en-IL" smtClean="0"/>
              <a:t>25/07/2026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2797284-65EE-6E5E-BCE9-3CC31CBBF2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564DA9-9581-D4F7-B7BA-29132990D1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34B8D3-3DD9-4F44-8740-49DE7E15BBB0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9049368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7AD6CD8-F4BC-AD5C-7C53-B0F35333732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F903382-B03F-BF9C-EE74-A0844C0D41C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5C9F28-CE1C-D8D3-2B69-F686F402A6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6BEFB0-C86D-4E60-A5F1-3C6A4FC28D6B}" type="datetimeFigureOut">
              <a:rPr lang="en-IL" smtClean="0"/>
              <a:t>25/07/2026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0C779C-6988-A478-D59D-047D0F8860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A75F0B-4ADD-EB37-3C2C-C7BE000F24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34B8D3-3DD9-4F44-8740-49DE7E15BBB0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5861591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50000"/>
            <a:lumOff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3013D33-73F9-BA6D-96AD-1073EE03CB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84E6D32-5CB0-3AA9-FB32-DD138F7696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57FF84-92A6-7E6A-2852-E8923CA17D2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56BEFB0-C86D-4E60-A5F1-3C6A4FC28D6B}" type="datetimeFigureOut">
              <a:rPr lang="en-IL" smtClean="0"/>
              <a:t>25/07/2026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F8CCCC8-97D4-A201-E28E-435680F1994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02E408-376A-5635-A4DF-E8984E3C8C6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934B8D3-3DD9-4F44-8740-49DE7E15BBB0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5463253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I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AA8DFE-94D1-BBA8-6F4E-CBE219442D0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Semantic Search Engine for CVPR 2026 Academic Literature</a:t>
            </a:r>
            <a:endParaRPr lang="en-IL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503A4FD-27B8-1F9C-A335-8840D25905F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IL" dirty="0"/>
          </a:p>
        </p:txBody>
      </p:sp>
    </p:spTree>
    <p:extLst>
      <p:ext uri="{BB962C8B-B14F-4D97-AF65-F5344CB8AC3E}">
        <p14:creationId xmlns:p14="http://schemas.microsoft.com/office/powerpoint/2010/main" val="40016479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92F2F6-2CD3-07ED-4FB1-6C7948D4AC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1000" y="234000"/>
            <a:ext cx="10515600" cy="1325563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e-IL" dirty="0" err="1"/>
              <a:t>Project</a:t>
            </a:r>
            <a:r>
              <a:rPr lang="he-IL" dirty="0"/>
              <a:t> </a:t>
            </a:r>
            <a:r>
              <a:rPr lang="he-IL" dirty="0" err="1"/>
              <a:t>Goals</a:t>
            </a:r>
            <a:r>
              <a:rPr lang="en-US" dirty="0"/>
              <a:t>:</a:t>
            </a:r>
            <a:endParaRPr lang="he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FB5F78-5A89-3C99-FE8D-963A76B9A3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he-IL" b="1" u="sng" dirty="0" err="1"/>
              <a:t>Bridge</a:t>
            </a:r>
            <a:r>
              <a:rPr lang="he-IL" b="1" u="sng" dirty="0"/>
              <a:t> </a:t>
            </a:r>
            <a:r>
              <a:rPr lang="he-IL" b="1" u="sng" dirty="0" err="1"/>
              <a:t>the</a:t>
            </a:r>
            <a:r>
              <a:rPr lang="he-IL" b="1" u="sng" dirty="0"/>
              <a:t> </a:t>
            </a:r>
            <a:r>
              <a:rPr lang="he-IL" b="1" u="sng" dirty="0" err="1"/>
              <a:t>Information</a:t>
            </a:r>
            <a:r>
              <a:rPr lang="he-IL" b="1" u="sng" dirty="0"/>
              <a:t> </a:t>
            </a:r>
            <a:r>
              <a:rPr lang="he-IL" b="1" u="sng" dirty="0" err="1"/>
              <a:t>Gap</a:t>
            </a:r>
            <a:endParaRPr lang="he-IL" b="1" u="sng" dirty="0"/>
          </a:p>
          <a:p>
            <a:r>
              <a:rPr lang="he-IL" dirty="0" err="1"/>
              <a:t>Make</a:t>
            </a:r>
            <a:r>
              <a:rPr lang="he-IL" dirty="0"/>
              <a:t> </a:t>
            </a:r>
            <a:r>
              <a:rPr lang="he-IL" dirty="0" err="1"/>
              <a:t>the</a:t>
            </a:r>
            <a:r>
              <a:rPr lang="he-IL" dirty="0"/>
              <a:t> </a:t>
            </a:r>
            <a:r>
              <a:rPr lang="he-IL" dirty="0" err="1"/>
              <a:t>published</a:t>
            </a:r>
            <a:r>
              <a:rPr lang="he-IL" dirty="0"/>
              <a:t> </a:t>
            </a:r>
            <a:r>
              <a:rPr lang="he-IL" dirty="0" err="1"/>
              <a:t>conference</a:t>
            </a:r>
            <a:r>
              <a:rPr lang="he-IL" dirty="0"/>
              <a:t> </a:t>
            </a:r>
            <a:r>
              <a:rPr lang="he-IL" dirty="0" err="1"/>
              <a:t>data</a:t>
            </a:r>
            <a:r>
              <a:rPr lang="he-IL" dirty="0"/>
              <a:t> </a:t>
            </a:r>
            <a:r>
              <a:rPr lang="he-IL" dirty="0" err="1"/>
              <a:t>readily</a:t>
            </a:r>
            <a:r>
              <a:rPr lang="he-IL" dirty="0"/>
              <a:t> </a:t>
            </a:r>
            <a:r>
              <a:rPr lang="he-IL" dirty="0" err="1"/>
              <a:t>accessible</a:t>
            </a:r>
            <a:r>
              <a:rPr lang="he-IL" dirty="0"/>
              <a:t> </a:t>
            </a:r>
            <a:r>
              <a:rPr lang="he-IL" dirty="0" err="1"/>
              <a:t>and</a:t>
            </a:r>
            <a:r>
              <a:rPr lang="he-IL" dirty="0"/>
              <a:t> </a:t>
            </a:r>
            <a:r>
              <a:rPr lang="he-IL" dirty="0" err="1"/>
              <a:t>actionable</a:t>
            </a:r>
            <a:r>
              <a:rPr lang="he-IL" dirty="0"/>
              <a:t> </a:t>
            </a:r>
            <a:r>
              <a:rPr lang="he-IL" dirty="0" err="1"/>
              <a:t>for</a:t>
            </a:r>
            <a:r>
              <a:rPr lang="he-IL" dirty="0"/>
              <a:t> </a:t>
            </a:r>
            <a:r>
              <a:rPr lang="he-IL" dirty="0" err="1"/>
              <a:t>the</a:t>
            </a:r>
            <a:r>
              <a:rPr lang="he-IL" dirty="0"/>
              <a:t> </a:t>
            </a:r>
            <a:r>
              <a:rPr lang="he-IL" b="1" dirty="0" err="1"/>
              <a:t>Spaik</a:t>
            </a:r>
            <a:r>
              <a:rPr lang="he-IL" dirty="0"/>
              <a:t> </a:t>
            </a:r>
            <a:r>
              <a:rPr lang="he-IL" dirty="0" err="1"/>
              <a:t>community</a:t>
            </a:r>
            <a:r>
              <a:rPr lang="he-IL" dirty="0"/>
              <a:t>.</a:t>
            </a:r>
          </a:p>
          <a:p>
            <a:pPr marL="0" indent="0">
              <a:buNone/>
            </a:pPr>
            <a:r>
              <a:rPr lang="he-IL" b="1" u="sng" dirty="0" err="1"/>
              <a:t>Tailored</a:t>
            </a:r>
            <a:r>
              <a:rPr lang="he-IL" b="1" u="sng" dirty="0"/>
              <a:t> </a:t>
            </a:r>
            <a:r>
              <a:rPr lang="he-IL" b="1" u="sng" dirty="0" err="1"/>
              <a:t>Search</a:t>
            </a:r>
            <a:r>
              <a:rPr lang="he-IL" b="1" u="sng" dirty="0"/>
              <a:t> </a:t>
            </a:r>
            <a:r>
              <a:rPr lang="he-IL" b="1" u="sng" dirty="0" err="1"/>
              <a:t>Methodology</a:t>
            </a:r>
            <a:endParaRPr lang="he-IL" b="1" u="sng" dirty="0"/>
          </a:p>
          <a:p>
            <a:r>
              <a:rPr lang="he-IL" dirty="0" err="1"/>
              <a:t>Adapt</a:t>
            </a:r>
            <a:r>
              <a:rPr lang="he-IL" dirty="0"/>
              <a:t> </a:t>
            </a:r>
            <a:r>
              <a:rPr lang="he-IL" dirty="0" err="1"/>
              <a:t>an</a:t>
            </a:r>
            <a:r>
              <a:rPr lang="he-IL" dirty="0"/>
              <a:t> </a:t>
            </a:r>
            <a:r>
              <a:rPr lang="he-IL" dirty="0" err="1"/>
              <a:t>efficient</a:t>
            </a:r>
            <a:r>
              <a:rPr lang="he-IL" dirty="0"/>
              <a:t> </a:t>
            </a:r>
            <a:r>
              <a:rPr lang="he-IL" dirty="0" err="1"/>
              <a:t>search</a:t>
            </a:r>
            <a:r>
              <a:rPr lang="he-IL" dirty="0"/>
              <a:t> </a:t>
            </a:r>
            <a:r>
              <a:rPr lang="he-IL" dirty="0" err="1"/>
              <a:t>and</a:t>
            </a:r>
            <a:r>
              <a:rPr lang="he-IL" dirty="0"/>
              <a:t> </a:t>
            </a:r>
            <a:r>
              <a:rPr lang="he-IL" dirty="0" err="1"/>
              <a:t>retrieval</a:t>
            </a:r>
            <a:r>
              <a:rPr lang="he-IL" dirty="0"/>
              <a:t> </a:t>
            </a:r>
            <a:r>
              <a:rPr lang="he-IL" dirty="0" err="1"/>
              <a:t>methodology</a:t>
            </a:r>
            <a:r>
              <a:rPr lang="he-IL" dirty="0"/>
              <a:t> </a:t>
            </a:r>
            <a:r>
              <a:rPr lang="he-IL" dirty="0" err="1"/>
              <a:t>customized</a:t>
            </a:r>
            <a:r>
              <a:rPr lang="he-IL" dirty="0"/>
              <a:t> </a:t>
            </a:r>
            <a:r>
              <a:rPr lang="he-IL" dirty="0" err="1"/>
              <a:t>to</a:t>
            </a:r>
            <a:r>
              <a:rPr lang="he-IL" dirty="0"/>
              <a:t> </a:t>
            </a:r>
            <a:r>
              <a:rPr lang="he-IL" dirty="0" err="1"/>
              <a:t>the</a:t>
            </a:r>
            <a:r>
              <a:rPr lang="he-IL" dirty="0"/>
              <a:t> </a:t>
            </a:r>
            <a:r>
              <a:rPr lang="he-IL" dirty="0" err="1"/>
              <a:t>specific</a:t>
            </a:r>
            <a:r>
              <a:rPr lang="he-IL" dirty="0"/>
              <a:t> </a:t>
            </a:r>
            <a:r>
              <a:rPr lang="he-IL" dirty="0" err="1"/>
              <a:t>scientific</a:t>
            </a:r>
            <a:r>
              <a:rPr lang="he-IL" dirty="0"/>
              <a:t> </a:t>
            </a:r>
            <a:r>
              <a:rPr lang="he-IL" dirty="0" err="1"/>
              <a:t>domains</a:t>
            </a:r>
            <a:r>
              <a:rPr lang="he-IL" dirty="0"/>
              <a:t> </a:t>
            </a:r>
            <a:r>
              <a:rPr lang="he-IL" dirty="0" err="1"/>
              <a:t>of</a:t>
            </a:r>
            <a:r>
              <a:rPr lang="he-IL" dirty="0"/>
              <a:t> </a:t>
            </a:r>
            <a:r>
              <a:rPr lang="he-IL" dirty="0" err="1"/>
              <a:t>interest</a:t>
            </a:r>
            <a:r>
              <a:rPr lang="he-IL" dirty="0"/>
              <a:t> </a:t>
            </a:r>
            <a:r>
              <a:rPr lang="he-IL" dirty="0" err="1"/>
              <a:t>to</a:t>
            </a:r>
            <a:r>
              <a:rPr lang="he-IL" dirty="0"/>
              <a:t> </a:t>
            </a:r>
            <a:r>
              <a:rPr lang="he-IL" dirty="0" err="1"/>
              <a:t>our</a:t>
            </a:r>
            <a:r>
              <a:rPr lang="he-IL" dirty="0"/>
              <a:t> </a:t>
            </a:r>
            <a:r>
              <a:rPr lang="he-IL" dirty="0" err="1"/>
              <a:t>community</a:t>
            </a:r>
            <a:r>
              <a:rPr lang="he-IL" dirty="0"/>
              <a:t>.</a:t>
            </a:r>
          </a:p>
          <a:p>
            <a:pPr marL="0" indent="0">
              <a:buNone/>
            </a:pPr>
            <a:r>
              <a:rPr lang="he-IL" b="1" dirty="0" err="1"/>
              <a:t>Strategic</a:t>
            </a:r>
            <a:r>
              <a:rPr lang="he-IL" b="1" dirty="0"/>
              <a:t> </a:t>
            </a:r>
            <a:r>
              <a:rPr lang="he-IL" b="1" dirty="0" err="1"/>
              <a:t>Alignment</a:t>
            </a:r>
            <a:endParaRPr lang="he-IL" b="1" dirty="0"/>
          </a:p>
          <a:p>
            <a:r>
              <a:rPr lang="he-IL" dirty="0" err="1"/>
              <a:t>Equip</a:t>
            </a:r>
            <a:r>
              <a:rPr lang="he-IL" dirty="0"/>
              <a:t> </a:t>
            </a:r>
            <a:r>
              <a:rPr lang="he-IL" dirty="0" err="1"/>
              <a:t>and</a:t>
            </a:r>
            <a:r>
              <a:rPr lang="he-IL" dirty="0"/>
              <a:t> </a:t>
            </a:r>
            <a:r>
              <a:rPr lang="he-IL" dirty="0" err="1"/>
              <a:t>focus</a:t>
            </a:r>
            <a:r>
              <a:rPr lang="he-IL" dirty="0"/>
              <a:t> </a:t>
            </a:r>
            <a:r>
              <a:rPr lang="he-IL" dirty="0" err="1"/>
              <a:t>our</a:t>
            </a:r>
            <a:r>
              <a:rPr lang="he-IL" dirty="0"/>
              <a:t> </a:t>
            </a:r>
            <a:r>
              <a:rPr lang="he-IL" dirty="0" err="1"/>
              <a:t>representatives</a:t>
            </a:r>
            <a:r>
              <a:rPr lang="he-IL" dirty="0"/>
              <a:t> </a:t>
            </a:r>
            <a:r>
              <a:rPr lang="he-IL" dirty="0" err="1"/>
              <a:t>ahead</a:t>
            </a:r>
            <a:r>
              <a:rPr lang="he-IL" dirty="0"/>
              <a:t> </a:t>
            </a:r>
            <a:r>
              <a:rPr lang="he-IL" dirty="0" err="1"/>
              <a:t>of</a:t>
            </a:r>
            <a:r>
              <a:rPr lang="he-IL" dirty="0"/>
              <a:t> </a:t>
            </a:r>
            <a:r>
              <a:rPr lang="he-IL" dirty="0" err="1"/>
              <a:t>the</a:t>
            </a:r>
            <a:r>
              <a:rPr lang="he-IL" dirty="0"/>
              <a:t> </a:t>
            </a:r>
            <a:r>
              <a:rPr lang="he-IL" dirty="0" err="1"/>
              <a:t>next</a:t>
            </a:r>
            <a:r>
              <a:rPr lang="he-IL" dirty="0"/>
              <a:t> </a:t>
            </a:r>
            <a:r>
              <a:rPr lang="he-IL" dirty="0" err="1"/>
              <a:t>conference</a:t>
            </a:r>
            <a:r>
              <a:rPr lang="he-IL" dirty="0"/>
              <a:t>, </a:t>
            </a:r>
            <a:r>
              <a:rPr lang="he-IL" dirty="0" err="1"/>
              <a:t>ensuring</a:t>
            </a:r>
            <a:r>
              <a:rPr lang="he-IL" dirty="0"/>
              <a:t> </a:t>
            </a:r>
            <a:r>
              <a:rPr lang="he-IL" dirty="0" err="1"/>
              <a:t>targeted</a:t>
            </a:r>
            <a:r>
              <a:rPr lang="he-IL" dirty="0"/>
              <a:t> </a:t>
            </a:r>
            <a:r>
              <a:rPr lang="he-IL" dirty="0" err="1"/>
              <a:t>attendance</a:t>
            </a:r>
            <a:r>
              <a:rPr lang="he-IL" dirty="0"/>
              <a:t> </a:t>
            </a:r>
            <a:r>
              <a:rPr lang="he-IL" dirty="0" err="1"/>
              <a:t>and</a:t>
            </a:r>
            <a:r>
              <a:rPr lang="he-IL" dirty="0"/>
              <a:t> </a:t>
            </a:r>
            <a:r>
              <a:rPr lang="he-IL" dirty="0" err="1"/>
              <a:t>maximum</a:t>
            </a:r>
            <a:r>
              <a:rPr lang="he-IL" dirty="0"/>
              <a:t> </a:t>
            </a:r>
            <a:r>
              <a:rPr lang="he-IL" dirty="0" err="1"/>
              <a:t>return</a:t>
            </a:r>
            <a:r>
              <a:rPr lang="he-IL" dirty="0"/>
              <a:t> </a:t>
            </a:r>
            <a:r>
              <a:rPr lang="he-IL" dirty="0" err="1"/>
              <a:t>on</a:t>
            </a:r>
            <a:r>
              <a:rPr lang="he-IL" dirty="0"/>
              <a:t> </a:t>
            </a:r>
            <a:r>
              <a:rPr lang="he-IL" dirty="0" err="1"/>
              <a:t>participation</a:t>
            </a:r>
            <a:r>
              <a:rPr lang="he-IL" dirty="0"/>
              <a:t>.</a:t>
            </a:r>
          </a:p>
          <a:p>
            <a:endParaRPr lang="he-IL" dirty="0"/>
          </a:p>
        </p:txBody>
      </p:sp>
    </p:spTree>
    <p:extLst>
      <p:ext uri="{BB962C8B-B14F-4D97-AF65-F5344CB8AC3E}">
        <p14:creationId xmlns:p14="http://schemas.microsoft.com/office/powerpoint/2010/main" val="8149384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613971-1F6C-5EB3-FF31-0D694CE6D0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12" y="0"/>
            <a:ext cx="10515600" cy="954000"/>
          </a:xfrm>
        </p:spPr>
        <p:txBody>
          <a:bodyPr>
            <a:normAutofit/>
          </a:bodyPr>
          <a:lstStyle/>
          <a:p>
            <a:r>
              <a:rPr lang="en-US" dirty="0"/>
              <a:t>Project stages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D38D13-1436-D0D0-544F-2CCB6EEFAF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6000" y="819000"/>
            <a:ext cx="8055000" cy="5984999"/>
          </a:xfrm>
        </p:spPr>
        <p:txBody>
          <a:bodyPr>
            <a:normAutofit/>
          </a:bodyPr>
          <a:lstStyle/>
          <a:p>
            <a:r>
              <a:rPr lang="en-US" sz="2000" b="1" dirty="0"/>
              <a:t>Download</a:t>
            </a:r>
            <a:r>
              <a:rPr lang="en-US" sz="2000" dirty="0"/>
              <a:t>: Created a Python script to download 4,072 PDFs along with their HTML abstracts.</a:t>
            </a:r>
          </a:p>
          <a:p>
            <a:r>
              <a:rPr lang="en-US" sz="2000" b="1" dirty="0"/>
              <a:t>Database Class</a:t>
            </a:r>
            <a:r>
              <a:rPr lang="en-US" sz="2000" dirty="0"/>
              <a:t>: Developed a Python class to fetch the title, PDF path, and abstract based on a given index.</a:t>
            </a:r>
          </a:p>
          <a:p>
            <a:r>
              <a:rPr lang="en-US" sz="2000" b="1" dirty="0"/>
              <a:t>Model Loading</a:t>
            </a:r>
            <a:r>
              <a:rPr lang="en-US" sz="2000" dirty="0"/>
              <a:t>: Downloaded and loaded the pretrained BAAI/bge-large-en-v1.5 model.</a:t>
            </a:r>
          </a:p>
          <a:p>
            <a:r>
              <a:rPr lang="en-US" sz="2000" b="1" dirty="0"/>
              <a:t>Semantic Matrix</a:t>
            </a:r>
            <a:r>
              <a:rPr lang="en-US" sz="2000" dirty="0"/>
              <a:t>: Generated the semantic matrix utilizing the neural network.</a:t>
            </a:r>
          </a:p>
          <a:p>
            <a:r>
              <a:rPr lang="en-US" sz="2000" b="1" dirty="0"/>
              <a:t>Search Function</a:t>
            </a:r>
            <a:r>
              <a:rPr lang="en-US" sz="2000" dirty="0"/>
              <a:t>: Wrote a Python function that executes the search and returns the top 20 result indexes, sorted by relevance.</a:t>
            </a:r>
          </a:p>
          <a:p>
            <a:r>
              <a:rPr lang="en-US" sz="2000" b="1" dirty="0"/>
              <a:t>Web Interface</a:t>
            </a:r>
            <a:r>
              <a:rPr lang="en-US" sz="2000" dirty="0"/>
              <a:t>: Developed a website to provide accessible search capabilities and document viewing.</a:t>
            </a:r>
          </a:p>
          <a:p>
            <a:endParaRPr lang="en-IL" sz="20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ED6AF4C-B716-71E1-5776-F2B20C6BC7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28008" y="729001"/>
            <a:ext cx="3608688" cy="3015000"/>
          </a:xfrm>
          <a:prstGeom prst="rect">
            <a:avLst/>
          </a:prstGeom>
        </p:spPr>
      </p:pic>
      <p:sp>
        <p:nvSpPr>
          <p:cNvPr id="13" name="Arrow: Curved Right 12">
            <a:extLst>
              <a:ext uri="{FF2B5EF4-FFF2-40B4-BE49-F238E27FC236}">
                <a16:creationId xmlns:a16="http://schemas.microsoft.com/office/drawing/2014/main" id="{7FE069B4-A783-B9F2-AF8B-61F94E6669A6}"/>
              </a:ext>
            </a:extLst>
          </p:cNvPr>
          <p:cNvSpPr/>
          <p:nvPr/>
        </p:nvSpPr>
        <p:spPr>
          <a:xfrm>
            <a:off x="8076000" y="2650501"/>
            <a:ext cx="351313" cy="2803499"/>
          </a:xfrm>
          <a:prstGeom prst="curvedRightArrow">
            <a:avLst>
              <a:gd name="adj1" fmla="val 1665"/>
              <a:gd name="adj2" fmla="val 9629"/>
              <a:gd name="adj3" fmla="val 15032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he-IL">
              <a:solidFill>
                <a:schemeClr val="tx1"/>
              </a:solidFill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D93A2BC8-BFE6-E9D0-3D90-D81C496184A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27313" y="3830579"/>
            <a:ext cx="3608687" cy="3113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39798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84DA81-633D-F68B-50DB-2A705811D4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189000"/>
            <a:ext cx="10515600" cy="1325563"/>
          </a:xfrm>
        </p:spPr>
        <p:txBody>
          <a:bodyPr/>
          <a:lstStyle/>
          <a:p>
            <a:r>
              <a:rPr lang="en-US" dirty="0"/>
              <a:t>Encoder-only transformer</a:t>
            </a:r>
            <a:endParaRPr lang="en-IL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C9E5A89E-5C32-FE26-B67A-8E7D1990A0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06000" y="1813587"/>
            <a:ext cx="2302211" cy="446175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4" name="Content Placeholder 13">
                <a:extLst>
                  <a:ext uri="{FF2B5EF4-FFF2-40B4-BE49-F238E27FC236}">
                    <a16:creationId xmlns:a16="http://schemas.microsoft.com/office/drawing/2014/main" id="{692D3587-4E38-31FC-630B-637F3A97F49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61000" y="1805518"/>
                <a:ext cx="7650000" cy="4863482"/>
              </a:xfrm>
            </p:spPr>
            <p:txBody>
              <a:bodyPr>
                <a:normAutofit fontScale="85000" lnSpcReduction="20000"/>
              </a:bodyPr>
              <a:lstStyle/>
              <a:p>
                <a:r>
                  <a:rPr lang="en-US" sz="1600" dirty="0"/>
                  <a:t>Let the localized BGE neural network be defined as a parameterized mapping function </a:t>
                </a:r>
                <a14:m>
                  <m:oMath xmlns:m="http://schemas.openxmlformats.org/officeDocument/2006/math">
                    <m:r>
                      <a:rPr lang="en-IL" sz="1600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IL" sz="1600">
                        <a:latin typeface="Cambria Math" panose="02040503050406030204" pitchFamily="18" charset="0"/>
                      </a:rPr>
                      <m:t>:</m:t>
                    </m:r>
                    <m:r>
                      <a:rPr lang="en-IL" sz="1600">
                        <a:latin typeface="Cambria Math" panose="02040503050406030204" pitchFamily="18" charset="0"/>
                      </a:rPr>
                      <m:t>𝒳</m:t>
                    </m:r>
                    <m:r>
                      <a:rPr lang="en-IL" sz="1600">
                        <a:latin typeface="Cambria Math" panose="02040503050406030204" pitchFamily="18" charset="0"/>
                      </a:rPr>
                      <m:t>→</m:t>
                    </m:r>
                    <m:sSup>
                      <m:sSupPr>
                        <m:ctrlPr>
                          <a:rPr lang="en-IL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IL" sz="1600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IL" sz="1600" i="1">
                            <a:latin typeface="Cambria Math" panose="02040503050406030204" pitchFamily="18" charset="0"/>
                          </a:rPr>
                          <m:t>𝑑</m:t>
                        </m:r>
                      </m:sup>
                    </m:sSup>
                  </m:oMath>
                </a14:m>
                <a:r>
                  <a:rPr lang="en-US" sz="1600" dirty="0"/>
                  <a:t>, where </a:t>
                </a:r>
                <a14:m>
                  <m:oMath xmlns:m="http://schemas.openxmlformats.org/officeDocument/2006/math">
                    <m:r>
                      <a:rPr lang="en-IL" sz="1600">
                        <a:latin typeface="Cambria Math" panose="02040503050406030204" pitchFamily="18" charset="0"/>
                      </a:rPr>
                      <m:t>𝒳</m:t>
                    </m:r>
                  </m:oMath>
                </a14:m>
                <a:r>
                  <a:rPr lang="en-US" sz="1600" dirty="0"/>
                  <a:t> defines the universal text space and </a:t>
                </a:r>
                <a14:m>
                  <m:oMath xmlns:m="http://schemas.openxmlformats.org/officeDocument/2006/math">
                    <m:r>
                      <a:rPr lang="en-IL" sz="1600" i="1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IL" sz="1600">
                        <a:latin typeface="Cambria Math" panose="02040503050406030204" pitchFamily="18" charset="0"/>
                      </a:rPr>
                      <m:t>=</m:t>
                    </m:r>
                    <m:r>
                      <a:rPr lang="en-IL" sz="1600" i="1">
                        <a:latin typeface="Cambria Math" panose="02040503050406030204" pitchFamily="18" charset="0"/>
                      </a:rPr>
                      <m:t>1024</m:t>
                    </m:r>
                  </m:oMath>
                </a14:m>
                <a:r>
                  <a:rPr lang="en-US" sz="1600" dirty="0"/>
                  <a:t>. The synthesis of the semantic sectors for the entire corpus proceeds as follows:</a:t>
                </a:r>
                <a:endParaRPr lang="en-IL" sz="1600" dirty="0"/>
              </a:p>
              <a:p>
                <a:pPr lvl="0"/>
                <a:r>
                  <a:rPr lang="en-US" sz="1600" b="1" dirty="0"/>
                  <a:t>Tokenization:</a:t>
                </a:r>
                <a:r>
                  <a:rPr lang="en-US" sz="1600" dirty="0"/>
                  <a:t> The combined text payload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IL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L" sz="16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IL" sz="16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1600" dirty="0"/>
                  <a:t> is mapped to a tokenized tensor </a:t>
                </a:r>
                <a:endParaRPr lang="en-US" sz="1600" b="1" i="1" dirty="0"/>
              </a:p>
              <a:p>
                <a:pPr marL="0" lvl="0" indent="0" algn="ctr">
                  <a:buNone/>
                </a:pPr>
                <a14:m>
                  <m:oMath xmlns:m="http://schemas.openxmlformats.org/officeDocument/2006/math">
                    <m:r>
                      <a:rPr lang="en-IL" sz="1600" b="1" i="1">
                        <a:latin typeface="Cambria Math" panose="02040503050406030204" pitchFamily="18" charset="0"/>
                      </a:rPr>
                      <m:t>𝒕</m:t>
                    </m:r>
                    <m:r>
                      <a:rPr lang="en-IL" sz="1600">
                        <a:latin typeface="Cambria Math" panose="02040503050406030204" pitchFamily="18" charset="0"/>
                      </a:rPr>
                      <m:t>=[</m:t>
                    </m:r>
                    <m:sSub>
                      <m:sSubPr>
                        <m:ctrlPr>
                          <a:rPr lang="en-IL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L" sz="16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IL" sz="16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IL" sz="160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IL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L" sz="16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IL" sz="16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IL" sz="1600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IL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L" sz="16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IL" sz="16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IL" sz="160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sz="1600" dirty="0"/>
                  <a:t>.</a:t>
                </a:r>
                <a:endParaRPr lang="en-IL" sz="1600" dirty="0"/>
              </a:p>
              <a:p>
                <a:pPr lvl="0"/>
                <a:r>
                  <a:rPr lang="en-US" sz="1600" b="1" dirty="0"/>
                  <a:t>Hidden State Extraction:</a:t>
                </a:r>
                <a:r>
                  <a:rPr lang="en-US" sz="1600" dirty="0"/>
                  <a:t> The token tensor passes through 24 bidirectional transformer layers, generating a dense contextualized hidden-state matrix:</a:t>
                </a:r>
              </a:p>
              <a:p>
                <a:pPr lvl="0"/>
                <a:endParaRPr lang="en-IL" sz="16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IL" sz="1600" b="1" i="1">
                          <a:latin typeface="Cambria Math" panose="02040503050406030204" pitchFamily="18" charset="0"/>
                        </a:rPr>
                        <m:t>𝑯</m:t>
                      </m:r>
                      <m:r>
                        <a:rPr lang="en-IL" sz="1600"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en-IL" sz="16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IL" sz="1600"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en-IL" sz="16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IL" sz="1600">
                              <a:latin typeface="Cambria Math" panose="02040503050406030204" pitchFamily="18" charset="0"/>
                            </a:rPr>
                            <m:t>×</m:t>
                          </m:r>
                          <m:r>
                            <a:rPr lang="en-IL" sz="1600" i="1">
                              <a:latin typeface="Cambria Math" panose="02040503050406030204" pitchFamily="18" charset="0"/>
                            </a:rPr>
                            <m:t>1024</m:t>
                          </m:r>
                        </m:sup>
                      </m:sSup>
                    </m:oMath>
                  </m:oMathPara>
                </a14:m>
                <a:endParaRPr lang="en-IL" sz="1600" dirty="0"/>
              </a:p>
              <a:p>
                <a:pPr lvl="0"/>
                <a:r>
                  <a:rPr lang="en-US" sz="1600" b="1" dirty="0"/>
                  <a:t>Mean Pooling:</a:t>
                </a:r>
                <a:r>
                  <a:rPr lang="en-US" sz="1600" dirty="0"/>
                  <a:t> To compress the token dimension down to a single sentence representation, a mean pooling function is executed across the sequence axis while respecting the attention padding mask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IL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L" sz="1600" i="1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IL" sz="1600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IL" sz="1600">
                        <a:latin typeface="Cambria Math" panose="02040503050406030204" pitchFamily="18" charset="0"/>
                      </a:rPr>
                      <m:t>∈{</m:t>
                    </m:r>
                    <m:r>
                      <a:rPr lang="en-IL" sz="1600" i="1">
                        <a:latin typeface="Cambria Math" panose="02040503050406030204" pitchFamily="18" charset="0"/>
                      </a:rPr>
                      <m:t>0</m:t>
                    </m:r>
                    <m:r>
                      <a:rPr lang="en-IL" sz="1600">
                        <a:latin typeface="Cambria Math" panose="02040503050406030204" pitchFamily="18" charset="0"/>
                      </a:rPr>
                      <m:t>,</m:t>
                    </m:r>
                    <m:r>
                      <a:rPr lang="en-IL" sz="1600" i="1">
                        <a:latin typeface="Cambria Math" panose="02040503050406030204" pitchFamily="18" charset="0"/>
                      </a:rPr>
                      <m:t>1</m:t>
                    </m:r>
                    <m:r>
                      <a:rPr lang="en-IL" sz="160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1600" dirty="0"/>
                  <a:t>:</a:t>
                </a:r>
              </a:p>
              <a:p>
                <a:pPr lvl="0"/>
                <a:endParaRPr lang="en-IL" sz="16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IL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IL" sz="1600" b="1" i="1">
                              <a:latin typeface="Cambria Math" panose="02040503050406030204" pitchFamily="18" charset="0"/>
                            </a:rPr>
                            <m:t>𝒗</m:t>
                          </m:r>
                        </m:e>
                        <m:sub>
                          <m:r>
                            <a:rPr lang="en-IL" sz="16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IL" sz="160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IL" sz="1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ctrlPr>
                                <a:rPr lang="en-IL" sz="16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IL" sz="16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IL" sz="160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IL" sz="16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en-IL" sz="16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IL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IL" sz="1600" b="1" i="1">
                                      <a:latin typeface="Cambria Math" panose="02040503050406030204" pitchFamily="18" charset="0"/>
                                    </a:rPr>
                                    <m:t>𝑯</m:t>
                                  </m:r>
                                </m:e>
                                <m:sub>
                                  <m:r>
                                    <a:rPr lang="en-IL" sz="1600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</m:e>
                          </m:nary>
                          <m:r>
                            <a:rPr lang="en-IL" sz="1600">
                              <a:latin typeface="Cambria Math" panose="02040503050406030204" pitchFamily="18" charset="0"/>
                            </a:rPr>
                            <m:t>⋅</m:t>
                          </m:r>
                          <m:sSub>
                            <m:sSubPr>
                              <m:ctrlPr>
                                <a:rPr lang="en-IL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IL" sz="16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b>
                              <m:r>
                                <a:rPr lang="en-IL" sz="16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ctrlPr>
                                <a:rPr lang="en-IL" sz="16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IL" sz="16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IL" sz="160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IL" sz="16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en-IL" sz="16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IL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IL" sz="1600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  <m:sub>
                                  <m:r>
                                    <a:rPr lang="en-IL" sz="1600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</m:e>
                          </m:nary>
                        </m:den>
                      </m:f>
                    </m:oMath>
                  </m:oMathPara>
                </a14:m>
                <a:endParaRPr lang="en-US" sz="1600" dirty="0"/>
              </a:p>
              <a:p>
                <a:pPr marL="0" indent="0">
                  <a:buNone/>
                </a:pPr>
                <a:endParaRPr lang="en-IL" sz="1600" dirty="0"/>
              </a:p>
              <a:p>
                <a:pPr lvl="0"/>
                <a14:m>
                  <m:oMath xmlns:m="http://schemas.openxmlformats.org/officeDocument/2006/math">
                    <m:sSub>
                      <m:sSubPr>
                        <m:ctrlPr>
                          <a:rPr lang="en-IL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L" sz="1600" i="1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IL" sz="16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1600" b="1" dirty="0"/>
                  <a:t> Normalization:</a:t>
                </a:r>
                <a:r>
                  <a:rPr lang="en-US" sz="1600" dirty="0"/>
                  <a:t> The raw pooled vector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IL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L" sz="1600" b="1" i="1">
                            <a:latin typeface="Cambria Math" panose="02040503050406030204" pitchFamily="18" charset="0"/>
                          </a:rPr>
                          <m:t>𝒗</m:t>
                        </m:r>
                      </m:e>
                      <m:sub>
                        <m:r>
                          <a:rPr lang="en-IL" sz="16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1600" dirty="0"/>
                  <a:t> is strictly normalized to sit precisely on the surface of a 1024-dimensional unit hypersphere:</a:t>
                </a:r>
              </a:p>
              <a:p>
                <a:pPr lvl="0"/>
                <a:endParaRPr lang="en-IL" sz="1600" dirty="0"/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IL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IL" sz="1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IL" sz="1400" b="1" i="1">
                                  <a:latin typeface="Cambria Math" panose="02040503050406030204" pitchFamily="18" charset="0"/>
                                </a:rPr>
                                <m:t>𝒗</m:t>
                              </m:r>
                            </m:e>
                          </m:acc>
                        </m:e>
                        <m:sub>
                          <m:r>
                            <a:rPr lang="en-IL" sz="14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IL" sz="140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IL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IL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IL" sz="1400" b="1" i="1">
                                  <a:latin typeface="Cambria Math" panose="02040503050406030204" pitchFamily="18" charset="0"/>
                                </a:rPr>
                                <m:t>𝒗</m:t>
                              </m:r>
                            </m:e>
                            <m:sub>
                              <m:r>
                                <a:rPr lang="en-IL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num>
                        <m:den>
                          <m:r>
                            <a:rPr lang="en-IL" sz="1400">
                              <a:latin typeface="Cambria Math" panose="02040503050406030204" pitchFamily="18" charset="0"/>
                            </a:rPr>
                            <m:t>∥</m:t>
                          </m:r>
                          <m:sSub>
                            <m:sSubPr>
                              <m:ctrlPr>
                                <a:rPr lang="en-IL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IL" sz="1400" b="1" i="1">
                                  <a:latin typeface="Cambria Math" panose="02040503050406030204" pitchFamily="18" charset="0"/>
                                </a:rPr>
                                <m:t>𝒗</m:t>
                              </m:r>
                            </m:e>
                            <m:sub>
                              <m:r>
                                <a:rPr lang="en-IL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IL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IL" sz="1400">
                                  <a:latin typeface="Cambria Math" panose="02040503050406030204" pitchFamily="18" charset="0"/>
                                </a:rPr>
                                <m:t>∥</m:t>
                              </m:r>
                            </m:e>
                            <m:sub>
                              <m:r>
                                <a:rPr lang="en-IL" sz="1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  <m:r>
                        <a:rPr lang="en-IL" sz="140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IL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IL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IL" sz="1400" b="1" i="1">
                                  <a:latin typeface="Cambria Math" panose="02040503050406030204" pitchFamily="18" charset="0"/>
                                </a:rPr>
                                <m:t>𝒗</m:t>
                              </m:r>
                            </m:e>
                            <m:sub>
                              <m:r>
                                <a:rPr lang="en-IL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IL" sz="1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nary>
                                <m:naryPr>
                                  <m:chr m:val="∑"/>
                                  <m:limLoc m:val="undOvr"/>
                                  <m:ctrlPr>
                                    <a:rPr lang="en-IL" sz="1400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a:rPr lang="en-IL" sz="14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en-IL" sz="1400">
                                      <a:latin typeface="Cambria Math" panose="02040503050406030204" pitchFamily="18" charset="0"/>
                                    </a:rPr>
                                    <m:t>=</m:t>
                                  </m:r>
                                  <m:r>
                                    <a:rPr lang="en-IL" sz="1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en-IL" sz="1400" i="1">
                                      <a:latin typeface="Cambria Math" panose="02040503050406030204" pitchFamily="18" charset="0"/>
                                    </a:rPr>
                                    <m:t>1024</m:t>
                                  </m:r>
                                </m:sup>
                                <m:e>
                                  <m:r>
                                    <a:rPr lang="en-IL" sz="1400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</m:e>
                              </m:nary>
                              <m:sSub>
                                <m:sSubPr>
                                  <m:ctrlPr>
                                    <a:rPr lang="en-IL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IL" sz="1400" i="1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IL" sz="1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IL" sz="140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IL" sz="14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sSup>
                                <m:sSupPr>
                                  <m:ctrlPr>
                                    <a:rPr lang="en-IL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IL" sz="1400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en-IL" sz="1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rad>
                        </m:den>
                      </m:f>
                    </m:oMath>
                  </m:oMathPara>
                </a14:m>
                <a:endParaRPr lang="en-IL" sz="1400" dirty="0"/>
              </a:p>
              <a:p>
                <a:pPr marL="0" indent="0">
                  <a:buNone/>
                </a:pPr>
                <a:endParaRPr lang="en-IL" sz="1600" dirty="0"/>
              </a:p>
            </p:txBody>
          </p:sp>
        </mc:Choice>
        <mc:Fallback xmlns="">
          <p:sp>
            <p:nvSpPr>
              <p:cNvPr id="14" name="Content Placeholder 13">
                <a:extLst>
                  <a:ext uri="{FF2B5EF4-FFF2-40B4-BE49-F238E27FC236}">
                    <a16:creationId xmlns:a16="http://schemas.microsoft.com/office/drawing/2014/main" id="{692D3587-4E38-31FC-630B-637F3A97F49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61000" y="1805518"/>
                <a:ext cx="7650000" cy="4863482"/>
              </a:xfrm>
              <a:blipFill>
                <a:blip r:embed="rId3"/>
                <a:stretch>
                  <a:fillRect l="-80" t="-1378" r="-558" b="-6140"/>
                </a:stretch>
              </a:blipFill>
            </p:spPr>
            <p:txBody>
              <a:bodyPr/>
              <a:lstStyle/>
              <a:p>
                <a:r>
                  <a:rPr lang="en-I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960675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7F13BC-C285-B689-FF33-42F010E61E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8500" y="0"/>
            <a:ext cx="11835000" cy="1325563"/>
          </a:xfrm>
        </p:spPr>
        <p:txBody>
          <a:bodyPr>
            <a:normAutofit/>
          </a:bodyPr>
          <a:lstStyle/>
          <a:p>
            <a:r>
              <a:rPr lang="en-US" sz="4000" dirty="0"/>
              <a:t>Generate the documents’ Semantic matrix</a:t>
            </a:r>
            <a:endParaRPr lang="en-IL" sz="40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A9CD730-7819-7256-5893-C2CC6B9ED36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1000" y="1269000"/>
            <a:ext cx="9495000" cy="4747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00691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EF1BD-FE72-D842-5D09-1E5E36FBB9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1000" y="12865"/>
            <a:ext cx="10515600" cy="1325563"/>
          </a:xfrm>
        </p:spPr>
        <p:txBody>
          <a:bodyPr/>
          <a:lstStyle/>
          <a:p>
            <a:r>
              <a:rPr lang="en-US" dirty="0"/>
              <a:t>Searching process</a:t>
            </a:r>
            <a:endParaRPr lang="he-IL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03F453D5-CC12-D4C5-91A2-8FD0E89B6C4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6000" y="2394000"/>
            <a:ext cx="10847608" cy="36692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204481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3426</TotalTime>
  <Words>346</Words>
  <Application>Microsoft Office PowerPoint</Application>
  <PresentationFormat>Widescreen</PresentationFormat>
  <Paragraphs>31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Aptos</vt:lpstr>
      <vt:lpstr>Aptos Display</vt:lpstr>
      <vt:lpstr>Arial</vt:lpstr>
      <vt:lpstr>Cambria Math</vt:lpstr>
      <vt:lpstr>Office Theme</vt:lpstr>
      <vt:lpstr>Semantic Search Engine for CVPR 2026 Academic Literature</vt:lpstr>
      <vt:lpstr>Project Goals:</vt:lpstr>
      <vt:lpstr>Project stages</vt:lpstr>
      <vt:lpstr>Encoder-only transformer</vt:lpstr>
      <vt:lpstr>Generate the documents’ Semantic matrix</vt:lpstr>
      <vt:lpstr>Searching process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Shoham Perry</dc:creator>
  <cp:lastModifiedBy>Shoham Perry</cp:lastModifiedBy>
  <cp:revision>9</cp:revision>
  <dcterms:created xsi:type="dcterms:W3CDTF">2026-06-19T08:30:27Z</dcterms:created>
  <dcterms:modified xsi:type="dcterms:W3CDTF">2026-07-25T19:19:59Z</dcterms:modified>
</cp:coreProperties>
</file>