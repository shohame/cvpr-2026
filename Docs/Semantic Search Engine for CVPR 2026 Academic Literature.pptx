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61" r:id="rId6"/>
    <p:sldId id="259" r:id="rId7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55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B705-7124-0C46-B058-69D8A87B5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FDAB9-7BC8-E837-949A-8E29F1788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C00C9-0E32-A9D5-665B-E4D6B7FF3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42ED9-5705-B9D1-3F5C-3AD9112E5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3F422-2C59-E53D-4ECB-31BE094AD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17518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8CFAF-1A06-5DBF-833F-0FC2D5325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AE4A-A461-9CD0-7196-2DCF8B802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1A48A-0110-1FC3-A93D-E6620EFF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C0524-1E2E-9474-60A3-A641172A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2BB456-7649-6842-9C48-8C27BB2C1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40438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1E903-854A-6E8D-772A-30230F171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083EC-D050-07EF-65E1-3383A52E9E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E598E-F9C9-4CCD-C8C7-3684714F7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B6EFF-0683-DA63-16C4-1BA40CAD8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1206B-79CC-F010-71D5-7B0FA3CD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226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7325-0321-4420-449D-146661D9A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9B4BC-6F8B-29E4-CCB8-B0A9621D3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7D7DE-FEDD-5997-6E23-47B013B81F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3CF43-12C0-214E-A529-5E54F7BA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2E63D-36DF-C2E6-B310-AE999A786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C6EAA0-9F0F-E574-8720-CD5BC8D5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8593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6FD19-C828-C541-9722-18D052085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20BDA-1FB6-673A-E3D8-088660FED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C7B4A6-D362-64D7-2F30-6EDE826F74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43E5BF-46DD-B963-DC1C-33CE1AE4AD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62645-26BE-FE19-96EE-CFD84D830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2DB123-B3BA-9D26-AF99-32653132B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6F5647-7605-B94E-8EB2-6F22E5C58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0AE17-B7DA-F61B-6D6C-94E7F466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8788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2BAA-7C64-87A4-18DE-FC6AED99F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A17604-2AF8-7E68-36D1-47E675DA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80260-9A2B-B258-9BCB-59E693F87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552155-7B82-B034-0247-8B0D3E486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65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B7E32-50FB-80BB-EA6F-CEE8C887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E88151-08C2-829D-EA2F-EC5C10BAA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39AFB-0F1A-C9DB-2CD2-589AD518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0253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303AD-B5F1-6BF5-AA7B-FDAF4CD6E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E956F-2F40-B681-F488-08967F2A1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7E156A-C04D-D977-3C83-E56C27EF0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8915D-F6EE-5051-B9D4-8133971EB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F2369-645D-DE3F-6327-661B8F315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DD2A5-7915-1BF0-E1D0-07CF37404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66906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B0A62-0D67-C0EF-3CF2-41BA77EC6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407C32-1EAF-EBF7-4905-736B3B9C4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B44E15-FB53-138D-472F-D4BE32C56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8F47D-B354-259D-FE55-6D0DF868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15897-C80D-A27F-53DB-073710AF2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4A47B-A61F-55C9-2C21-46DC9888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04397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C9689-626B-3621-E992-86EFC386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60DB1-DE74-8019-BB5E-AF4910C96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A2556-0E8B-DE22-6509-796B0913F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797284-65EE-6E5E-BCE9-3CC31CBBF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64DA9-9581-D4F7-B7BA-29132990D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04936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AD6CD8-F4BC-AD5C-7C53-B0F353337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03382-B03F-BF9C-EE74-A0844C0D41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C9F28-CE1C-D8D3-2B69-F686F402A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C779C-6988-A478-D59D-047D0F886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75F0B-4ADD-EB37-3C2C-C7BE000F2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6159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000"/>
                <a:lumOff val="92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013D33-73F9-BA6D-96AD-1073EE03C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E6D32-5CB0-3AA9-FB32-DD138F769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7FF84-92A6-7E6A-2852-E8923CA17D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BEFB0-C86D-4E60-A5F1-3C6A4FC28D6B}" type="datetimeFigureOut">
              <a:rPr lang="en-IL" smtClean="0"/>
              <a:t>23/06/2026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8CCCC8-97D4-A201-E28E-435680F19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2E408-376A-5635-A4DF-E8984E3C8C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4B8D3-3DD9-4F44-8740-49DE7E15BBB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4632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A8DFE-94D1-BBA8-6F4E-CBE219442D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Semantic Search Engine for CVPR 2026 Academic Literature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03A4FD-27B8-1F9C-A335-8840D25905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01647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4DA81-633D-F68B-50DB-2A705811D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000" y="234000"/>
            <a:ext cx="10515600" cy="1325563"/>
          </a:xfrm>
        </p:spPr>
        <p:txBody>
          <a:bodyPr/>
          <a:lstStyle/>
          <a:p>
            <a:r>
              <a:rPr lang="en-US" dirty="0"/>
              <a:t>Encoder-only transformer</a:t>
            </a:r>
            <a:endParaRPr lang="en-IL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E5A89E-5C32-FE26-B67A-8E7D1990A0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6000" y="1813587"/>
            <a:ext cx="2302211" cy="44617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692D3587-4E38-31FC-630B-637F3A97F4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1000" y="1805518"/>
                <a:ext cx="7650000" cy="486348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sz="1600" dirty="0"/>
                  <a:t>Let the localized BGE neural network be defined as a parameterized mapping function </a:t>
                </a:r>
                <a14:m>
                  <m:oMath xmlns:m="http://schemas.openxmlformats.org/officeDocument/2006/math">
                    <m:r>
                      <a:rPr lang="en-IL" sz="16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L" sz="1600">
                        <a:latin typeface="Cambria Math" panose="02040503050406030204" pitchFamily="18" charset="0"/>
                      </a:rPr>
                      <m:t>:</m:t>
                    </m:r>
                    <m:r>
                      <a:rPr lang="en-IL" sz="1600">
                        <a:latin typeface="Cambria Math" panose="02040503050406030204" pitchFamily="18" charset="0"/>
                      </a:rPr>
                      <m:t>𝒳</m:t>
                    </m:r>
                    <m:r>
                      <a:rPr lang="en-IL" sz="160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IL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L" sz="160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1600" dirty="0"/>
                  <a:t>, where </a:t>
                </a:r>
                <a14:m>
                  <m:oMath xmlns:m="http://schemas.openxmlformats.org/officeDocument/2006/math">
                    <m:r>
                      <a:rPr lang="en-IL" sz="1600">
                        <a:latin typeface="Cambria Math" panose="02040503050406030204" pitchFamily="18" charset="0"/>
                      </a:rPr>
                      <m:t>𝒳</m:t>
                    </m:r>
                  </m:oMath>
                </a14:m>
                <a:r>
                  <a:rPr lang="en-US" sz="1600" dirty="0"/>
                  <a:t> defines the universal text space and </a:t>
                </a:r>
                <a14:m>
                  <m:oMath xmlns:m="http://schemas.openxmlformats.org/officeDocument/2006/math">
                    <m:r>
                      <a:rPr lang="en-IL" sz="16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L" sz="16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L" sz="1600" i="1"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lang="en-US" sz="1600" dirty="0"/>
                  <a:t>. The synthesis of the semantic sectors for the entire corpus proceeds as follows:</a:t>
                </a:r>
                <a:endParaRPr lang="en-IL" sz="1600" dirty="0"/>
              </a:p>
              <a:p>
                <a:pPr lvl="0"/>
                <a:r>
                  <a:rPr lang="en-US" sz="1600" b="1" dirty="0"/>
                  <a:t>Tokenization:</a:t>
                </a:r>
                <a:r>
                  <a:rPr lang="en-US" sz="1600" dirty="0"/>
                  <a:t> The combined text payload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is mapped to a tokenized tensor </a:t>
                </a:r>
                <a:endParaRPr lang="en-US" sz="1600" b="1" i="1" dirty="0"/>
              </a:p>
              <a:p>
                <a:pPr marL="0" lvl="0" indent="0" algn="ctr">
                  <a:buNone/>
                </a:pPr>
                <a14:m>
                  <m:oMath xmlns:m="http://schemas.openxmlformats.org/officeDocument/2006/math">
                    <m:r>
                      <a:rPr lang="en-IL" sz="1600" b="1" i="1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IL" sz="160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IL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L" sz="160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L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L" sz="160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IL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L" sz="160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/>
                  <a:t>.</a:t>
                </a:r>
                <a:endParaRPr lang="en-IL" sz="1600" dirty="0"/>
              </a:p>
              <a:p>
                <a:pPr lvl="0"/>
                <a:r>
                  <a:rPr lang="en-US" sz="1600" b="1" dirty="0"/>
                  <a:t>Hidden State Extraction:</a:t>
                </a:r>
                <a:r>
                  <a:rPr lang="en-US" sz="1600" dirty="0"/>
                  <a:t> The token tensor passes through 24 bidirectional transformer layers, generating a dense contextualized hidden-state matrix:</a:t>
                </a:r>
              </a:p>
              <a:p>
                <a:pPr lvl="0"/>
                <a:endParaRPr lang="en-IL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L" sz="1600" b="1" i="1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IL" sz="1600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IL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L" sz="1600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IL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IL" sz="160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L" sz="1600" i="1">
                              <a:latin typeface="Cambria Math" panose="02040503050406030204" pitchFamily="18" charset="0"/>
                            </a:rPr>
                            <m:t>1024</m:t>
                          </m:r>
                        </m:sup>
                      </m:sSup>
                    </m:oMath>
                  </m:oMathPara>
                </a14:m>
                <a:endParaRPr lang="en-IL" sz="1600" dirty="0"/>
              </a:p>
              <a:p>
                <a:pPr lvl="0"/>
                <a:r>
                  <a:rPr lang="en-US" sz="1600" b="1" dirty="0"/>
                  <a:t>Mean Pooling:</a:t>
                </a:r>
                <a:r>
                  <a:rPr lang="en-US" sz="1600" dirty="0"/>
                  <a:t> To compress the token dimension down to a single sentence representation, a mean pooling function is executed across the sequence axis while respecting the attention padding mask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L" sz="1600">
                        <a:latin typeface="Cambria Math" panose="02040503050406030204" pitchFamily="18" charset="0"/>
                      </a:rPr>
                      <m:t>∈{</m:t>
                    </m:r>
                    <m:r>
                      <a:rPr lang="en-IL" sz="16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IL" sz="160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L" sz="16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IL" sz="16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:</a:t>
                </a:r>
              </a:p>
              <a:p>
                <a:pPr lvl="0"/>
                <a:endParaRPr lang="en-IL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L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L" sz="1600" b="1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  <m:sub>
                          <m:r>
                            <a:rPr lang="en-IL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L" sz="1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L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undOvr"/>
                              <m:ctrlPr>
                                <a:rPr lang="en-IL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L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L" sz="16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L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L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L" sz="1600" b="1" i="1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IL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r>
                            <a:rPr lang="en-IL" sz="16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IL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L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IL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ctrlPr>
                                <a:rPr lang="en-IL" sz="16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IL" sz="16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IL" sz="16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L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IL" sz="16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IL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L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IL" sz="16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marL="0" indent="0">
                  <a:buNone/>
                </a:pPr>
                <a:endParaRPr lang="en-IL" sz="16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IL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b="1" dirty="0"/>
                  <a:t> Normalization:</a:t>
                </a:r>
                <a:r>
                  <a:rPr lang="en-US" sz="1600" dirty="0"/>
                  <a:t> The raw pooled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L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L" sz="1600" b="1" i="1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IL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/>
                  <a:t> is strictly normalized to sit precisely on the surface of a 1024-dimensional unit hypersphere:</a:t>
                </a:r>
              </a:p>
              <a:p>
                <a:pPr lvl="0"/>
                <a:endParaRPr lang="en-IL" sz="16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L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IL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L" sz="14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</m:acc>
                        </m:e>
                        <m:sub>
                          <m:r>
                            <a:rPr lang="en-IL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L" sz="1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L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L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L" sz="14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IL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IL" sz="1400">
                              <a:latin typeface="Cambria Math" panose="02040503050406030204" pitchFamily="18" charset="0"/>
                            </a:rPr>
                            <m:t>∥</m:t>
                          </m:r>
                          <m:sSub>
                            <m:sSubPr>
                              <m:ctrlPr>
                                <a:rPr lang="en-IL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L" sz="14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IL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L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L" sz="1400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e>
                            <m:sub>
                              <m:r>
                                <a:rPr lang="en-IL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L" sz="1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L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L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L" sz="1400" b="1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IL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L" sz="1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IL" sz="1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IL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IL" sz="14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IL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IL" sz="1400" i="1">
                                      <a:latin typeface="Cambria Math" panose="02040503050406030204" pitchFamily="18" charset="0"/>
                                    </a:rPr>
                                    <m:t>1024</m:t>
                                  </m:r>
                                </m:sup>
                                <m:e>
                                  <m:r>
                                    <a:rPr lang="en-IL" sz="140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</m:e>
                              </m:nary>
                              <m:sSub>
                                <m:sSubPr>
                                  <m:ctrlPr>
                                    <a:rPr lang="en-IL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L" sz="1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IL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IL" sz="140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L" sz="1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en-IL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L" sz="140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IL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IL" sz="1400" dirty="0"/>
              </a:p>
              <a:p>
                <a:pPr marL="0" indent="0">
                  <a:buNone/>
                </a:pPr>
                <a:endParaRPr lang="en-IL" sz="1600" dirty="0"/>
              </a:p>
            </p:txBody>
          </p:sp>
        </mc:Choice>
        <mc:Fallback xmlns="">
          <p:sp>
            <p:nvSpPr>
              <p:cNvPr id="14" name="Content Placeholder 13">
                <a:extLst>
                  <a:ext uri="{FF2B5EF4-FFF2-40B4-BE49-F238E27FC236}">
                    <a16:creationId xmlns:a16="http://schemas.microsoft.com/office/drawing/2014/main" id="{692D3587-4E38-31FC-630B-637F3A97F4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1000" y="1805518"/>
                <a:ext cx="7650000" cy="4863482"/>
              </a:xfrm>
              <a:blipFill>
                <a:blip r:embed="rId3"/>
                <a:stretch>
                  <a:fillRect l="-80" t="-1378" r="-558" b="-6140"/>
                </a:stretch>
              </a:blipFill>
            </p:spPr>
            <p:txBody>
              <a:bodyPr/>
              <a:lstStyle/>
              <a:p>
                <a:r>
                  <a:rPr lang="en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067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13971-1F6C-5EB3-FF31-0D694CE6D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stage download a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38D13-1436-D0D0-544F-2CCB6EEFA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3979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F13BC-C285-B689-FF33-42F010E61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00" y="365125"/>
            <a:ext cx="11835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Generate the documents’ Semantic matrix</a:t>
            </a:r>
            <a:endParaRPr lang="en-IL" sz="4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0EB87C-0CFA-1411-621E-4DEA9F98A1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1000" y="1854000"/>
            <a:ext cx="7785000" cy="477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069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4089-DF5C-6359-8C67-4F1C87A9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254F9-3842-4886-4AC8-5F2285CE4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3B2453-1AFA-4FAA-1A1D-6D7E128BC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000" y="2124000"/>
            <a:ext cx="6573167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67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06B02-D5AA-B5B7-75C3-CA45CA7E7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000" y="18255"/>
            <a:ext cx="10515600" cy="1325563"/>
          </a:xfrm>
        </p:spPr>
        <p:txBody>
          <a:bodyPr/>
          <a:lstStyle/>
          <a:p>
            <a:r>
              <a:rPr lang="en-US" dirty="0"/>
              <a:t>Training process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DD5643-9849-68B5-8EFA-D29D33985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4000"/>
            <a:ext cx="5257800" cy="4412963"/>
          </a:xfrm>
        </p:spPr>
        <p:txBody>
          <a:bodyPr/>
          <a:lstStyle/>
          <a:p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10F8A8-EC7E-75FC-7DAC-900EA2489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001" y="1636372"/>
            <a:ext cx="6456000" cy="485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824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3141</TotalTime>
  <Words>181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Office Theme</vt:lpstr>
      <vt:lpstr>Semantic Search Engine for CVPR 2026 Academic Literature</vt:lpstr>
      <vt:lpstr>Encoder-only transformer</vt:lpstr>
      <vt:lpstr>First stage download a</vt:lpstr>
      <vt:lpstr>Generate the documents’ Semantic matrix</vt:lpstr>
      <vt:lpstr>PowerPoint Presentation</vt:lpstr>
      <vt:lpstr>Training process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Shoham Perry</dc:creator>
  <cp:lastModifiedBy>Shoham Perry</cp:lastModifiedBy>
  <cp:revision>5</cp:revision>
  <dcterms:created xsi:type="dcterms:W3CDTF">2026-06-19T08:30:27Z</dcterms:created>
  <dcterms:modified xsi:type="dcterms:W3CDTF">2026-06-23T17:30:04Z</dcterms:modified>
</cp:coreProperties>
</file>